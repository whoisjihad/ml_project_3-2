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laKHJnjkEXyuaAi+Z0i7vlSWH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8ba1f12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b8ba1f121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8ba1f121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b8ba1f1218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9pPr>
          </a:lstStyle>
          <a:p/>
        </p:txBody>
      </p:sp>
      <p:sp>
        <p:nvSpPr>
          <p:cNvPr id="14" name="Google Shape;14;p4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lphaLcParenR"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47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AutoNum type="alphaLcParenR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AutoNum type="alphaLcParenR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AutoNum type="alphaLcParenR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AutoNum type="alphaLcParenR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AutoNum type="alphaLcParenR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AutoNum type="alphaLcParenR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AutoNum type="alphaLcParenR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AutoNum type="alphaLcParenR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Times New Roman"/>
              <a:buAutoNum type="alphaLcParenR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4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812800" y="308133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Times New Roman"/>
              <a:buNone/>
            </a:pPr>
            <a:r>
              <a:rPr b="0" i="0" lang="en-US" sz="4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Link Layer</a:t>
            </a:r>
            <a:endParaRPr/>
          </a:p>
        </p:txBody>
      </p:sp>
      <p:sp>
        <p:nvSpPr>
          <p:cNvPr id="28" name="Google Shape;28;p1"/>
          <p:cNvSpPr txBox="1"/>
          <p:nvPr>
            <p:ph idx="1" type="subTitle"/>
          </p:nvPr>
        </p:nvSpPr>
        <p:spPr>
          <a:xfrm>
            <a:off x="1441450" y="1382712"/>
            <a:ext cx="6400800" cy="1089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Font typeface="Times New Roman"/>
              <a:buNone/>
            </a:pPr>
            <a:r>
              <a:rPr b="0" i="0" lang="en-US" sz="6000" u="none" cap="none" strike="noStrike">
                <a:solidFill>
                  <a:srgbClr val="FF33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Link Layer Design Issues</a:t>
            </a:r>
            <a:endParaRPr/>
          </a:p>
        </p:txBody>
      </p:sp>
      <p:sp>
        <p:nvSpPr>
          <p:cNvPr id="34" name="Google Shape;34;p2"/>
          <p:cNvSpPr txBox="1"/>
          <p:nvPr>
            <p:ph idx="1" type="body"/>
          </p:nvPr>
        </p:nvSpPr>
        <p:spPr>
          <a:xfrm>
            <a:off x="522287" y="1301750"/>
            <a:ext cx="831850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 Provided to the Network Layer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Framing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Control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Control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the Data Link Layer</a:t>
            </a:r>
            <a:endParaRPr/>
          </a:p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625475" y="1636712"/>
            <a:ext cx="8518525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service interface to the network layer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Dealing with transmission errors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Regulating data flow</a:t>
            </a:r>
            <a:endParaRPr/>
          </a:p>
          <a:p>
            <a:pPr indent="-533400" lvl="1" marL="9906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Slow receivers not swamped by fast senders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Functions of the Data Link Layer (2)</a:t>
            </a:r>
            <a:endParaRPr/>
          </a:p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Relationship between packets and frames.</a:t>
            </a:r>
            <a:endParaRPr/>
          </a:p>
        </p:txBody>
      </p:sp>
      <p:pic>
        <p:nvPicPr>
          <p:cNvPr id="47" name="Google Shape;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037" y="2100262"/>
            <a:ext cx="7867650" cy="2627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 Provided to Network Layer</a:t>
            </a:r>
            <a:endParaRPr/>
          </a:p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2692400" y="5715000"/>
            <a:ext cx="6451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Virtual communication.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Actual communication.</a:t>
            </a:r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3512" y="1498600"/>
            <a:ext cx="6311900" cy="3836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 Provided to Network Layer (2)</a:t>
            </a:r>
            <a:endParaRPr/>
          </a:p>
        </p:txBody>
      </p:sp>
      <p:sp>
        <p:nvSpPr>
          <p:cNvPr id="60" name="Google Shape;60;p6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Placement of the data link protocol.</a:t>
            </a:r>
            <a:endParaRPr/>
          </a:p>
        </p:txBody>
      </p:sp>
      <p:pic>
        <p:nvPicPr>
          <p:cNvPr id="61" name="Google Shape;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1587" y="1635125"/>
            <a:ext cx="6888162" cy="344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Framing</a:t>
            </a:r>
            <a:endParaRPr/>
          </a:p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character stream.  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Without errors.   </a:t>
            </a: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one error.</a:t>
            </a:r>
            <a:endParaRPr/>
          </a:p>
        </p:txBody>
      </p:sp>
      <p:pic>
        <p:nvPicPr>
          <p:cNvPr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225" y="1971675"/>
            <a:ext cx="7048500" cy="3014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Framing (2)</a:t>
            </a:r>
            <a:endParaRPr/>
          </a:p>
        </p:txBody>
      </p:sp>
      <p:sp>
        <p:nvSpPr>
          <p:cNvPr id="74" name="Google Shape;74;p8"/>
          <p:cNvSpPr txBox="1"/>
          <p:nvPr>
            <p:ph idx="1" type="body"/>
          </p:nvPr>
        </p:nvSpPr>
        <p:spPr>
          <a:xfrm>
            <a:off x="576262" y="5715000"/>
            <a:ext cx="856773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frame delimited by flag bytes.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Four examples of byte sequences before and after stuffing.</a:t>
            </a:r>
            <a:endParaRPr/>
          </a:p>
        </p:txBody>
      </p:sp>
      <p:pic>
        <p:nvPicPr>
          <p:cNvPr id="75" name="Google Shape;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200" y="1544637"/>
            <a:ext cx="5945187" cy="37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Framing (3)</a:t>
            </a:r>
            <a:endParaRPr/>
          </a:p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514350" y="4605337"/>
            <a:ext cx="8629650" cy="1939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 stuffing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original data.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data as they appear on the line.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data as they are stored in receiver’s memory after destuffing.</a:t>
            </a:r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9775" y="1857375"/>
            <a:ext cx="5267325" cy="20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Detection and Correction</a:t>
            </a:r>
            <a:endParaRPr/>
          </a:p>
        </p:txBody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1790700" y="1817687"/>
            <a:ext cx="7165975" cy="4710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Error-Correcting Codes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Error-Detecting Codes</a:t>
            </a:r>
            <a:endParaRPr/>
          </a:p>
          <a:p>
            <a:pPr indent="-381000" lvl="0" marL="6096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Error-Correcting Codes</a:t>
            </a:r>
            <a:endParaRPr/>
          </a:p>
        </p:txBody>
      </p:sp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734450" y="1371600"/>
            <a:ext cx="7620000" cy="48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Only a subset of all possible combinations will be used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There should be enough “gap” between two valid codewords so that when an error occurs, we can correct it back to nearest valid codeword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This gap is commonly known is hamming distance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Hamming codes.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Binary convolutional codes.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Reed-Solomon codes.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 Low-Density Parity Check codes.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8ba1f1218_0_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Error-Correcting Codes</a:t>
            </a:r>
            <a:endParaRPr/>
          </a:p>
        </p:txBody>
      </p:sp>
      <p:sp>
        <p:nvSpPr>
          <p:cNvPr id="100" name="Google Shape;100;g3b8ba1f1218_0_0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 a Hamming code to correct burst errors.</a:t>
            </a:r>
            <a:endParaRPr/>
          </a:p>
        </p:txBody>
      </p:sp>
      <p:pic>
        <p:nvPicPr>
          <p:cNvPr id="101" name="Google Shape;101;g3b8ba1f121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9812" y="1322387"/>
            <a:ext cx="4694236" cy="416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Error-Detecting Codes</a:t>
            </a:r>
            <a:endParaRPr/>
          </a:p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>
            <a:off x="791825" y="1371600"/>
            <a:ext cx="7528200" cy="48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1. Parity.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2. Checksums.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3. Cyclic Redundancy Checks (CRCs).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ba1f1218_0_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Error-Detecting Codes</a:t>
            </a:r>
            <a:endParaRPr/>
          </a:p>
        </p:txBody>
      </p:sp>
      <p:pic>
        <p:nvPicPr>
          <p:cNvPr id="113" name="Google Shape;113;g3b8ba1f1218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6825" y="1319212"/>
            <a:ext cx="3502026" cy="49958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b8ba1f1218_0_7"/>
          <p:cNvSpPr txBox="1"/>
          <p:nvPr/>
        </p:nvSpPr>
        <p:spPr>
          <a:xfrm>
            <a:off x="436562" y="4270375"/>
            <a:ext cx="592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 of the polynomial code checksum.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Elementary Data Link Protocols</a:t>
            </a:r>
            <a:endParaRPr/>
          </a:p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963612" y="1670050"/>
            <a:ext cx="8180387" cy="4883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Unrestricted/Utopian Simplex Protocol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Simplex Stop-and-Wait Protocol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Simplex Protocol for a Noisy Channel</a:t>
            </a:r>
            <a:endParaRPr/>
          </a:p>
          <a:p>
            <a:pPr indent="-406400" lvl="0" marL="6096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Definitions</a:t>
            </a:r>
            <a:endParaRPr/>
          </a:p>
        </p:txBody>
      </p:sp>
      <p:pic>
        <p:nvPicPr>
          <p:cNvPr id="126" name="Google Shape;126;p14"/>
          <p:cNvPicPr preferRelativeResize="0"/>
          <p:nvPr/>
        </p:nvPicPr>
        <p:blipFill rotWithShape="1">
          <a:blip r:embed="rId3">
            <a:alphaModFix/>
          </a:blip>
          <a:srcRect b="69023" l="23234" r="0" t="0"/>
          <a:stretch/>
        </p:blipFill>
        <p:spPr>
          <a:xfrm>
            <a:off x="582612" y="1714500"/>
            <a:ext cx="8172450" cy="302736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6602412" y="4470400"/>
            <a:ext cx="1928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Continued 🡪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74725" y="5643562"/>
            <a:ext cx="691832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definitions needed in the protocols to follow.  These are located in the file protocol.h.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/>
          <p:nvPr>
            <p:ph type="title"/>
          </p:nvPr>
        </p:nvSpPr>
        <p:spPr>
          <a:xfrm>
            <a:off x="187325" y="0"/>
            <a:ext cx="8956675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</a:t>
            </a:r>
            <a:b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Definitions</a:t>
            </a:r>
            <a:b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(ctd.)</a:t>
            </a:r>
            <a:endParaRPr/>
          </a:p>
        </p:txBody>
      </p:sp>
      <p:pic>
        <p:nvPicPr>
          <p:cNvPr id="134" name="Google Shape;134;p15"/>
          <p:cNvPicPr preferRelativeResize="0"/>
          <p:nvPr/>
        </p:nvPicPr>
        <p:blipFill rotWithShape="1">
          <a:blip r:embed="rId3">
            <a:alphaModFix/>
          </a:blip>
          <a:srcRect b="-2478" l="23234" r="0" t="30002"/>
          <a:stretch/>
        </p:blipFill>
        <p:spPr>
          <a:xfrm>
            <a:off x="2943225" y="0"/>
            <a:ext cx="65389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0" y="4392612"/>
            <a:ext cx="3006725" cy="2465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definitions needed in the protocols to follow.  These are located in the file protocol.h.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/>
          <p:nvPr>
            <p:ph type="title"/>
          </p:nvPr>
        </p:nvSpPr>
        <p:spPr>
          <a:xfrm>
            <a:off x="0" y="0"/>
            <a:ext cx="9144000" cy="2482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Unrestricted </a:t>
            </a:r>
            <a:b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Simplex </a:t>
            </a:r>
            <a:b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</a:t>
            </a:r>
            <a:endParaRPr/>
          </a:p>
        </p:txBody>
      </p:sp>
      <p:pic>
        <p:nvPicPr>
          <p:cNvPr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0075" y="122237"/>
            <a:ext cx="5915025" cy="6659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>
            <p:ph type="title"/>
          </p:nvPr>
        </p:nvSpPr>
        <p:spPr>
          <a:xfrm>
            <a:off x="0" y="0"/>
            <a:ext cx="2668587" cy="29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Simplex Stop-and-Wait Protocol</a:t>
            </a:r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5112" y="177800"/>
            <a:ext cx="6249987" cy="65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Simplex Protocol for a Noisy Channel</a:t>
            </a:r>
            <a:endParaRPr/>
          </a:p>
        </p:txBody>
      </p:sp>
      <p:pic>
        <p:nvPicPr>
          <p:cNvPr id="153" name="Google Shape;153;p18"/>
          <p:cNvPicPr preferRelativeResize="0"/>
          <p:nvPr/>
        </p:nvPicPr>
        <p:blipFill rotWithShape="1">
          <a:blip r:embed="rId3">
            <a:alphaModFix/>
          </a:blip>
          <a:srcRect b="39915" l="0" r="0" t="0"/>
          <a:stretch/>
        </p:blipFill>
        <p:spPr>
          <a:xfrm>
            <a:off x="2824162" y="1249362"/>
            <a:ext cx="6319837" cy="560863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0" y="4695825"/>
            <a:ext cx="2830512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positive acknowledgement with retransmission protocol.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37225" y="6350000"/>
            <a:ext cx="192881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Continued 🡪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Simplex Protocol for a Noisy Channel (ctd.)</a:t>
            </a:r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 b="-964" l="0" r="0" t="59753"/>
          <a:stretch/>
        </p:blipFill>
        <p:spPr>
          <a:xfrm>
            <a:off x="1636712" y="1346200"/>
            <a:ext cx="7343775" cy="44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677862" y="5986462"/>
            <a:ext cx="79041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positive acknowledgement with retransmission protocol.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Sliding Window Protocols</a:t>
            </a:r>
            <a:endParaRPr/>
          </a:p>
        </p:txBody>
      </p:sp>
      <p:sp>
        <p:nvSpPr>
          <p:cNvPr id="168" name="Google Shape;168;p20"/>
          <p:cNvSpPr txBox="1"/>
          <p:nvPr>
            <p:ph idx="1" type="body"/>
          </p:nvPr>
        </p:nvSpPr>
        <p:spPr>
          <a:xfrm>
            <a:off x="688975" y="1870075"/>
            <a:ext cx="8455025" cy="4683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One-Bit Sliding Window Protocol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Protocol Using Go Back N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Protocol Using Selective Repeat</a:t>
            </a:r>
            <a:endParaRPr/>
          </a:p>
          <a:p>
            <a:pPr indent="-381000" lvl="0" marL="6096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t/>
            </a:r>
            <a:endParaRPr b="0" i="0" sz="3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Sliding Window Protocols (2)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514350" y="4186237"/>
            <a:ext cx="8629650" cy="2366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sliding window of size 1, with a 3-bit sequence number.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Initially.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the first frame has been sent.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the first frame has been received.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the first acknowledgement has been received.</a:t>
            </a:r>
            <a:endParaRPr/>
          </a:p>
        </p:txBody>
      </p:sp>
      <p:pic>
        <p:nvPicPr>
          <p:cNvPr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1962" y="1036637"/>
            <a:ext cx="5249862" cy="29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One-Bit Sliding Window Protocol</a:t>
            </a:r>
            <a:endParaRPr/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3">
            <a:alphaModFix/>
          </a:blip>
          <a:srcRect b="52821" l="0" r="0" t="0"/>
          <a:stretch/>
        </p:blipFill>
        <p:spPr>
          <a:xfrm>
            <a:off x="677862" y="1257300"/>
            <a:ext cx="8112125" cy="480536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5737225" y="6350000"/>
            <a:ext cx="19288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Continued 🡪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One-Bit Sliding Window Protocol (ctd.)</a:t>
            </a:r>
            <a:endParaRPr/>
          </a:p>
        </p:txBody>
      </p:sp>
      <p:pic>
        <p:nvPicPr>
          <p:cNvPr id="188" name="Google Shape;188;p23"/>
          <p:cNvPicPr preferRelativeResize="0"/>
          <p:nvPr/>
        </p:nvPicPr>
        <p:blipFill rotWithShape="1">
          <a:blip r:embed="rId3">
            <a:alphaModFix/>
          </a:blip>
          <a:srcRect b="0" l="0" r="0" t="47357"/>
          <a:stretch/>
        </p:blipFill>
        <p:spPr>
          <a:xfrm>
            <a:off x="703262" y="1254125"/>
            <a:ext cx="7974012" cy="526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One-Bit Sliding Window Protocol (2)</a:t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0" y="5157787"/>
            <a:ext cx="8867775" cy="1839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Two scenarios for protocol 4. </a:t>
            </a: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Normal case. </a:t>
            </a: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Abnormal case.  The notation is (seq, ack, packet number).  An asterisk indicates where a network layer accepts a packet.</a:t>
            </a:r>
            <a:endParaRPr/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0" y="1233487"/>
            <a:ext cx="6978650" cy="3506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Protocol Using Go Back N</a:t>
            </a:r>
            <a:endParaRPr/>
          </a:p>
        </p:txBody>
      </p:sp>
      <p:sp>
        <p:nvSpPr>
          <p:cNvPr id="201" name="Google Shape;201;p25"/>
          <p:cNvSpPr txBox="1"/>
          <p:nvPr>
            <p:ph idx="1" type="body"/>
          </p:nvPr>
        </p:nvSpPr>
        <p:spPr>
          <a:xfrm>
            <a:off x="776287" y="5256212"/>
            <a:ext cx="8367712" cy="1601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Pipelining and error recovery.  Effect on an error when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Receiver’s window size is 1.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Receiver’s window size is large.</a:t>
            </a:r>
            <a:endParaRPr/>
          </a:p>
        </p:txBody>
      </p:sp>
      <p:pic>
        <p:nvPicPr>
          <p:cNvPr id="202" name="Google Shape;2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5637" y="1092200"/>
            <a:ext cx="5154612" cy="4135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b="0" i="0" lang="en-US" sz="36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Sliding Window Protocol Using Go Back N (2)</a:t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of multiple timers in software.</a:t>
            </a:r>
            <a:endParaRPr/>
          </a:p>
        </p:txBody>
      </p:sp>
      <p:pic>
        <p:nvPicPr>
          <p:cNvPr id="209" name="Google Shape;20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37" y="1747837"/>
            <a:ext cx="8504237" cy="3074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Sliding Window Protocol Using Selective Repeat</a:t>
            </a:r>
            <a:endParaRPr/>
          </a:p>
        </p:txBody>
      </p:sp>
      <p:sp>
        <p:nvSpPr>
          <p:cNvPr id="215" name="Google Shape;215;p35"/>
          <p:cNvSpPr txBox="1"/>
          <p:nvPr>
            <p:ph idx="1" type="body"/>
          </p:nvPr>
        </p:nvSpPr>
        <p:spPr>
          <a:xfrm>
            <a:off x="501650" y="4462462"/>
            <a:ext cx="8642350" cy="20907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Initial situation with a window size seven.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(b)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seven frames sent and received, but not acknowledged.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Initial situation with a window size of four.</a:t>
            </a:r>
            <a:endParaRPr/>
          </a:p>
          <a:p>
            <a:pPr indent="-609600" lvl="0" marL="609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(d)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After four frames sent and received, but not acknowledged.</a:t>
            </a:r>
            <a:endParaRPr/>
          </a:p>
        </p:txBody>
      </p:sp>
      <p:pic>
        <p:nvPicPr>
          <p:cNvPr id="216" name="Google Shape;21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1689100"/>
            <a:ext cx="7899400" cy="209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annenbaum">
  <a:themeElements>
    <a:clrScheme name="Tannenbaum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2002-07-07T21:28:42Z</dcterms:created>
  <dc:creator>Steve Armstrong</dc:creator>
</cp:coreProperties>
</file>