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27" r:id="rId15"/>
    <p:sldId id="328" r:id="rId16"/>
    <p:sldId id="329" r:id="rId17"/>
    <p:sldId id="330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9530"/>
            <a:ext cx="118437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39" y="1157605"/>
            <a:ext cx="11905919" cy="4115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rifatrahman00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677108"/>
          </a:xfrm>
        </p:spPr>
        <p:txBody>
          <a:bodyPr/>
          <a:lstStyle/>
          <a:p>
            <a:pPr algn="ctr"/>
            <a:r>
              <a:rPr lang="en-US" sz="4400" u="none" dirty="0"/>
              <a:t>Introduction to Block Codes, Type of Block Codes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1938992"/>
          </a:xfrm>
        </p:spPr>
        <p:txBody>
          <a:bodyPr/>
          <a:lstStyle/>
          <a:p>
            <a:pPr algn="ctr"/>
            <a:r>
              <a:rPr lang="en-US" dirty="0"/>
              <a:t>Prepared by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Modified by</a:t>
            </a:r>
          </a:p>
          <a:p>
            <a:pPr algn="ctr"/>
            <a:r>
              <a:rPr lang="en-US" dirty="0" err="1">
                <a:hlinkClick r:id="rId2"/>
              </a:rPr>
              <a:t>Rifat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Rahman</a:t>
            </a:r>
            <a:endParaRPr lang="en-US" dirty="0"/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</p:txBody>
      </p:sp>
    </p:spTree>
    <p:extLst>
      <p:ext uri="{BB962C8B-B14F-4D97-AF65-F5344CB8AC3E}">
        <p14:creationId xmlns:p14="http://schemas.microsoft.com/office/powerpoint/2010/main" val="111776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1929" y="-62357"/>
            <a:ext cx="41700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40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49045"/>
            <a:ext cx="14478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" y="1243710"/>
            <a:ext cx="587184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Channel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Structure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Important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Parameters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(4,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{Parity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5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Channel</a:t>
            </a:r>
            <a:r>
              <a:rPr spc="-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Codeword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6453"/>
            <a:ext cx="11757660" cy="4906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69265" algn="l"/>
              </a:tabLst>
            </a:pPr>
            <a:r>
              <a:rPr sz="2800" b="1" spc="-10" dirty="0">
                <a:solidFill>
                  <a:srgbClr val="385622"/>
                </a:solidFill>
                <a:latin typeface="Calibri"/>
                <a:cs typeface="Calibri"/>
              </a:rPr>
              <a:t>Channel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3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systems,</a:t>
            </a:r>
            <a:r>
              <a:rPr sz="2400" b="1" spc="1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channel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medium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through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which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travels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from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transmitter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receiver.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Examples:</a:t>
            </a:r>
            <a:r>
              <a:rPr sz="2400" b="1" spc="-8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air</a:t>
            </a:r>
            <a:r>
              <a:rPr sz="2400" b="1" spc="-6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(for</a:t>
            </a:r>
            <a:r>
              <a:rPr sz="2400" b="1" spc="-5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wireless),</a:t>
            </a:r>
            <a:r>
              <a:rPr sz="2400" b="1" spc="-6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cables,</a:t>
            </a:r>
            <a:r>
              <a:rPr sz="2400" b="1" spc="-6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optical</a:t>
            </a:r>
            <a:r>
              <a:rPr sz="2400" b="1" spc="-8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D75B6"/>
                </a:solidFill>
                <a:latin typeface="Calibri"/>
                <a:cs typeface="Calibri"/>
              </a:rPr>
              <a:t>fiber,</a:t>
            </a:r>
            <a:r>
              <a:rPr sz="2400" b="1" spc="-5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2D75B6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927100" marR="6350" lvl="1" indent="-457200">
              <a:lnSpc>
                <a:spcPct val="100000"/>
              </a:lnSpc>
              <a:buFont typeface="Wingdings"/>
              <a:buChar char=""/>
              <a:tabLst>
                <a:tab pos="927100" algn="l"/>
                <a:tab pos="2279015" algn="l"/>
                <a:tab pos="3014980" algn="l"/>
                <a:tab pos="4431030" algn="l"/>
                <a:tab pos="5386705" algn="l"/>
                <a:tab pos="7214234" algn="l"/>
                <a:tab pos="7889240" algn="l"/>
                <a:tab pos="9406255" algn="l"/>
                <a:tab pos="10549255" algn="l"/>
                <a:tab pos="11504930" algn="l"/>
              </a:tabLst>
            </a:pP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Channels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2D75B6"/>
                </a:solidFill>
                <a:latin typeface="Calibri"/>
                <a:cs typeface="Calibri"/>
              </a:rPr>
              <a:t>may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introduce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noise,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interference,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2D75B6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distortion,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causing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errors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2D75B6"/>
                </a:solidFill>
                <a:latin typeface="Calibri"/>
                <a:cs typeface="Calibri"/>
              </a:rPr>
              <a:t>in 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transmission.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ts val="3335"/>
              </a:lnSpc>
              <a:buFont typeface="Wingdings"/>
              <a:buChar char=""/>
              <a:tabLst>
                <a:tab pos="469265" algn="l"/>
              </a:tabLst>
            </a:pPr>
            <a:r>
              <a:rPr sz="2800" b="1" spc="-10" dirty="0">
                <a:solidFill>
                  <a:srgbClr val="385622"/>
                </a:solidFill>
                <a:latin typeface="Calibri"/>
                <a:cs typeface="Calibri"/>
              </a:rPr>
              <a:t>Codeword</a:t>
            </a:r>
            <a:endParaRPr sz="2800">
              <a:latin typeface="Calibri"/>
              <a:cs typeface="Calibri"/>
            </a:endParaRPr>
          </a:p>
          <a:p>
            <a:pPr marL="469900" marR="8890" indent="-457200">
              <a:lnSpc>
                <a:spcPct val="100000"/>
              </a:lnSpc>
              <a:spcBef>
                <a:spcPts val="30"/>
              </a:spcBef>
              <a:buFont typeface="Wingdings"/>
              <a:buChar char=""/>
              <a:tabLst>
                <a:tab pos="469900" algn="l"/>
                <a:tab pos="841375" algn="l"/>
                <a:tab pos="1754505" algn="l"/>
                <a:tab pos="3932554" algn="l"/>
                <a:tab pos="5569585" algn="l"/>
                <a:tab pos="5895340" algn="l"/>
                <a:tab pos="7511415" algn="l"/>
                <a:tab pos="7914005" algn="l"/>
                <a:tab pos="9462135" algn="l"/>
                <a:tab pos="9865995" algn="l"/>
                <a:tab pos="1093470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transmitted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—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specific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binary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sequences</a:t>
            </a:r>
            <a:r>
              <a:rPr sz="24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represent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after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encoding.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Example:</a:t>
            </a:r>
            <a:r>
              <a:rPr sz="2400" b="1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2400" b="1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message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are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101,</a:t>
            </a:r>
            <a:r>
              <a:rPr sz="24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encoder</a:t>
            </a:r>
            <a:r>
              <a:rPr sz="24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may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convert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101110.</a:t>
            </a:r>
            <a:endParaRPr sz="2400">
              <a:latin typeface="Calibri"/>
              <a:cs typeface="Calibri"/>
            </a:endParaRPr>
          </a:p>
          <a:p>
            <a:pPr marL="927100" marR="8890" lvl="1" indent="-457200">
              <a:lnSpc>
                <a:spcPct val="100000"/>
              </a:lnSpc>
              <a:buFont typeface="Wingdings"/>
              <a:buChar char=""/>
              <a:tabLst>
                <a:tab pos="92710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Each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follows</a:t>
            </a:r>
            <a:r>
              <a:rPr sz="2400" b="1" spc="1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certain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rules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designed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detect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correct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errors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caused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by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channel.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70" dirty="0"/>
              <a:t> </a:t>
            </a:r>
            <a:r>
              <a:rPr dirty="0"/>
              <a:t>Structure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Communication</a:t>
            </a:r>
            <a:r>
              <a:rPr spc="-85" dirty="0"/>
              <a:t> </a:t>
            </a:r>
            <a:r>
              <a:rPr spc="-10" dirty="0"/>
              <a:t>Systems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984" y="726097"/>
            <a:ext cx="1488186" cy="6813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984" y="726097"/>
            <a:ext cx="1488440" cy="68135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485"/>
              </a:spcBef>
            </a:pPr>
            <a:r>
              <a:rPr sz="1800" b="1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2554" y="726097"/>
            <a:ext cx="1488186" cy="6813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662554" y="726097"/>
            <a:ext cx="1488440" cy="68135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485"/>
              </a:spcBef>
            </a:pPr>
            <a:r>
              <a:rPr sz="1800" b="1" spc="-10" dirty="0">
                <a:latin typeface="Calibri"/>
                <a:cs typeface="Calibri"/>
              </a:rPr>
              <a:t>Transmitter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2583" y="815733"/>
            <a:ext cx="1488186" cy="5020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72583" y="815733"/>
            <a:ext cx="1488440" cy="502284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775"/>
              </a:spcBef>
            </a:pPr>
            <a:r>
              <a:rPr sz="1800" b="1" spc="-10" dirty="0">
                <a:latin typeface="Calibri"/>
                <a:cs typeface="Calibri"/>
              </a:rPr>
              <a:t>Channel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13807" y="1317751"/>
            <a:ext cx="1205865" cy="421640"/>
          </a:xfrm>
          <a:custGeom>
            <a:avLst/>
            <a:gdLst/>
            <a:ahLst/>
            <a:cxnLst/>
            <a:rect l="l" t="t" r="r" b="b"/>
            <a:pathLst>
              <a:path w="1205865" h="421639">
                <a:moveTo>
                  <a:pt x="76200" y="76200"/>
                </a:move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28575" y="76200"/>
                </a:lnTo>
                <a:lnTo>
                  <a:pt x="28575" y="421386"/>
                </a:lnTo>
                <a:lnTo>
                  <a:pt x="47625" y="421386"/>
                </a:lnTo>
                <a:lnTo>
                  <a:pt x="47625" y="76200"/>
                </a:lnTo>
                <a:lnTo>
                  <a:pt x="76200" y="76200"/>
                </a:lnTo>
                <a:close/>
              </a:path>
              <a:path w="1205865" h="421639">
                <a:moveTo>
                  <a:pt x="309245" y="76200"/>
                </a:moveTo>
                <a:lnTo>
                  <a:pt x="302895" y="63500"/>
                </a:lnTo>
                <a:lnTo>
                  <a:pt x="271145" y="0"/>
                </a:lnTo>
                <a:lnTo>
                  <a:pt x="233045" y="76200"/>
                </a:lnTo>
                <a:lnTo>
                  <a:pt x="261620" y="76200"/>
                </a:lnTo>
                <a:lnTo>
                  <a:pt x="261620" y="421386"/>
                </a:lnTo>
                <a:lnTo>
                  <a:pt x="280670" y="421386"/>
                </a:lnTo>
                <a:lnTo>
                  <a:pt x="280670" y="76200"/>
                </a:lnTo>
                <a:lnTo>
                  <a:pt x="309245" y="76200"/>
                </a:lnTo>
                <a:close/>
              </a:path>
              <a:path w="1205865" h="421639">
                <a:moveTo>
                  <a:pt x="524510" y="76200"/>
                </a:moveTo>
                <a:lnTo>
                  <a:pt x="518160" y="63500"/>
                </a:lnTo>
                <a:lnTo>
                  <a:pt x="486410" y="0"/>
                </a:lnTo>
                <a:lnTo>
                  <a:pt x="448310" y="76200"/>
                </a:lnTo>
                <a:lnTo>
                  <a:pt x="476885" y="76200"/>
                </a:lnTo>
                <a:lnTo>
                  <a:pt x="476885" y="421386"/>
                </a:lnTo>
                <a:lnTo>
                  <a:pt x="495935" y="421386"/>
                </a:lnTo>
                <a:lnTo>
                  <a:pt x="495935" y="76200"/>
                </a:lnTo>
                <a:lnTo>
                  <a:pt x="524510" y="76200"/>
                </a:lnTo>
                <a:close/>
              </a:path>
              <a:path w="1205865" h="421639">
                <a:moveTo>
                  <a:pt x="757555" y="76200"/>
                </a:moveTo>
                <a:lnTo>
                  <a:pt x="751205" y="63500"/>
                </a:lnTo>
                <a:lnTo>
                  <a:pt x="719455" y="0"/>
                </a:lnTo>
                <a:lnTo>
                  <a:pt x="681355" y="76200"/>
                </a:lnTo>
                <a:lnTo>
                  <a:pt x="709930" y="76200"/>
                </a:lnTo>
                <a:lnTo>
                  <a:pt x="709930" y="421386"/>
                </a:lnTo>
                <a:lnTo>
                  <a:pt x="728980" y="421386"/>
                </a:lnTo>
                <a:lnTo>
                  <a:pt x="728980" y="76200"/>
                </a:lnTo>
                <a:lnTo>
                  <a:pt x="757555" y="76200"/>
                </a:lnTo>
                <a:close/>
              </a:path>
              <a:path w="1205865" h="421639">
                <a:moveTo>
                  <a:pt x="972693" y="76200"/>
                </a:moveTo>
                <a:lnTo>
                  <a:pt x="966343" y="63500"/>
                </a:lnTo>
                <a:lnTo>
                  <a:pt x="934593" y="0"/>
                </a:lnTo>
                <a:lnTo>
                  <a:pt x="896493" y="76200"/>
                </a:lnTo>
                <a:lnTo>
                  <a:pt x="925068" y="76200"/>
                </a:lnTo>
                <a:lnTo>
                  <a:pt x="925068" y="421386"/>
                </a:lnTo>
                <a:lnTo>
                  <a:pt x="944118" y="421386"/>
                </a:lnTo>
                <a:lnTo>
                  <a:pt x="944118" y="76200"/>
                </a:lnTo>
                <a:lnTo>
                  <a:pt x="972693" y="76200"/>
                </a:lnTo>
                <a:close/>
              </a:path>
              <a:path w="1205865" h="421639">
                <a:moveTo>
                  <a:pt x="1205738" y="76200"/>
                </a:moveTo>
                <a:lnTo>
                  <a:pt x="1199388" y="63500"/>
                </a:lnTo>
                <a:lnTo>
                  <a:pt x="1167638" y="0"/>
                </a:lnTo>
                <a:lnTo>
                  <a:pt x="1129538" y="76200"/>
                </a:lnTo>
                <a:lnTo>
                  <a:pt x="1158113" y="76200"/>
                </a:lnTo>
                <a:lnTo>
                  <a:pt x="1158113" y="421386"/>
                </a:lnTo>
                <a:lnTo>
                  <a:pt x="1177163" y="421386"/>
                </a:lnTo>
                <a:lnTo>
                  <a:pt x="1177163" y="76200"/>
                </a:lnTo>
                <a:lnTo>
                  <a:pt x="1205738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83173" y="1656715"/>
            <a:ext cx="740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Noise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2738" y="726097"/>
            <a:ext cx="1488186" cy="68131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82738" y="726097"/>
            <a:ext cx="1488440" cy="68135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85"/>
              </a:spcBef>
            </a:pPr>
            <a:r>
              <a:rPr sz="1800" b="1" spc="-10" dirty="0">
                <a:latin typeface="Calibri"/>
                <a:cs typeface="Calibri"/>
              </a:rPr>
              <a:t>Receiver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9847" y="726097"/>
            <a:ext cx="1488186" cy="68131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959847" y="726097"/>
            <a:ext cx="1488440" cy="68135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485"/>
              </a:spcBef>
            </a:pPr>
            <a:r>
              <a:rPr sz="1800" b="1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99107" y="1024000"/>
            <a:ext cx="7960995" cy="85725"/>
          </a:xfrm>
          <a:custGeom>
            <a:avLst/>
            <a:gdLst/>
            <a:ahLst/>
            <a:cxnLst/>
            <a:rect l="l" t="t" r="r" b="b"/>
            <a:pathLst>
              <a:path w="7960995" h="85725">
                <a:moveTo>
                  <a:pt x="663448" y="42799"/>
                </a:moveTo>
                <a:lnTo>
                  <a:pt x="634949" y="28575"/>
                </a:lnTo>
                <a:lnTo>
                  <a:pt x="577723" y="0"/>
                </a:lnTo>
                <a:lnTo>
                  <a:pt x="577723" y="28575"/>
                </a:lnTo>
                <a:lnTo>
                  <a:pt x="0" y="28575"/>
                </a:lnTo>
                <a:lnTo>
                  <a:pt x="0" y="57150"/>
                </a:lnTo>
                <a:lnTo>
                  <a:pt x="577723" y="57150"/>
                </a:lnTo>
                <a:lnTo>
                  <a:pt x="577723" y="85725"/>
                </a:lnTo>
                <a:lnTo>
                  <a:pt x="634784" y="57150"/>
                </a:lnTo>
                <a:lnTo>
                  <a:pt x="663448" y="42799"/>
                </a:lnTo>
                <a:close/>
              </a:path>
              <a:path w="7960995" h="85725">
                <a:moveTo>
                  <a:pt x="3173476" y="42799"/>
                </a:moveTo>
                <a:lnTo>
                  <a:pt x="3144977" y="28575"/>
                </a:lnTo>
                <a:lnTo>
                  <a:pt x="3087751" y="0"/>
                </a:lnTo>
                <a:lnTo>
                  <a:pt x="3087751" y="28575"/>
                </a:lnTo>
                <a:lnTo>
                  <a:pt x="2151507" y="28575"/>
                </a:lnTo>
                <a:lnTo>
                  <a:pt x="2151507" y="57150"/>
                </a:lnTo>
                <a:lnTo>
                  <a:pt x="3087751" y="57150"/>
                </a:lnTo>
                <a:lnTo>
                  <a:pt x="3087751" y="85725"/>
                </a:lnTo>
                <a:lnTo>
                  <a:pt x="3144812" y="57150"/>
                </a:lnTo>
                <a:lnTo>
                  <a:pt x="3173476" y="42799"/>
                </a:lnTo>
                <a:close/>
              </a:path>
              <a:path w="7960995" h="85725">
                <a:moveTo>
                  <a:pt x="5683631" y="42799"/>
                </a:moveTo>
                <a:lnTo>
                  <a:pt x="5655132" y="28575"/>
                </a:lnTo>
                <a:lnTo>
                  <a:pt x="5597906" y="0"/>
                </a:lnTo>
                <a:lnTo>
                  <a:pt x="5597906" y="28575"/>
                </a:lnTo>
                <a:lnTo>
                  <a:pt x="4661662" y="28575"/>
                </a:lnTo>
                <a:lnTo>
                  <a:pt x="4661662" y="57150"/>
                </a:lnTo>
                <a:lnTo>
                  <a:pt x="5597906" y="57150"/>
                </a:lnTo>
                <a:lnTo>
                  <a:pt x="5597906" y="85725"/>
                </a:lnTo>
                <a:lnTo>
                  <a:pt x="5654967" y="57150"/>
                </a:lnTo>
                <a:lnTo>
                  <a:pt x="5683631" y="42799"/>
                </a:lnTo>
                <a:close/>
              </a:path>
              <a:path w="7960995" h="85725">
                <a:moveTo>
                  <a:pt x="7960614" y="42799"/>
                </a:moveTo>
                <a:lnTo>
                  <a:pt x="7932115" y="28575"/>
                </a:lnTo>
                <a:lnTo>
                  <a:pt x="7874889" y="0"/>
                </a:lnTo>
                <a:lnTo>
                  <a:pt x="7874889" y="28575"/>
                </a:lnTo>
                <a:lnTo>
                  <a:pt x="7171817" y="28575"/>
                </a:lnTo>
                <a:lnTo>
                  <a:pt x="7171817" y="57150"/>
                </a:lnTo>
                <a:lnTo>
                  <a:pt x="7874889" y="57150"/>
                </a:lnTo>
                <a:lnTo>
                  <a:pt x="7874889" y="85725"/>
                </a:lnTo>
                <a:lnTo>
                  <a:pt x="7931950" y="57150"/>
                </a:lnTo>
                <a:lnTo>
                  <a:pt x="7960614" y="42799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4612" y="2095525"/>
            <a:ext cx="5194300" cy="1051560"/>
          </a:xfrm>
          <a:prstGeom prst="rect">
            <a:avLst/>
          </a:prstGeom>
          <a:ln w="28575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90"/>
              </a:lnSpc>
            </a:pPr>
            <a:r>
              <a:rPr sz="1800" b="1" spc="-10" dirty="0">
                <a:latin typeface="Calibri"/>
                <a:cs typeface="Calibri"/>
              </a:rPr>
              <a:t>Transmitter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233" y="2315806"/>
            <a:ext cx="1165415" cy="53788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8233" y="2315806"/>
            <a:ext cx="116586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9715">
              <a:lnSpc>
                <a:spcPts val="2000"/>
              </a:lnSpc>
            </a:pPr>
            <a:r>
              <a:rPr sz="1800" b="1" spc="-10" dirty="0">
                <a:latin typeface="Calibri"/>
                <a:cs typeface="Calibri"/>
              </a:rPr>
              <a:t>Source</a:t>
            </a:r>
            <a:endParaRPr sz="18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36723" y="2309710"/>
            <a:ext cx="1165415" cy="5378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236723" y="2309710"/>
            <a:ext cx="116586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5580">
              <a:lnSpc>
                <a:spcPts val="2000"/>
              </a:lnSpc>
            </a:pPr>
            <a:r>
              <a:rPr sz="1800" b="1" spc="-10" dirty="0">
                <a:latin typeface="Calibri"/>
                <a:cs typeface="Calibri"/>
              </a:rPr>
              <a:t>Channel</a:t>
            </a:r>
            <a:endParaRPr sz="1800">
              <a:latin typeface="Calibri"/>
              <a:cs typeface="Calibri"/>
            </a:endParaRPr>
          </a:p>
          <a:p>
            <a:pPr marL="19748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5138" y="2315806"/>
            <a:ext cx="1326768" cy="5378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025138" y="2315806"/>
            <a:ext cx="132715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919"/>
              </a:spcBef>
            </a:pPr>
            <a:r>
              <a:rPr sz="1800" b="1" spc="-10" dirty="0">
                <a:latin typeface="Calibri"/>
                <a:cs typeface="Calibri"/>
              </a:rPr>
              <a:t>Modulator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13535" y="2536570"/>
            <a:ext cx="2411730" cy="90170"/>
          </a:xfrm>
          <a:custGeom>
            <a:avLst/>
            <a:gdLst/>
            <a:ahLst/>
            <a:cxnLst/>
            <a:rect l="l" t="t" r="r" b="b"/>
            <a:pathLst>
              <a:path w="2411729" h="90169">
                <a:moveTo>
                  <a:pt x="623189" y="42037"/>
                </a:moveTo>
                <a:lnTo>
                  <a:pt x="595312" y="28448"/>
                </a:lnTo>
                <a:lnTo>
                  <a:pt x="536956" y="0"/>
                </a:lnTo>
                <a:lnTo>
                  <a:pt x="537248" y="28448"/>
                </a:lnTo>
                <a:lnTo>
                  <a:pt x="537248" y="28587"/>
                </a:lnTo>
                <a:lnTo>
                  <a:pt x="0" y="33782"/>
                </a:lnTo>
                <a:lnTo>
                  <a:pt x="203" y="57023"/>
                </a:lnTo>
                <a:lnTo>
                  <a:pt x="254" y="62357"/>
                </a:lnTo>
                <a:lnTo>
                  <a:pt x="537540" y="57162"/>
                </a:lnTo>
                <a:lnTo>
                  <a:pt x="537464" y="49885"/>
                </a:lnTo>
                <a:lnTo>
                  <a:pt x="537540" y="57023"/>
                </a:lnTo>
                <a:lnTo>
                  <a:pt x="537540" y="57162"/>
                </a:lnTo>
                <a:lnTo>
                  <a:pt x="537845" y="85725"/>
                </a:lnTo>
                <a:lnTo>
                  <a:pt x="623189" y="42037"/>
                </a:lnTo>
                <a:close/>
              </a:path>
              <a:path w="2411729" h="90169">
                <a:moveTo>
                  <a:pt x="2383764" y="61722"/>
                </a:moveTo>
                <a:lnTo>
                  <a:pt x="2340102" y="61722"/>
                </a:lnTo>
                <a:lnTo>
                  <a:pt x="2325738" y="61722"/>
                </a:lnTo>
                <a:lnTo>
                  <a:pt x="2325497" y="90170"/>
                </a:lnTo>
                <a:lnTo>
                  <a:pt x="2383764" y="61722"/>
                </a:lnTo>
                <a:close/>
              </a:path>
              <a:path w="2411729" h="90169">
                <a:moveTo>
                  <a:pt x="2411603" y="48133"/>
                </a:moveTo>
                <a:lnTo>
                  <a:pt x="2326259" y="4445"/>
                </a:lnTo>
                <a:lnTo>
                  <a:pt x="2326043" y="27686"/>
                </a:lnTo>
                <a:lnTo>
                  <a:pt x="2326005" y="33007"/>
                </a:lnTo>
                <a:lnTo>
                  <a:pt x="1788668" y="27686"/>
                </a:lnTo>
                <a:lnTo>
                  <a:pt x="1788477" y="48133"/>
                </a:lnTo>
                <a:lnTo>
                  <a:pt x="1788414" y="56261"/>
                </a:lnTo>
                <a:lnTo>
                  <a:pt x="2325751" y="61582"/>
                </a:lnTo>
                <a:lnTo>
                  <a:pt x="2325992" y="33147"/>
                </a:lnTo>
                <a:lnTo>
                  <a:pt x="2325865" y="48133"/>
                </a:lnTo>
                <a:lnTo>
                  <a:pt x="2325751" y="61582"/>
                </a:lnTo>
                <a:lnTo>
                  <a:pt x="2340102" y="61722"/>
                </a:lnTo>
                <a:lnTo>
                  <a:pt x="2384056" y="61582"/>
                </a:lnTo>
                <a:lnTo>
                  <a:pt x="2411603" y="48133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78651" y="2095525"/>
            <a:ext cx="5194300" cy="1051560"/>
          </a:xfrm>
          <a:prstGeom prst="rect">
            <a:avLst/>
          </a:prstGeom>
          <a:ln w="28575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ts val="2090"/>
              </a:lnSpc>
            </a:pPr>
            <a:r>
              <a:rPr sz="1800" b="1" spc="-10" dirty="0">
                <a:latin typeface="Calibri"/>
                <a:cs typeface="Calibri"/>
              </a:rPr>
              <a:t>Receiver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52259" y="2315806"/>
            <a:ext cx="1442466" cy="53788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652259" y="2315806"/>
            <a:ext cx="144272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19"/>
              </a:spcBef>
            </a:pPr>
            <a:r>
              <a:rPr sz="1800" b="1" spc="-10" dirty="0">
                <a:latin typeface="Calibri"/>
                <a:cs typeface="Calibri"/>
              </a:rPr>
              <a:t>Demodulator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782" y="2309710"/>
            <a:ext cx="1165415" cy="53788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677782" y="2309710"/>
            <a:ext cx="116586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0">
              <a:lnSpc>
                <a:spcPts val="2000"/>
              </a:lnSpc>
            </a:pPr>
            <a:r>
              <a:rPr sz="1800" b="1" spc="-10" dirty="0">
                <a:latin typeface="Calibri"/>
                <a:cs typeface="Calibri"/>
              </a:rPr>
              <a:t>Channel</a:t>
            </a:r>
            <a:endParaRPr sz="18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90505" y="2315806"/>
            <a:ext cx="1165415" cy="537883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390505" y="2315806"/>
            <a:ext cx="116586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0985">
              <a:lnSpc>
                <a:spcPts val="2000"/>
              </a:lnSpc>
            </a:pPr>
            <a:r>
              <a:rPr sz="1800" b="1" spc="-10" dirty="0">
                <a:latin typeface="Calibri"/>
                <a:cs typeface="Calibri"/>
              </a:rPr>
              <a:t>Source</a:t>
            </a:r>
            <a:endParaRPr sz="18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94599" y="2536570"/>
            <a:ext cx="2296160" cy="90170"/>
          </a:xfrm>
          <a:custGeom>
            <a:avLst/>
            <a:gdLst/>
            <a:ahLst/>
            <a:cxnLst/>
            <a:rect l="l" t="t" r="r" b="b"/>
            <a:pathLst>
              <a:path w="2296159" h="90169">
                <a:moveTo>
                  <a:pt x="583184" y="42037"/>
                </a:moveTo>
                <a:lnTo>
                  <a:pt x="555345" y="28448"/>
                </a:lnTo>
                <a:lnTo>
                  <a:pt x="497078" y="0"/>
                </a:lnTo>
                <a:lnTo>
                  <a:pt x="497370" y="28448"/>
                </a:lnTo>
                <a:lnTo>
                  <a:pt x="497370" y="28600"/>
                </a:lnTo>
                <a:lnTo>
                  <a:pt x="0" y="33782"/>
                </a:lnTo>
                <a:lnTo>
                  <a:pt x="203" y="57023"/>
                </a:lnTo>
                <a:lnTo>
                  <a:pt x="254" y="62357"/>
                </a:lnTo>
                <a:lnTo>
                  <a:pt x="497662" y="57175"/>
                </a:lnTo>
                <a:lnTo>
                  <a:pt x="497586" y="49720"/>
                </a:lnTo>
                <a:lnTo>
                  <a:pt x="497662" y="57023"/>
                </a:lnTo>
                <a:lnTo>
                  <a:pt x="497662" y="57175"/>
                </a:lnTo>
                <a:lnTo>
                  <a:pt x="497967" y="85725"/>
                </a:lnTo>
                <a:lnTo>
                  <a:pt x="583184" y="42037"/>
                </a:lnTo>
                <a:close/>
              </a:path>
              <a:path w="2296159" h="90169">
                <a:moveTo>
                  <a:pt x="2268194" y="61595"/>
                </a:moveTo>
                <a:lnTo>
                  <a:pt x="2224278" y="61595"/>
                </a:lnTo>
                <a:lnTo>
                  <a:pt x="2210003" y="61595"/>
                </a:lnTo>
                <a:lnTo>
                  <a:pt x="2209673" y="90043"/>
                </a:lnTo>
                <a:lnTo>
                  <a:pt x="2268194" y="61595"/>
                </a:lnTo>
                <a:close/>
              </a:path>
              <a:path w="2296159" h="90169">
                <a:moveTo>
                  <a:pt x="2295906" y="48133"/>
                </a:moveTo>
                <a:lnTo>
                  <a:pt x="2210689" y="4318"/>
                </a:lnTo>
                <a:lnTo>
                  <a:pt x="2210409" y="27686"/>
                </a:lnTo>
                <a:lnTo>
                  <a:pt x="2210346" y="32867"/>
                </a:lnTo>
                <a:lnTo>
                  <a:pt x="1748790" y="27686"/>
                </a:lnTo>
                <a:lnTo>
                  <a:pt x="1748599" y="48133"/>
                </a:lnTo>
                <a:lnTo>
                  <a:pt x="1748536" y="56261"/>
                </a:lnTo>
                <a:lnTo>
                  <a:pt x="2210003" y="61442"/>
                </a:lnTo>
                <a:lnTo>
                  <a:pt x="2210282" y="37287"/>
                </a:lnTo>
                <a:lnTo>
                  <a:pt x="2210168" y="48133"/>
                </a:lnTo>
                <a:lnTo>
                  <a:pt x="2210066" y="56261"/>
                </a:lnTo>
                <a:lnTo>
                  <a:pt x="2210003" y="61442"/>
                </a:lnTo>
                <a:lnTo>
                  <a:pt x="2224278" y="61442"/>
                </a:lnTo>
                <a:lnTo>
                  <a:pt x="2268524" y="61442"/>
                </a:lnTo>
                <a:lnTo>
                  <a:pt x="2295906" y="48133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88772" y="3242564"/>
            <a:ext cx="11755755" cy="325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Source</a:t>
            </a:r>
            <a:r>
              <a:rPr sz="2400" b="1" spc="-7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Encoding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5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remove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redundancy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from</a:t>
            </a:r>
            <a:r>
              <a:rPr sz="2000" b="1" spc="2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original</a:t>
            </a:r>
            <a:r>
              <a:rPr sz="2000" b="1" spc="2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so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000" b="1" spc="2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represented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000" b="1" spc="2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fewer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—</a:t>
            </a:r>
            <a:r>
              <a:rPr sz="2000" b="1" spc="2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i.e.,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endParaRPr sz="20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compress</a:t>
            </a:r>
            <a:r>
              <a:rPr sz="20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0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0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efficiently.</a:t>
            </a:r>
            <a:endParaRPr sz="2000" dirty="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000" b="1" spc="-40" dirty="0">
                <a:solidFill>
                  <a:srgbClr val="006FC0"/>
                </a:solidFill>
                <a:latin typeface="Calibri"/>
                <a:cs typeface="Calibri"/>
              </a:rPr>
              <a:t>Text</a:t>
            </a:r>
            <a:r>
              <a:rPr sz="20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compression:</a:t>
            </a:r>
            <a:r>
              <a:rPr sz="2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Huffman</a:t>
            </a:r>
            <a:r>
              <a:rPr sz="2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coding,</a:t>
            </a:r>
            <a:r>
              <a:rPr sz="20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Arithmetic</a:t>
            </a:r>
            <a:r>
              <a:rPr sz="2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coding</a:t>
            </a:r>
            <a:endParaRPr sz="2000" dirty="0">
              <a:latin typeface="Calibri"/>
              <a:cs typeface="Calibri"/>
            </a:endParaRPr>
          </a:p>
          <a:p>
            <a:pPr marL="926465" lvl="1" indent="-456565">
              <a:lnSpc>
                <a:spcPts val="2385"/>
              </a:lnSpc>
              <a:buFont typeface="Wingdings"/>
              <a:buChar char=""/>
              <a:tabLst>
                <a:tab pos="926465" algn="l"/>
              </a:tabLst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Image/video</a:t>
            </a:r>
            <a:r>
              <a:rPr sz="20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compression:</a:t>
            </a:r>
            <a:r>
              <a:rPr sz="20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JPEG,</a:t>
            </a:r>
            <a:r>
              <a:rPr sz="20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6FC0"/>
                </a:solidFill>
                <a:latin typeface="Calibri"/>
                <a:cs typeface="Calibri"/>
              </a:rPr>
              <a:t>MPEG</a:t>
            </a:r>
            <a:endParaRPr sz="2000" dirty="0">
              <a:latin typeface="Calibri"/>
              <a:cs typeface="Calibri"/>
            </a:endParaRPr>
          </a:p>
          <a:p>
            <a:pPr marL="469265" indent="-456565">
              <a:lnSpc>
                <a:spcPts val="2865"/>
              </a:lnSpc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Channel</a:t>
            </a:r>
            <a:r>
              <a:rPr sz="2400" b="1" spc="-6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Encoding</a:t>
            </a:r>
            <a:endParaRPr sz="2400" dirty="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30"/>
              </a:spcBef>
              <a:buFont typeface="Wingdings"/>
              <a:buChar char=""/>
              <a:tabLst>
                <a:tab pos="469900" algn="l"/>
              </a:tabLst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add</a:t>
            </a:r>
            <a:r>
              <a:rPr sz="20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redundancy</a:t>
            </a:r>
            <a:r>
              <a:rPr sz="20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transmitted</a:t>
            </a:r>
            <a:r>
              <a:rPr sz="20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make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robust</a:t>
            </a:r>
            <a:r>
              <a:rPr sz="20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r>
              <a:rPr sz="20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errors</a:t>
            </a:r>
            <a:r>
              <a:rPr sz="20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0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 channel.</a:t>
            </a:r>
            <a:endParaRPr sz="2000" dirty="0">
              <a:latin typeface="Calibri"/>
              <a:cs typeface="Calibri"/>
            </a:endParaRPr>
          </a:p>
          <a:p>
            <a:pPr marL="926465" lvl="1" indent="-456565">
              <a:lnSpc>
                <a:spcPts val="2385"/>
              </a:lnSpc>
              <a:buFont typeface="Wingdings"/>
              <a:buChar char=""/>
              <a:tabLst>
                <a:tab pos="926465" algn="l"/>
              </a:tabLst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Examples:</a:t>
            </a:r>
            <a:r>
              <a:rPr sz="20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Linear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sz="2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(Hamming</a:t>
            </a:r>
            <a:r>
              <a:rPr sz="20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Code),</a:t>
            </a:r>
            <a:r>
              <a:rPr sz="20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Convolution</a:t>
            </a:r>
            <a:r>
              <a:rPr sz="2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Codes,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Turbo</a:t>
            </a:r>
            <a:r>
              <a:rPr sz="2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Codes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6FC0"/>
                </a:solidFill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469265" indent="-456565">
              <a:lnSpc>
                <a:spcPts val="2865"/>
              </a:lnSpc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Source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Encoding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makes</a:t>
            </a:r>
            <a:r>
              <a:rPr sz="24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smaller,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Channel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Encoding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makes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Stronger.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/>
      <p:bldP spid="12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1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4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Block</a:t>
            </a:r>
            <a:r>
              <a:rPr spc="-3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639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represented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k)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n-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Redundant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r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r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Systematic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codes</a:t>
            </a:r>
            <a:endParaRPr sz="2400">
              <a:latin typeface="Calibri"/>
              <a:cs typeface="Calibri"/>
            </a:endParaRPr>
          </a:p>
          <a:p>
            <a:pPr marL="469900" marR="7620" indent="-457200">
              <a:lnSpc>
                <a:spcPct val="100000"/>
              </a:lnSpc>
              <a:buFont typeface="Wingdings"/>
              <a:buChar char=""/>
              <a:tabLst>
                <a:tab pos="469900" algn="l"/>
                <a:tab pos="1963420" algn="l"/>
                <a:tab pos="2825750" algn="l"/>
                <a:tab pos="3627754" algn="l"/>
                <a:tab pos="4853305" algn="l"/>
                <a:tab pos="5448935" algn="l"/>
                <a:tab pos="5836285" algn="l"/>
                <a:tab pos="6392545" algn="l"/>
                <a:tab pos="7771765" algn="l"/>
                <a:tab pos="8165465" algn="l"/>
                <a:tab pos="8720455" algn="l"/>
                <a:tab pos="10195560" algn="l"/>
                <a:tab pos="1143635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place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beginning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followed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by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making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original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easily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identifiable.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Non-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Systematic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codes</a:t>
            </a:r>
            <a:endParaRPr sz="24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"/>
              <a:tabLst>
                <a:tab pos="46990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Non-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codes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intersperse</a:t>
            </a:r>
            <a:r>
              <a:rPr sz="2400" b="1" spc="1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bits,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so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original</a:t>
            </a:r>
            <a:r>
              <a:rPr sz="24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bits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located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fixed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position.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Parameters</a:t>
            </a:r>
            <a:r>
              <a:rPr spc="-6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Block</a:t>
            </a:r>
            <a:r>
              <a:rPr spc="-45" dirty="0"/>
              <a:t> </a:t>
            </a: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(n,</a:t>
            </a:r>
            <a:r>
              <a:rPr spc="-40" dirty="0"/>
              <a:t> </a:t>
            </a:r>
            <a:r>
              <a:rPr spc="-25" dirty="0"/>
              <a:t>k)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43" y="1004912"/>
            <a:ext cx="7133463" cy="7139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309" y="689154"/>
            <a:ext cx="4900267" cy="2304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239" y="1818060"/>
            <a:ext cx="2674600" cy="268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9416" y="2195907"/>
            <a:ext cx="2822223" cy="281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42" y="62864"/>
            <a:ext cx="28416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Block</a:t>
            </a:r>
            <a:r>
              <a:rPr spc="-45" dirty="0"/>
              <a:t> </a:t>
            </a: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(4,</a:t>
            </a:r>
            <a:r>
              <a:rPr spc="-25" dirty="0"/>
              <a:t> 3)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7241" y="584834"/>
          <a:ext cx="8128000" cy="6219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(k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919209" y="417017"/>
            <a:ext cx="21729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298450" algn="l"/>
              </a:tabLst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0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0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85619" y="976947"/>
            <a:ext cx="930275" cy="287020"/>
            <a:chOff x="8385619" y="976947"/>
            <a:chExt cx="930275" cy="287020"/>
          </a:xfrm>
        </p:grpSpPr>
        <p:sp>
          <p:nvSpPr>
            <p:cNvPr id="6" name="object 6"/>
            <p:cNvSpPr/>
            <p:nvPr/>
          </p:nvSpPr>
          <p:spPr>
            <a:xfrm>
              <a:off x="8399906" y="997966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59">
                  <a:moveTo>
                    <a:pt x="0" y="0"/>
                  </a:moveTo>
                  <a:lnTo>
                    <a:pt x="152400" y="251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9606" y="991235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5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545512" y="1372933"/>
            <a:ext cx="307975" cy="284480"/>
            <a:chOff x="8545512" y="1372933"/>
            <a:chExt cx="307975" cy="284480"/>
          </a:xfrm>
        </p:grpSpPr>
        <p:sp>
          <p:nvSpPr>
            <p:cNvPr id="9" name="object 9"/>
            <p:cNvSpPr/>
            <p:nvPr/>
          </p:nvSpPr>
          <p:spPr>
            <a:xfrm>
              <a:off x="8559800" y="1387221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0" y="0"/>
                  </a:moveTo>
                  <a:lnTo>
                    <a:pt x="27940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59800" y="1387221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2794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545512" y="1736407"/>
            <a:ext cx="307975" cy="284480"/>
            <a:chOff x="8545512" y="1736407"/>
            <a:chExt cx="307975" cy="284480"/>
          </a:xfrm>
        </p:grpSpPr>
        <p:sp>
          <p:nvSpPr>
            <p:cNvPr id="12" name="object 12"/>
            <p:cNvSpPr/>
            <p:nvPr/>
          </p:nvSpPr>
          <p:spPr>
            <a:xfrm>
              <a:off x="8559800" y="1750695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0" y="0"/>
                  </a:moveTo>
                  <a:lnTo>
                    <a:pt x="27940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59800" y="1750695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2794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385619" y="2071306"/>
            <a:ext cx="930275" cy="287020"/>
            <a:chOff x="8385619" y="2071306"/>
            <a:chExt cx="930275" cy="287020"/>
          </a:xfrm>
        </p:grpSpPr>
        <p:sp>
          <p:nvSpPr>
            <p:cNvPr id="15" name="object 15"/>
            <p:cNvSpPr/>
            <p:nvPr/>
          </p:nvSpPr>
          <p:spPr>
            <a:xfrm>
              <a:off x="8399906" y="2092325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39606" y="2085594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5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545512" y="2485707"/>
            <a:ext cx="307975" cy="284480"/>
            <a:chOff x="8545512" y="2485707"/>
            <a:chExt cx="307975" cy="284480"/>
          </a:xfrm>
        </p:grpSpPr>
        <p:sp>
          <p:nvSpPr>
            <p:cNvPr id="18" name="object 18"/>
            <p:cNvSpPr/>
            <p:nvPr/>
          </p:nvSpPr>
          <p:spPr>
            <a:xfrm>
              <a:off x="8559800" y="2499995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0" y="0"/>
                  </a:moveTo>
                  <a:lnTo>
                    <a:pt x="27940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59800" y="2499995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2794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390826" y="2834830"/>
            <a:ext cx="930275" cy="287020"/>
            <a:chOff x="8390826" y="2834830"/>
            <a:chExt cx="930275" cy="287020"/>
          </a:xfrm>
        </p:grpSpPr>
        <p:sp>
          <p:nvSpPr>
            <p:cNvPr id="21" name="object 21"/>
            <p:cNvSpPr/>
            <p:nvPr/>
          </p:nvSpPr>
          <p:spPr>
            <a:xfrm>
              <a:off x="8405114" y="2855848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44814" y="2849117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5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390826" y="3183953"/>
            <a:ext cx="930275" cy="287020"/>
            <a:chOff x="8390826" y="3183953"/>
            <a:chExt cx="930275" cy="287020"/>
          </a:xfrm>
        </p:grpSpPr>
        <p:sp>
          <p:nvSpPr>
            <p:cNvPr id="24" name="object 24"/>
            <p:cNvSpPr/>
            <p:nvPr/>
          </p:nvSpPr>
          <p:spPr>
            <a:xfrm>
              <a:off x="8405114" y="3204972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44814" y="3198241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525319" y="3595814"/>
            <a:ext cx="307975" cy="284480"/>
            <a:chOff x="8525319" y="3595814"/>
            <a:chExt cx="307975" cy="284480"/>
          </a:xfrm>
        </p:grpSpPr>
        <p:sp>
          <p:nvSpPr>
            <p:cNvPr id="27" name="object 27"/>
            <p:cNvSpPr/>
            <p:nvPr/>
          </p:nvSpPr>
          <p:spPr>
            <a:xfrm>
              <a:off x="8539606" y="3610102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539606" y="3610102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525319" y="3959288"/>
            <a:ext cx="307975" cy="284480"/>
            <a:chOff x="8525319" y="3959288"/>
            <a:chExt cx="307975" cy="284480"/>
          </a:xfrm>
        </p:grpSpPr>
        <p:sp>
          <p:nvSpPr>
            <p:cNvPr id="30" name="object 30"/>
            <p:cNvSpPr/>
            <p:nvPr/>
          </p:nvSpPr>
          <p:spPr>
            <a:xfrm>
              <a:off x="8539606" y="3973576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39606" y="3973576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8385619" y="4310824"/>
            <a:ext cx="930275" cy="287020"/>
            <a:chOff x="8385619" y="4310824"/>
            <a:chExt cx="930275" cy="287020"/>
          </a:xfrm>
        </p:grpSpPr>
        <p:sp>
          <p:nvSpPr>
            <p:cNvPr id="33" name="object 33"/>
            <p:cNvSpPr/>
            <p:nvPr/>
          </p:nvSpPr>
          <p:spPr>
            <a:xfrm>
              <a:off x="8399906" y="4331842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59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539606" y="4325111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8385619" y="4659947"/>
            <a:ext cx="930275" cy="287020"/>
            <a:chOff x="8385619" y="4659947"/>
            <a:chExt cx="930275" cy="287020"/>
          </a:xfrm>
        </p:grpSpPr>
        <p:sp>
          <p:nvSpPr>
            <p:cNvPr id="36" name="object 36"/>
            <p:cNvSpPr/>
            <p:nvPr/>
          </p:nvSpPr>
          <p:spPr>
            <a:xfrm>
              <a:off x="8399906" y="4680965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59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539606" y="4674234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8525319" y="5065966"/>
            <a:ext cx="307975" cy="284480"/>
            <a:chOff x="8525319" y="5065966"/>
            <a:chExt cx="307975" cy="284480"/>
          </a:xfrm>
        </p:grpSpPr>
        <p:sp>
          <p:nvSpPr>
            <p:cNvPr id="39" name="object 39"/>
            <p:cNvSpPr/>
            <p:nvPr/>
          </p:nvSpPr>
          <p:spPr>
            <a:xfrm>
              <a:off x="8539606" y="5080253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539606" y="5080253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8387143" y="5416740"/>
            <a:ext cx="930275" cy="287020"/>
            <a:chOff x="8387143" y="5416740"/>
            <a:chExt cx="930275" cy="287020"/>
          </a:xfrm>
        </p:grpSpPr>
        <p:sp>
          <p:nvSpPr>
            <p:cNvPr id="42" name="object 42"/>
            <p:cNvSpPr/>
            <p:nvPr/>
          </p:nvSpPr>
          <p:spPr>
            <a:xfrm>
              <a:off x="8401431" y="5437759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34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41131" y="5431028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8547036" y="5812713"/>
            <a:ext cx="307975" cy="284480"/>
            <a:chOff x="8547036" y="5812713"/>
            <a:chExt cx="307975" cy="284480"/>
          </a:xfrm>
        </p:grpSpPr>
        <p:sp>
          <p:nvSpPr>
            <p:cNvPr id="45" name="object 45"/>
            <p:cNvSpPr/>
            <p:nvPr/>
          </p:nvSpPr>
          <p:spPr>
            <a:xfrm>
              <a:off x="8561323" y="5827001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46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561323" y="5827001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46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8385619" y="6176200"/>
            <a:ext cx="930275" cy="605155"/>
            <a:chOff x="8399906" y="6190488"/>
            <a:chExt cx="901700" cy="576148"/>
          </a:xfrm>
        </p:grpSpPr>
        <p:sp>
          <p:nvSpPr>
            <p:cNvPr id="48" name="object 48"/>
            <p:cNvSpPr/>
            <p:nvPr/>
          </p:nvSpPr>
          <p:spPr>
            <a:xfrm>
              <a:off x="8561323" y="6190488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44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561323" y="6190488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44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99906" y="6515176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59">
                  <a:moveTo>
                    <a:pt x="0" y="0"/>
                  </a:moveTo>
                  <a:lnTo>
                    <a:pt x="152400" y="251396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539606" y="6508419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1" y="-62357"/>
            <a:ext cx="1048766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38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2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5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600" u="none" spc="-1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30" dirty="0">
                <a:solidFill>
                  <a:srgbClr val="006600"/>
                </a:solidFill>
                <a:latin typeface="Arial"/>
                <a:cs typeface="Arial"/>
              </a:rPr>
              <a:t>for</a:t>
            </a:r>
            <a:r>
              <a:rPr sz="6600" u="none" spc="-1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dirty="0">
                <a:solidFill>
                  <a:srgbClr val="006600"/>
                </a:solidFill>
                <a:latin typeface="Arial"/>
                <a:cs typeface="Arial"/>
              </a:rPr>
              <a:t>Parity</a:t>
            </a:r>
            <a:r>
              <a:rPr sz="6600" u="none" spc="-1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15" dirty="0">
                <a:solidFill>
                  <a:srgbClr val="006600"/>
                </a:solidFill>
                <a:latin typeface="Arial"/>
                <a:cs typeface="Arial"/>
              </a:rPr>
              <a:t>Check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7143750" cy="19837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Encoding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Decoding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Decoding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Parity</a:t>
            </a:r>
            <a:r>
              <a:rPr spc="-55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702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simplest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Control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Detection.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Error,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only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one-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additional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added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make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number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1’s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(even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parity)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odd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(odd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parity).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parity: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Total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1’s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even.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Odd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parity: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Total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1’s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odd.</a:t>
            </a:r>
            <a:endParaRPr sz="24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k)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Check,</a:t>
            </a:r>
            <a:r>
              <a:rPr sz="2400" b="1" spc="1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k+1,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means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add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one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(Even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or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Odd).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50" dirty="0">
                <a:solidFill>
                  <a:srgbClr val="6F2F9F"/>
                </a:solidFill>
                <a:latin typeface="Calibri"/>
                <a:cs typeface="Calibri"/>
              </a:rPr>
              <a:t>P,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 P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………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18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{This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XOR}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Odd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50" dirty="0">
                <a:solidFill>
                  <a:srgbClr val="6F2F9F"/>
                </a:solidFill>
                <a:latin typeface="Calibri"/>
                <a:cs typeface="Calibri"/>
              </a:rPr>
              <a:t>P,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 P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18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………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18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{This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XOR}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P]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Parity</a:t>
            </a:r>
            <a:r>
              <a:rPr spc="-80" dirty="0"/>
              <a:t> </a:t>
            </a:r>
            <a:r>
              <a:rPr dirty="0"/>
              <a:t>Check</a:t>
            </a:r>
            <a:r>
              <a:rPr spc="-4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10" dirty="0"/>
              <a:t>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258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(5,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codewords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corresponding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[1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1]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[1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0]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(5,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4)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(n,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 r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–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5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–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18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r>
              <a:rPr sz="18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{Sum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means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XOR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Operation}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Case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I: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So,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2,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3,</a:t>
            </a:r>
            <a:r>
              <a:rPr sz="18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4,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P]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[1,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1]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Case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II: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So,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18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2,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3,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4,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P]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[1,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0]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Decoding</a:t>
            </a:r>
            <a:r>
              <a:rPr spc="-7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Parity</a:t>
            </a:r>
            <a:r>
              <a:rPr spc="-85" dirty="0"/>
              <a:t> </a:t>
            </a:r>
            <a:r>
              <a:rPr spc="-2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512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stage,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along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V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determine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whether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codeword,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V.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………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{This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XOR}</a:t>
            </a:r>
            <a:endParaRPr sz="24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"/>
              <a:tabLst>
                <a:tab pos="469900" algn="l"/>
                <a:tab pos="1024255" algn="l"/>
                <a:tab pos="1769745" algn="l"/>
                <a:tab pos="2655570" algn="l"/>
                <a:tab pos="3634104" algn="l"/>
                <a:tab pos="3959860" algn="l"/>
                <a:tab pos="4956810" algn="l"/>
                <a:tab pos="5420360" algn="l"/>
                <a:tab pos="5803900" algn="l"/>
                <a:tab pos="7304405" algn="l"/>
                <a:tab pos="8131809" algn="l"/>
                <a:tab pos="8474710" algn="l"/>
                <a:tab pos="8935085" algn="l"/>
                <a:tab pos="9716770" algn="l"/>
                <a:tab pos="10100945" algn="l"/>
                <a:tab pos="1066927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should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0;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otherwise,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there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received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codeword.</a:t>
            </a:r>
            <a:endParaRPr sz="2400">
              <a:latin typeface="Calibri"/>
              <a:cs typeface="Calibri"/>
            </a:endParaRPr>
          </a:p>
          <a:p>
            <a:pPr marL="469900" marR="6350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900" algn="l"/>
                <a:tab pos="1029335" algn="l"/>
                <a:tab pos="1711960" algn="l"/>
                <a:tab pos="2600325" algn="l"/>
                <a:tab pos="3583940" algn="l"/>
                <a:tab pos="3914140" algn="l"/>
                <a:tab pos="4914265" algn="l"/>
                <a:tab pos="5382260" algn="l"/>
                <a:tab pos="5770880" algn="l"/>
                <a:tab pos="7275195" algn="l"/>
                <a:tab pos="8107045" algn="l"/>
                <a:tab pos="8455025" algn="l"/>
                <a:tab pos="8919845" algn="l"/>
                <a:tab pos="9705975" algn="l"/>
                <a:tab pos="10094595" algn="l"/>
                <a:tab pos="1066800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Odd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should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1;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otherwise,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there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received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Parity</a:t>
            </a:r>
            <a:r>
              <a:rPr spc="-80" dirty="0"/>
              <a:t> </a:t>
            </a:r>
            <a:r>
              <a:rPr dirty="0"/>
              <a:t>Check</a:t>
            </a:r>
            <a:r>
              <a:rPr spc="-4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10" dirty="0"/>
              <a:t>Decoding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575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(8,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7)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determine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whether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2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[10110110]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[01101001]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failures.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(8,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7)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(n,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 r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–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8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–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7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5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6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7</a:t>
            </a:r>
            <a:r>
              <a:rPr sz="18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8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{Sum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means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XOR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Operation}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Case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I: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927100" marR="6985" lvl="1" indent="-457200">
              <a:lnSpc>
                <a:spcPct val="100000"/>
              </a:lnSpc>
              <a:buFont typeface="Wingdings"/>
              <a:buChar char=""/>
              <a:tabLst>
                <a:tab pos="92710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1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1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1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1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1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but</a:t>
            </a:r>
            <a:r>
              <a:rPr sz="2400" b="1" spc="1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here</a:t>
            </a:r>
            <a:r>
              <a:rPr sz="2400" b="1" spc="1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we</a:t>
            </a:r>
            <a:r>
              <a:rPr sz="2400" b="1" spc="2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have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Failure,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1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received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is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incorrect.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Case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II: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received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correct.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690" y="-62357"/>
            <a:ext cx="1069276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40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5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40" dirty="0">
                <a:solidFill>
                  <a:srgbClr val="006600"/>
                </a:solidFill>
                <a:latin typeface="Arial"/>
                <a:cs typeface="Arial"/>
              </a:rPr>
              <a:t>for</a:t>
            </a:r>
            <a:r>
              <a:rPr sz="6600" u="none" spc="-2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250" dirty="0">
                <a:solidFill>
                  <a:srgbClr val="006600"/>
                </a:solidFill>
                <a:latin typeface="Arial"/>
                <a:cs typeface="Arial"/>
              </a:rPr>
              <a:t>Product</a:t>
            </a:r>
            <a:r>
              <a:rPr sz="6600" u="none" spc="-2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3380" cy="19837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Basics</a:t>
            </a:r>
            <a:r>
              <a:rPr sz="3200" b="1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Block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for</a:t>
            </a:r>
            <a:r>
              <a:rPr sz="3200" b="1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Product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cannot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errors;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only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errors.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product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both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errors.</a:t>
            </a:r>
            <a:endParaRPr sz="2400">
              <a:latin typeface="Calibri"/>
              <a:cs typeface="Calibri"/>
            </a:endParaRPr>
          </a:p>
          <a:p>
            <a:pPr marL="520065" marR="5080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Product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1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two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parity-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matrices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combined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form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two-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dimensional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structure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allows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both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detection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correction.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42" y="-6114"/>
            <a:ext cx="11771630" cy="13430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/>
              <a:t>Example</a:t>
            </a:r>
            <a:r>
              <a:rPr spc="-7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Product</a:t>
            </a:r>
            <a:r>
              <a:rPr spc="-70" dirty="0"/>
              <a:t> </a:t>
            </a:r>
            <a:r>
              <a:rPr spc="-20" dirty="0"/>
              <a:t>Code</a:t>
            </a:r>
            <a:r>
              <a:rPr lang="en-US" spc="-20" dirty="0"/>
              <a:t> (Encoding)</a:t>
            </a:r>
            <a:endParaRPr spc="-20" dirty="0"/>
          </a:p>
          <a:p>
            <a:pPr marL="484505" marR="5080" indent="-457200">
              <a:lnSpc>
                <a:spcPct val="100000"/>
              </a:lnSpc>
              <a:spcBef>
                <a:spcPts val="330"/>
              </a:spcBef>
              <a:buFont typeface="Wingdings"/>
              <a:buChar char=""/>
              <a:tabLst>
                <a:tab pos="484505" algn="l"/>
              </a:tabLst>
            </a:pPr>
            <a:r>
              <a:rPr sz="2400" u="none" dirty="0">
                <a:solidFill>
                  <a:srgbClr val="6F2F9F"/>
                </a:solidFill>
              </a:rPr>
              <a:t>Example</a:t>
            </a:r>
            <a:r>
              <a:rPr sz="2400" u="none" spc="2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1: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Given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the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Information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I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=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[1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spc="-25" dirty="0">
                <a:solidFill>
                  <a:srgbClr val="6F2F9F"/>
                </a:solidFill>
              </a:rPr>
              <a:t>1], </a:t>
            </a:r>
            <a:r>
              <a:rPr sz="2400" u="none" dirty="0">
                <a:solidFill>
                  <a:srgbClr val="6F2F9F"/>
                </a:solidFill>
              </a:rPr>
              <a:t>Structure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the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Block</a:t>
            </a:r>
            <a:r>
              <a:rPr sz="2400" u="none" spc="-5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for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Product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(35,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spc="-20" dirty="0">
                <a:solidFill>
                  <a:srgbClr val="6F2F9F"/>
                </a:solidFill>
              </a:rPr>
              <a:t>24).</a:t>
            </a:r>
            <a:endParaRPr sz="2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6957"/>
              </p:ext>
            </p:extLst>
          </p:nvPr>
        </p:nvGraphicFramePr>
        <p:xfrm>
          <a:off x="365125" y="1378077"/>
          <a:ext cx="11423015" cy="296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45972" y="4637608"/>
            <a:ext cx="11142168" cy="2241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2400" b="1" spc="-35" dirty="0">
                <a:solidFill>
                  <a:srgbClr val="006FC0"/>
                </a:solidFill>
                <a:latin typeface="Calibri"/>
                <a:cs typeface="Calibri"/>
              </a:rPr>
              <a:t>Final Codeword C = [11011 01100 10001 00000 11101 10010 01001]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Total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7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rows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5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columns,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35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bits,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24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So,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given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(35,24)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happening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per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(5,4)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(7,6)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(35,24)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used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detect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correct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one-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error.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71D09-B819-4C3D-B08A-DA8C07EDD0AF}"/>
              </a:ext>
            </a:extLst>
          </p:cNvPr>
          <p:cNvSpPr/>
          <p:nvPr/>
        </p:nvSpPr>
        <p:spPr>
          <a:xfrm>
            <a:off x="5688332" y="631716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5BAA0D-D968-4725-81CE-0C905D525C7B}"/>
              </a:ext>
            </a:extLst>
          </p:cNvPr>
          <p:cNvSpPr/>
          <p:nvPr/>
        </p:nvSpPr>
        <p:spPr>
          <a:xfrm>
            <a:off x="6705600" y="630183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2F55F2-69A0-4EFB-81F0-49EA469D7F3E}"/>
              </a:ext>
            </a:extLst>
          </p:cNvPr>
          <p:cNvSpPr/>
          <p:nvPr/>
        </p:nvSpPr>
        <p:spPr>
          <a:xfrm>
            <a:off x="7696200" y="622191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E7F15-0637-4A11-AE0C-C59E4C6F31AC}"/>
              </a:ext>
            </a:extLst>
          </p:cNvPr>
          <p:cNvSpPr/>
          <p:nvPr/>
        </p:nvSpPr>
        <p:spPr>
          <a:xfrm>
            <a:off x="1981200" y="1800225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26AB7B-FA5B-43C7-860B-74685A8636E3}"/>
              </a:ext>
            </a:extLst>
          </p:cNvPr>
          <p:cNvSpPr/>
          <p:nvPr/>
        </p:nvSpPr>
        <p:spPr>
          <a:xfrm>
            <a:off x="3571875" y="1800225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330ADD-F893-490C-9D22-197F9F4D2021}"/>
              </a:ext>
            </a:extLst>
          </p:cNvPr>
          <p:cNvSpPr/>
          <p:nvPr/>
        </p:nvSpPr>
        <p:spPr>
          <a:xfrm>
            <a:off x="5195887" y="1800225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2E8FFE-DD6C-4C25-9488-7994F57708D6}"/>
              </a:ext>
            </a:extLst>
          </p:cNvPr>
          <p:cNvSpPr/>
          <p:nvPr/>
        </p:nvSpPr>
        <p:spPr>
          <a:xfrm>
            <a:off x="6819900" y="1800225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7994D7-B749-4ECD-83A3-EC4BD905CEE9}"/>
              </a:ext>
            </a:extLst>
          </p:cNvPr>
          <p:cNvSpPr/>
          <p:nvPr/>
        </p:nvSpPr>
        <p:spPr>
          <a:xfrm>
            <a:off x="1981200" y="216524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854956-DD25-45D6-AD07-1765EB30C83D}"/>
              </a:ext>
            </a:extLst>
          </p:cNvPr>
          <p:cNvSpPr/>
          <p:nvPr/>
        </p:nvSpPr>
        <p:spPr>
          <a:xfrm>
            <a:off x="3571875" y="216524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1FF8A3-122B-415E-BF2B-548CE30F8889}"/>
              </a:ext>
            </a:extLst>
          </p:cNvPr>
          <p:cNvSpPr/>
          <p:nvPr/>
        </p:nvSpPr>
        <p:spPr>
          <a:xfrm>
            <a:off x="5195887" y="216524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BFD687-D03B-4D40-A663-922E65B808E1}"/>
              </a:ext>
            </a:extLst>
          </p:cNvPr>
          <p:cNvSpPr/>
          <p:nvPr/>
        </p:nvSpPr>
        <p:spPr>
          <a:xfrm>
            <a:off x="6819900" y="216524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585931-F31D-4D39-A489-AF5E7A8CC96C}"/>
              </a:ext>
            </a:extLst>
          </p:cNvPr>
          <p:cNvSpPr/>
          <p:nvPr/>
        </p:nvSpPr>
        <p:spPr>
          <a:xfrm>
            <a:off x="1981200" y="2530257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4295A5-9623-47B1-8F82-8E24081A04E9}"/>
              </a:ext>
            </a:extLst>
          </p:cNvPr>
          <p:cNvSpPr/>
          <p:nvPr/>
        </p:nvSpPr>
        <p:spPr>
          <a:xfrm>
            <a:off x="3571875" y="2530257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0E1B54-4AF1-42B0-B437-CB389DF45368}"/>
              </a:ext>
            </a:extLst>
          </p:cNvPr>
          <p:cNvSpPr/>
          <p:nvPr/>
        </p:nvSpPr>
        <p:spPr>
          <a:xfrm>
            <a:off x="5195887" y="2530257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3946DF-DE45-4072-AF66-632F7758B4CB}"/>
              </a:ext>
            </a:extLst>
          </p:cNvPr>
          <p:cNvSpPr/>
          <p:nvPr/>
        </p:nvSpPr>
        <p:spPr>
          <a:xfrm>
            <a:off x="6819900" y="2530257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584E56-19E2-43D0-BDDF-381E82DC85FF}"/>
              </a:ext>
            </a:extLst>
          </p:cNvPr>
          <p:cNvSpPr/>
          <p:nvPr/>
        </p:nvSpPr>
        <p:spPr>
          <a:xfrm>
            <a:off x="1981200" y="288630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4B2C8A-CC10-4CFF-B361-A9A710E52CE5}"/>
              </a:ext>
            </a:extLst>
          </p:cNvPr>
          <p:cNvSpPr/>
          <p:nvPr/>
        </p:nvSpPr>
        <p:spPr>
          <a:xfrm>
            <a:off x="3571875" y="287622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57E2EA-A46C-4C66-8863-C0C0BB1B0B4D}"/>
              </a:ext>
            </a:extLst>
          </p:cNvPr>
          <p:cNvSpPr/>
          <p:nvPr/>
        </p:nvSpPr>
        <p:spPr>
          <a:xfrm>
            <a:off x="5195887" y="287622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893B70-1216-4E4D-8FD2-F06B46866C28}"/>
              </a:ext>
            </a:extLst>
          </p:cNvPr>
          <p:cNvSpPr/>
          <p:nvPr/>
        </p:nvSpPr>
        <p:spPr>
          <a:xfrm>
            <a:off x="6819900" y="287622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1EA81F-864F-4EF2-8A5E-1E979AF30CFE}"/>
              </a:ext>
            </a:extLst>
          </p:cNvPr>
          <p:cNvSpPr/>
          <p:nvPr/>
        </p:nvSpPr>
        <p:spPr>
          <a:xfrm>
            <a:off x="1981200" y="326359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159682-A943-48B4-9F4E-F8D48EDE8FA2}"/>
              </a:ext>
            </a:extLst>
          </p:cNvPr>
          <p:cNvSpPr/>
          <p:nvPr/>
        </p:nvSpPr>
        <p:spPr>
          <a:xfrm>
            <a:off x="3571875" y="326359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C106AA-0263-429F-A105-E754FE9932B8}"/>
              </a:ext>
            </a:extLst>
          </p:cNvPr>
          <p:cNvSpPr/>
          <p:nvPr/>
        </p:nvSpPr>
        <p:spPr>
          <a:xfrm>
            <a:off x="5195887" y="326359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F67F09-C17B-49B7-8605-18FA9EC6E0DD}"/>
              </a:ext>
            </a:extLst>
          </p:cNvPr>
          <p:cNvSpPr/>
          <p:nvPr/>
        </p:nvSpPr>
        <p:spPr>
          <a:xfrm>
            <a:off x="6819900" y="326359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699209-DE62-4D5E-BCA3-E00D81A7E662}"/>
              </a:ext>
            </a:extLst>
          </p:cNvPr>
          <p:cNvSpPr/>
          <p:nvPr/>
        </p:nvSpPr>
        <p:spPr>
          <a:xfrm>
            <a:off x="1981200" y="363014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65C470-293E-4D15-A0E8-DC95092E8BFD}"/>
              </a:ext>
            </a:extLst>
          </p:cNvPr>
          <p:cNvSpPr/>
          <p:nvPr/>
        </p:nvSpPr>
        <p:spPr>
          <a:xfrm>
            <a:off x="3571875" y="363014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0DB400-1FFA-4A43-B64B-BF15B6C1458D}"/>
              </a:ext>
            </a:extLst>
          </p:cNvPr>
          <p:cNvSpPr/>
          <p:nvPr/>
        </p:nvSpPr>
        <p:spPr>
          <a:xfrm>
            <a:off x="5195887" y="363014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A04BA2-A178-4B12-9261-7A10261D031D}"/>
              </a:ext>
            </a:extLst>
          </p:cNvPr>
          <p:cNvSpPr/>
          <p:nvPr/>
        </p:nvSpPr>
        <p:spPr>
          <a:xfrm>
            <a:off x="6819900" y="363014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B7863B-1C28-4516-9030-47DABDAFA7C8}"/>
              </a:ext>
            </a:extLst>
          </p:cNvPr>
          <p:cNvSpPr/>
          <p:nvPr/>
        </p:nvSpPr>
        <p:spPr>
          <a:xfrm>
            <a:off x="1952625" y="1800225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2BBFBF-9977-445A-88E3-B86547E46801}"/>
              </a:ext>
            </a:extLst>
          </p:cNvPr>
          <p:cNvSpPr/>
          <p:nvPr/>
        </p:nvSpPr>
        <p:spPr>
          <a:xfrm>
            <a:off x="3543300" y="1800225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AEEC2C-8F85-415C-A974-6C3DE3683B73}"/>
              </a:ext>
            </a:extLst>
          </p:cNvPr>
          <p:cNvSpPr/>
          <p:nvPr/>
        </p:nvSpPr>
        <p:spPr>
          <a:xfrm>
            <a:off x="5167312" y="1800225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10B392-FD0B-47DF-A177-F01A369EF2FE}"/>
              </a:ext>
            </a:extLst>
          </p:cNvPr>
          <p:cNvSpPr/>
          <p:nvPr/>
        </p:nvSpPr>
        <p:spPr>
          <a:xfrm>
            <a:off x="6791325" y="1800225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9EB8FB-DEBD-4655-917D-3CA8BF761BC2}"/>
              </a:ext>
            </a:extLst>
          </p:cNvPr>
          <p:cNvSpPr/>
          <p:nvPr/>
        </p:nvSpPr>
        <p:spPr>
          <a:xfrm>
            <a:off x="1952625" y="216524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37230B-0329-4DD6-A66E-E2B75468A89C}"/>
              </a:ext>
            </a:extLst>
          </p:cNvPr>
          <p:cNvSpPr/>
          <p:nvPr/>
        </p:nvSpPr>
        <p:spPr>
          <a:xfrm>
            <a:off x="3543300" y="216524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78E795-9805-44CE-827A-382EAB145EF8}"/>
              </a:ext>
            </a:extLst>
          </p:cNvPr>
          <p:cNvSpPr/>
          <p:nvPr/>
        </p:nvSpPr>
        <p:spPr>
          <a:xfrm>
            <a:off x="5167312" y="216524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3F434A-F6B5-43D4-BBEE-64DD193E52BD}"/>
              </a:ext>
            </a:extLst>
          </p:cNvPr>
          <p:cNvSpPr/>
          <p:nvPr/>
        </p:nvSpPr>
        <p:spPr>
          <a:xfrm>
            <a:off x="6791325" y="2165241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3574A6-10CA-4B2E-BEA7-8747AB5804B0}"/>
              </a:ext>
            </a:extLst>
          </p:cNvPr>
          <p:cNvSpPr/>
          <p:nvPr/>
        </p:nvSpPr>
        <p:spPr>
          <a:xfrm>
            <a:off x="1952625" y="2530257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175EE0-3A0F-46E7-9D93-3BDE2A381E6A}"/>
              </a:ext>
            </a:extLst>
          </p:cNvPr>
          <p:cNvSpPr/>
          <p:nvPr/>
        </p:nvSpPr>
        <p:spPr>
          <a:xfrm>
            <a:off x="3543300" y="2530257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714025-DDC4-4651-AAE9-FCD3B061CFA3}"/>
              </a:ext>
            </a:extLst>
          </p:cNvPr>
          <p:cNvSpPr/>
          <p:nvPr/>
        </p:nvSpPr>
        <p:spPr>
          <a:xfrm>
            <a:off x="5167312" y="2530257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E661287-CDCD-4C99-9B35-56D1AD0342E0}"/>
              </a:ext>
            </a:extLst>
          </p:cNvPr>
          <p:cNvSpPr/>
          <p:nvPr/>
        </p:nvSpPr>
        <p:spPr>
          <a:xfrm>
            <a:off x="6791325" y="2530257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5145E7A-D41B-4E33-87A8-8F2746563AEB}"/>
              </a:ext>
            </a:extLst>
          </p:cNvPr>
          <p:cNvSpPr/>
          <p:nvPr/>
        </p:nvSpPr>
        <p:spPr>
          <a:xfrm>
            <a:off x="3543300" y="288630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8B437CF-1E1A-4DF4-8618-792CB5F5C2CC}"/>
              </a:ext>
            </a:extLst>
          </p:cNvPr>
          <p:cNvSpPr/>
          <p:nvPr/>
        </p:nvSpPr>
        <p:spPr>
          <a:xfrm>
            <a:off x="5167312" y="288630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12A3D88-A2C6-4F8A-94A5-DB99D3A2476B}"/>
              </a:ext>
            </a:extLst>
          </p:cNvPr>
          <p:cNvSpPr/>
          <p:nvPr/>
        </p:nvSpPr>
        <p:spPr>
          <a:xfrm>
            <a:off x="6791325" y="288630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FBD37AA-E5A1-4FA3-A55A-21566A6A50AB}"/>
              </a:ext>
            </a:extLst>
          </p:cNvPr>
          <p:cNvSpPr/>
          <p:nvPr/>
        </p:nvSpPr>
        <p:spPr>
          <a:xfrm>
            <a:off x="8444862" y="1746753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86A2FD-4B0F-49AF-82F5-C30B2BD7612E}"/>
              </a:ext>
            </a:extLst>
          </p:cNvPr>
          <p:cNvSpPr/>
          <p:nvPr/>
        </p:nvSpPr>
        <p:spPr>
          <a:xfrm>
            <a:off x="8444862" y="2131352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33EDBC-60E6-4E3C-AB85-5396634BB6C0}"/>
              </a:ext>
            </a:extLst>
          </p:cNvPr>
          <p:cNvSpPr/>
          <p:nvPr/>
        </p:nvSpPr>
        <p:spPr>
          <a:xfrm>
            <a:off x="8453438" y="2515951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4F5C405-D4F9-434B-8469-688C6ABBCF81}"/>
              </a:ext>
            </a:extLst>
          </p:cNvPr>
          <p:cNvSpPr/>
          <p:nvPr/>
        </p:nvSpPr>
        <p:spPr>
          <a:xfrm>
            <a:off x="8462963" y="2849081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C5CDE29-9371-434A-8EDB-A65D1C144B3E}"/>
              </a:ext>
            </a:extLst>
          </p:cNvPr>
          <p:cNvSpPr/>
          <p:nvPr/>
        </p:nvSpPr>
        <p:spPr>
          <a:xfrm>
            <a:off x="8453438" y="3239327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3FD7D3-1974-4185-A130-FA842B0BB6C7}"/>
              </a:ext>
            </a:extLst>
          </p:cNvPr>
          <p:cNvSpPr/>
          <p:nvPr/>
        </p:nvSpPr>
        <p:spPr>
          <a:xfrm>
            <a:off x="8453438" y="3610278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076F4B-6013-41E2-AB35-EA0DF841DD21}"/>
              </a:ext>
            </a:extLst>
          </p:cNvPr>
          <p:cNvSpPr/>
          <p:nvPr/>
        </p:nvSpPr>
        <p:spPr>
          <a:xfrm>
            <a:off x="8462963" y="3967118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426896-20DE-4DA6-84C3-01BEF7E9B3A9}"/>
              </a:ext>
            </a:extLst>
          </p:cNvPr>
          <p:cNvSpPr/>
          <p:nvPr/>
        </p:nvSpPr>
        <p:spPr>
          <a:xfrm>
            <a:off x="1952626" y="3967117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355FE88-0ED3-46FE-AF25-5C70785C880B}"/>
              </a:ext>
            </a:extLst>
          </p:cNvPr>
          <p:cNvSpPr/>
          <p:nvPr/>
        </p:nvSpPr>
        <p:spPr>
          <a:xfrm>
            <a:off x="3581400" y="3967116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D82B5DC-B88C-46B6-8AB6-7CE213580974}"/>
              </a:ext>
            </a:extLst>
          </p:cNvPr>
          <p:cNvSpPr/>
          <p:nvPr/>
        </p:nvSpPr>
        <p:spPr>
          <a:xfrm>
            <a:off x="5207794" y="3967115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FDBAA61-6A02-4E60-8390-D9A1076D96CF}"/>
              </a:ext>
            </a:extLst>
          </p:cNvPr>
          <p:cNvSpPr/>
          <p:nvPr/>
        </p:nvSpPr>
        <p:spPr>
          <a:xfrm>
            <a:off x="6819900" y="3967114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15E1C82-F2BF-4908-8E44-90925875CE0F}"/>
              </a:ext>
            </a:extLst>
          </p:cNvPr>
          <p:cNvSpPr/>
          <p:nvPr/>
        </p:nvSpPr>
        <p:spPr>
          <a:xfrm>
            <a:off x="8713468" y="612666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20FED69-20E8-4657-967D-473E5EDD83FA}"/>
              </a:ext>
            </a:extLst>
          </p:cNvPr>
          <p:cNvSpPr/>
          <p:nvPr/>
        </p:nvSpPr>
        <p:spPr>
          <a:xfrm>
            <a:off x="9731693" y="612465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878836B-C945-4858-8A65-0C72288BCB52}"/>
              </a:ext>
            </a:extLst>
          </p:cNvPr>
          <p:cNvSpPr/>
          <p:nvPr/>
        </p:nvSpPr>
        <p:spPr>
          <a:xfrm>
            <a:off x="10749918" y="622191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78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42" y="-6114"/>
            <a:ext cx="11771630" cy="17081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/>
              <a:t>Example</a:t>
            </a:r>
            <a:r>
              <a:rPr spc="-7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Product</a:t>
            </a:r>
            <a:r>
              <a:rPr spc="-70" dirty="0"/>
              <a:t> </a:t>
            </a:r>
            <a:r>
              <a:rPr spc="-20" dirty="0"/>
              <a:t>Code</a:t>
            </a:r>
            <a:r>
              <a:rPr lang="en-US" spc="-20" dirty="0"/>
              <a:t> (Decoding: 1-Bit Error)</a:t>
            </a:r>
            <a:endParaRPr spc="-20" dirty="0"/>
          </a:p>
          <a:p>
            <a:pPr marL="484505" marR="5080" indent="-457200">
              <a:lnSpc>
                <a:spcPct val="100000"/>
              </a:lnSpc>
              <a:spcBef>
                <a:spcPts val="330"/>
              </a:spcBef>
              <a:buFont typeface="Wingdings"/>
              <a:buChar char=""/>
              <a:tabLst>
                <a:tab pos="484505" algn="l"/>
              </a:tabLst>
            </a:pPr>
            <a:r>
              <a:rPr sz="2400" u="none" dirty="0">
                <a:solidFill>
                  <a:srgbClr val="6F2F9F"/>
                </a:solidFill>
              </a:rPr>
              <a:t>Example</a:t>
            </a:r>
            <a:r>
              <a:rPr sz="2400" u="none" spc="260" dirty="0">
                <a:solidFill>
                  <a:srgbClr val="6F2F9F"/>
                </a:solidFill>
              </a:rPr>
              <a:t> </a:t>
            </a:r>
            <a:r>
              <a:rPr lang="en-US" sz="2400" u="none" spc="260" dirty="0">
                <a:solidFill>
                  <a:srgbClr val="6F2F9F"/>
                </a:solidFill>
              </a:rPr>
              <a:t>2</a:t>
            </a:r>
            <a:r>
              <a:rPr sz="2400" u="none" dirty="0">
                <a:solidFill>
                  <a:srgbClr val="6F2F9F"/>
                </a:solidFill>
              </a:rPr>
              <a:t>: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Given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the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lang="en-US" sz="2400" u="none" dirty="0">
                <a:solidFill>
                  <a:srgbClr val="6F2F9F"/>
                </a:solidFill>
              </a:rPr>
              <a:t>Codeword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lang="en-US" sz="2400" u="none" dirty="0">
                <a:solidFill>
                  <a:srgbClr val="6F2F9F"/>
                </a:solidFill>
              </a:rPr>
              <a:t>C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=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[1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lang="en-US" sz="2400" u="none" dirty="0">
                <a:solidFill>
                  <a:srgbClr val="6F2F9F"/>
                </a:solidFill>
              </a:rPr>
              <a:t> 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lang="en-US" sz="2400" u="none" dirty="0">
                <a:solidFill>
                  <a:srgbClr val="6F2F9F"/>
                </a:solidFill>
              </a:rPr>
              <a:t> 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lang="en-US" sz="2400" u="none" dirty="0">
                <a:solidFill>
                  <a:srgbClr val="6F2F9F"/>
                </a:solidFill>
              </a:rPr>
              <a:t> 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lang="en-US" sz="2400" u="none" spc="254" dirty="0">
                <a:solidFill>
                  <a:srgbClr val="FF0000"/>
                </a:solidFill>
              </a:rPr>
              <a:t>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lang="en-US" sz="2400" u="none" dirty="0">
                <a:solidFill>
                  <a:srgbClr val="6F2F9F"/>
                </a:solidFill>
              </a:rPr>
              <a:t> 0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lang="en-US" sz="2400" u="none" dirty="0">
                <a:solidFill>
                  <a:srgbClr val="6F2F9F"/>
                </a:solidFill>
              </a:rPr>
              <a:t> 1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spc="-25" dirty="0">
                <a:solidFill>
                  <a:srgbClr val="6F2F9F"/>
                </a:solidFill>
              </a:rPr>
              <a:t>1</a:t>
            </a:r>
            <a:r>
              <a:rPr lang="en-US" sz="2400" u="none" spc="-25" dirty="0">
                <a:solidFill>
                  <a:srgbClr val="6F2F9F"/>
                </a:solidFill>
              </a:rPr>
              <a:t> 0 0 1 0 0 1</a:t>
            </a:r>
            <a:r>
              <a:rPr sz="2400" u="none" spc="-25" dirty="0">
                <a:solidFill>
                  <a:srgbClr val="6F2F9F"/>
                </a:solidFill>
              </a:rPr>
              <a:t>], </a:t>
            </a:r>
            <a:r>
              <a:rPr lang="en-US" sz="2400" u="none" spc="-25" dirty="0">
                <a:solidFill>
                  <a:srgbClr val="6F2F9F"/>
                </a:solidFill>
              </a:rPr>
              <a:t>s</a:t>
            </a:r>
            <a:r>
              <a:rPr sz="2400" u="none" dirty="0">
                <a:solidFill>
                  <a:srgbClr val="6F2F9F"/>
                </a:solidFill>
              </a:rPr>
              <a:t>tructure</a:t>
            </a:r>
            <a:r>
              <a:rPr lang="en-US" sz="2400" u="none" dirty="0">
                <a:solidFill>
                  <a:srgbClr val="6F2F9F"/>
                </a:solidFill>
              </a:rPr>
              <a:t>d by (35, 24)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Block</a:t>
            </a:r>
            <a:r>
              <a:rPr sz="2400" u="none" spc="-5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for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Product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sz="2400" u="none" spc="-20" dirty="0">
                <a:solidFill>
                  <a:srgbClr val="6F2F9F"/>
                </a:solidFill>
              </a:rPr>
              <a:t>.</a:t>
            </a:r>
            <a:r>
              <a:rPr lang="en-US" sz="2400" u="none" spc="-20" dirty="0">
                <a:solidFill>
                  <a:srgbClr val="6F2F9F"/>
                </a:solidFill>
              </a:rPr>
              <a:t> Detect and Correct the Error bit.</a:t>
            </a:r>
            <a:endParaRPr sz="2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114895"/>
              </p:ext>
            </p:extLst>
          </p:nvPr>
        </p:nvGraphicFramePr>
        <p:xfrm>
          <a:off x="365125" y="2057400"/>
          <a:ext cx="11423015" cy="296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EC6D4EDB-0AAD-4DFA-97BF-6D6BB9FB6AE2}"/>
              </a:ext>
            </a:extLst>
          </p:cNvPr>
          <p:cNvSpPr/>
          <p:nvPr/>
        </p:nvSpPr>
        <p:spPr>
          <a:xfrm>
            <a:off x="1981200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1153377-7688-487C-B71F-858C2DF5303A}"/>
              </a:ext>
            </a:extLst>
          </p:cNvPr>
          <p:cNvSpPr/>
          <p:nvPr/>
        </p:nvSpPr>
        <p:spPr>
          <a:xfrm>
            <a:off x="3571875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8A6DAC-E9B2-4DFB-810E-2BC2B7B02295}"/>
              </a:ext>
            </a:extLst>
          </p:cNvPr>
          <p:cNvSpPr/>
          <p:nvPr/>
        </p:nvSpPr>
        <p:spPr>
          <a:xfrm>
            <a:off x="5195887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333AE08-7CDD-44B6-9D1F-2BB902DA6945}"/>
              </a:ext>
            </a:extLst>
          </p:cNvPr>
          <p:cNvSpPr/>
          <p:nvPr/>
        </p:nvSpPr>
        <p:spPr>
          <a:xfrm>
            <a:off x="6819900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DA728A-307C-4862-8D51-B732493BE9CA}"/>
              </a:ext>
            </a:extLst>
          </p:cNvPr>
          <p:cNvSpPr/>
          <p:nvPr/>
        </p:nvSpPr>
        <p:spPr>
          <a:xfrm>
            <a:off x="1981200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0F1BE08-0FD0-4577-B72C-94AAD8386360}"/>
              </a:ext>
            </a:extLst>
          </p:cNvPr>
          <p:cNvSpPr/>
          <p:nvPr/>
        </p:nvSpPr>
        <p:spPr>
          <a:xfrm>
            <a:off x="3571875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825CE80-3557-4C88-BCA9-13FBC2CCDE6B}"/>
              </a:ext>
            </a:extLst>
          </p:cNvPr>
          <p:cNvSpPr/>
          <p:nvPr/>
        </p:nvSpPr>
        <p:spPr>
          <a:xfrm>
            <a:off x="5195887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1EC1704-BBA3-421F-891D-52982494E4C0}"/>
              </a:ext>
            </a:extLst>
          </p:cNvPr>
          <p:cNvSpPr/>
          <p:nvPr/>
        </p:nvSpPr>
        <p:spPr>
          <a:xfrm>
            <a:off x="6819900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3A587E8-6477-4C0C-8AAB-2AE42CDD4FFF}"/>
              </a:ext>
            </a:extLst>
          </p:cNvPr>
          <p:cNvSpPr/>
          <p:nvPr/>
        </p:nvSpPr>
        <p:spPr>
          <a:xfrm>
            <a:off x="1981200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3A108A2-CB9B-4298-BFC1-5B9FE4552BAD}"/>
              </a:ext>
            </a:extLst>
          </p:cNvPr>
          <p:cNvSpPr/>
          <p:nvPr/>
        </p:nvSpPr>
        <p:spPr>
          <a:xfrm>
            <a:off x="3571875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E9A6EF1-3CEC-431C-B100-C54D0BF81449}"/>
              </a:ext>
            </a:extLst>
          </p:cNvPr>
          <p:cNvSpPr/>
          <p:nvPr/>
        </p:nvSpPr>
        <p:spPr>
          <a:xfrm>
            <a:off x="5195887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C2060D7-8CEF-468E-94EC-97D8C6E37C68}"/>
              </a:ext>
            </a:extLst>
          </p:cNvPr>
          <p:cNvSpPr/>
          <p:nvPr/>
        </p:nvSpPr>
        <p:spPr>
          <a:xfrm>
            <a:off x="6819900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706533-26FA-4BFE-B098-76EA1B5294B4}"/>
              </a:ext>
            </a:extLst>
          </p:cNvPr>
          <p:cNvSpPr/>
          <p:nvPr/>
        </p:nvSpPr>
        <p:spPr>
          <a:xfrm>
            <a:off x="1981200" y="3565629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3827B03-FF37-4739-9FB5-6153907D0B2B}"/>
              </a:ext>
            </a:extLst>
          </p:cNvPr>
          <p:cNvSpPr/>
          <p:nvPr/>
        </p:nvSpPr>
        <p:spPr>
          <a:xfrm>
            <a:off x="3571875" y="355554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9AC0133-2110-40AE-9F08-0EF170F92EE0}"/>
              </a:ext>
            </a:extLst>
          </p:cNvPr>
          <p:cNvSpPr/>
          <p:nvPr/>
        </p:nvSpPr>
        <p:spPr>
          <a:xfrm>
            <a:off x="5195887" y="355554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50C893A-91DF-4257-B8EA-4FBA1FBCA62F}"/>
              </a:ext>
            </a:extLst>
          </p:cNvPr>
          <p:cNvSpPr/>
          <p:nvPr/>
        </p:nvSpPr>
        <p:spPr>
          <a:xfrm>
            <a:off x="6819900" y="355554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D1891F9-D858-44B6-BDC9-48D03F4C520C}"/>
              </a:ext>
            </a:extLst>
          </p:cNvPr>
          <p:cNvSpPr/>
          <p:nvPr/>
        </p:nvSpPr>
        <p:spPr>
          <a:xfrm>
            <a:off x="1981200" y="394291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6C865BF-7CAB-4E90-A114-02610E10B4AD}"/>
              </a:ext>
            </a:extLst>
          </p:cNvPr>
          <p:cNvSpPr/>
          <p:nvPr/>
        </p:nvSpPr>
        <p:spPr>
          <a:xfrm>
            <a:off x="3571875" y="394291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B7CF6FC-D59F-4C5A-BDF3-C32BA3C256D1}"/>
              </a:ext>
            </a:extLst>
          </p:cNvPr>
          <p:cNvSpPr/>
          <p:nvPr/>
        </p:nvSpPr>
        <p:spPr>
          <a:xfrm>
            <a:off x="5195887" y="394291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403BA45-2F16-4BBB-87E4-DB3706ECF102}"/>
              </a:ext>
            </a:extLst>
          </p:cNvPr>
          <p:cNvSpPr/>
          <p:nvPr/>
        </p:nvSpPr>
        <p:spPr>
          <a:xfrm>
            <a:off x="6819900" y="394291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4D46A2-C700-4CFE-8734-2528581338FB}"/>
              </a:ext>
            </a:extLst>
          </p:cNvPr>
          <p:cNvSpPr/>
          <p:nvPr/>
        </p:nvSpPr>
        <p:spPr>
          <a:xfrm>
            <a:off x="1981200" y="430946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0FDB16B-FDD4-461C-B515-FFF718AC41D0}"/>
              </a:ext>
            </a:extLst>
          </p:cNvPr>
          <p:cNvSpPr/>
          <p:nvPr/>
        </p:nvSpPr>
        <p:spPr>
          <a:xfrm>
            <a:off x="3571875" y="430946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F227DD3-C01E-44BC-80FE-0A178A83949D}"/>
              </a:ext>
            </a:extLst>
          </p:cNvPr>
          <p:cNvSpPr/>
          <p:nvPr/>
        </p:nvSpPr>
        <p:spPr>
          <a:xfrm>
            <a:off x="5195887" y="430946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47410B5-2DF4-4D6D-AD01-428B50A20807}"/>
              </a:ext>
            </a:extLst>
          </p:cNvPr>
          <p:cNvSpPr/>
          <p:nvPr/>
        </p:nvSpPr>
        <p:spPr>
          <a:xfrm>
            <a:off x="6819900" y="430946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146E2DD-912D-4A8C-BC03-24E1BCB5D1C2}"/>
              </a:ext>
            </a:extLst>
          </p:cNvPr>
          <p:cNvSpPr/>
          <p:nvPr/>
        </p:nvSpPr>
        <p:spPr>
          <a:xfrm>
            <a:off x="1952625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CA25139-D87F-4526-BA2C-6CD0E432A649}"/>
              </a:ext>
            </a:extLst>
          </p:cNvPr>
          <p:cNvSpPr/>
          <p:nvPr/>
        </p:nvSpPr>
        <p:spPr>
          <a:xfrm>
            <a:off x="3543300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90C933C-41B4-45C9-9661-6434FBCFF057}"/>
              </a:ext>
            </a:extLst>
          </p:cNvPr>
          <p:cNvSpPr/>
          <p:nvPr/>
        </p:nvSpPr>
        <p:spPr>
          <a:xfrm>
            <a:off x="5167312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D33C1B-9EF0-4AAF-A912-86150F86029D}"/>
              </a:ext>
            </a:extLst>
          </p:cNvPr>
          <p:cNvSpPr/>
          <p:nvPr/>
        </p:nvSpPr>
        <p:spPr>
          <a:xfrm>
            <a:off x="6791325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051FEC2-1074-438A-996E-B79EC921BEB6}"/>
              </a:ext>
            </a:extLst>
          </p:cNvPr>
          <p:cNvSpPr/>
          <p:nvPr/>
        </p:nvSpPr>
        <p:spPr>
          <a:xfrm>
            <a:off x="1952625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075E863-E510-44A4-89A4-64651DEBADBC}"/>
              </a:ext>
            </a:extLst>
          </p:cNvPr>
          <p:cNvSpPr/>
          <p:nvPr/>
        </p:nvSpPr>
        <p:spPr>
          <a:xfrm>
            <a:off x="3543300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65E4D97-0AB3-4B3A-B95C-B27074473F6A}"/>
              </a:ext>
            </a:extLst>
          </p:cNvPr>
          <p:cNvSpPr/>
          <p:nvPr/>
        </p:nvSpPr>
        <p:spPr>
          <a:xfrm>
            <a:off x="5167312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B4EA32-6048-4018-90AB-8447B9990B38}"/>
              </a:ext>
            </a:extLst>
          </p:cNvPr>
          <p:cNvSpPr/>
          <p:nvPr/>
        </p:nvSpPr>
        <p:spPr>
          <a:xfrm>
            <a:off x="6791325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C744B10-E112-41B1-86F4-4C87C2E2BD73}"/>
              </a:ext>
            </a:extLst>
          </p:cNvPr>
          <p:cNvSpPr/>
          <p:nvPr/>
        </p:nvSpPr>
        <p:spPr>
          <a:xfrm>
            <a:off x="1952625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A071D38-97E7-4B92-AE19-1B42172E37AB}"/>
              </a:ext>
            </a:extLst>
          </p:cNvPr>
          <p:cNvSpPr/>
          <p:nvPr/>
        </p:nvSpPr>
        <p:spPr>
          <a:xfrm>
            <a:off x="3543300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8D8E09B-8327-4680-921C-AE8E693C7952}"/>
              </a:ext>
            </a:extLst>
          </p:cNvPr>
          <p:cNvSpPr/>
          <p:nvPr/>
        </p:nvSpPr>
        <p:spPr>
          <a:xfrm>
            <a:off x="5167312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ECC2817-8E03-4BAF-A339-9BAA8A9FF01D}"/>
              </a:ext>
            </a:extLst>
          </p:cNvPr>
          <p:cNvSpPr/>
          <p:nvPr/>
        </p:nvSpPr>
        <p:spPr>
          <a:xfrm>
            <a:off x="6791325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8EF398F-0890-4292-88EF-7AFD2FA3BC19}"/>
              </a:ext>
            </a:extLst>
          </p:cNvPr>
          <p:cNvSpPr/>
          <p:nvPr/>
        </p:nvSpPr>
        <p:spPr>
          <a:xfrm>
            <a:off x="3543300" y="3565629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9857F14-05EC-4901-B256-31A801547ECA}"/>
              </a:ext>
            </a:extLst>
          </p:cNvPr>
          <p:cNvSpPr/>
          <p:nvPr/>
        </p:nvSpPr>
        <p:spPr>
          <a:xfrm>
            <a:off x="5167312" y="3565629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2C5E5F0-92C8-40D5-8680-BEA6A5C37E65}"/>
              </a:ext>
            </a:extLst>
          </p:cNvPr>
          <p:cNvSpPr/>
          <p:nvPr/>
        </p:nvSpPr>
        <p:spPr>
          <a:xfrm>
            <a:off x="6791325" y="3565629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B9249AC-B484-4F1E-9C2F-178BBD83A5EF}"/>
              </a:ext>
            </a:extLst>
          </p:cNvPr>
          <p:cNvSpPr/>
          <p:nvPr/>
        </p:nvSpPr>
        <p:spPr>
          <a:xfrm>
            <a:off x="8444862" y="2426076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66A8083-8298-4526-80B8-562F539449DA}"/>
              </a:ext>
            </a:extLst>
          </p:cNvPr>
          <p:cNvSpPr/>
          <p:nvPr/>
        </p:nvSpPr>
        <p:spPr>
          <a:xfrm>
            <a:off x="8444862" y="2810675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CF5D9E5-32AA-4467-B5B2-FB27826A90D8}"/>
              </a:ext>
            </a:extLst>
          </p:cNvPr>
          <p:cNvSpPr/>
          <p:nvPr/>
        </p:nvSpPr>
        <p:spPr>
          <a:xfrm>
            <a:off x="8453438" y="3195274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2AA7F3A-1EDC-4AF1-90A8-7815CB2C7E06}"/>
              </a:ext>
            </a:extLst>
          </p:cNvPr>
          <p:cNvSpPr/>
          <p:nvPr/>
        </p:nvSpPr>
        <p:spPr>
          <a:xfrm>
            <a:off x="8462963" y="3528404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0B06143-AAF3-4A6C-94EA-47DDC0311191}"/>
              </a:ext>
            </a:extLst>
          </p:cNvPr>
          <p:cNvSpPr/>
          <p:nvPr/>
        </p:nvSpPr>
        <p:spPr>
          <a:xfrm>
            <a:off x="8453438" y="3918650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2CD46F7-3939-4289-B9EC-0DEAED9554DA}"/>
              </a:ext>
            </a:extLst>
          </p:cNvPr>
          <p:cNvSpPr/>
          <p:nvPr/>
        </p:nvSpPr>
        <p:spPr>
          <a:xfrm>
            <a:off x="8453438" y="4289601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C339E28-EF67-43D6-ADEE-294CB54DF111}"/>
              </a:ext>
            </a:extLst>
          </p:cNvPr>
          <p:cNvSpPr/>
          <p:nvPr/>
        </p:nvSpPr>
        <p:spPr>
          <a:xfrm>
            <a:off x="8462963" y="4646441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13AFCF7-BF41-4383-BD5F-9AC2918B16A2}"/>
              </a:ext>
            </a:extLst>
          </p:cNvPr>
          <p:cNvSpPr/>
          <p:nvPr/>
        </p:nvSpPr>
        <p:spPr>
          <a:xfrm>
            <a:off x="1952626" y="4646440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6D42562-8B75-40AE-B8EB-8BAC367D5714}"/>
              </a:ext>
            </a:extLst>
          </p:cNvPr>
          <p:cNvSpPr/>
          <p:nvPr/>
        </p:nvSpPr>
        <p:spPr>
          <a:xfrm>
            <a:off x="3581400" y="4646439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479F88C-29F0-47A7-8226-51FEB87C8F78}"/>
              </a:ext>
            </a:extLst>
          </p:cNvPr>
          <p:cNvSpPr/>
          <p:nvPr/>
        </p:nvSpPr>
        <p:spPr>
          <a:xfrm>
            <a:off x="5207794" y="4646438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7CDFD16-27DB-48FF-BFF6-E06E2AA2108C}"/>
              </a:ext>
            </a:extLst>
          </p:cNvPr>
          <p:cNvSpPr/>
          <p:nvPr/>
        </p:nvSpPr>
        <p:spPr>
          <a:xfrm>
            <a:off x="6819900" y="4646437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64272CF-08A7-4955-8D6D-D8928E9D5379}"/>
              </a:ext>
            </a:extLst>
          </p:cNvPr>
          <p:cNvSpPr/>
          <p:nvPr/>
        </p:nvSpPr>
        <p:spPr>
          <a:xfrm>
            <a:off x="5562600" y="631715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ACD6443-30B4-4165-A177-71DFA17CB80A}"/>
              </a:ext>
            </a:extLst>
          </p:cNvPr>
          <p:cNvSpPr/>
          <p:nvPr/>
        </p:nvSpPr>
        <p:spPr>
          <a:xfrm>
            <a:off x="6800850" y="631715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1A023E2-7061-4508-8465-CD68A90C5BD9}"/>
              </a:ext>
            </a:extLst>
          </p:cNvPr>
          <p:cNvSpPr/>
          <p:nvPr/>
        </p:nvSpPr>
        <p:spPr>
          <a:xfrm>
            <a:off x="8058150" y="631715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D89C704-C65F-4F39-A890-E1C7E0EB8890}"/>
              </a:ext>
            </a:extLst>
          </p:cNvPr>
          <p:cNvSpPr/>
          <p:nvPr/>
        </p:nvSpPr>
        <p:spPr>
          <a:xfrm>
            <a:off x="9296400" y="631715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EA69968-DBA4-49F4-B471-640AAE11DEA6}"/>
              </a:ext>
            </a:extLst>
          </p:cNvPr>
          <p:cNvSpPr/>
          <p:nvPr/>
        </p:nvSpPr>
        <p:spPr>
          <a:xfrm>
            <a:off x="10534650" y="631714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BE7FD13-F696-4088-9A88-469DC4333C38}"/>
              </a:ext>
            </a:extLst>
          </p:cNvPr>
          <p:cNvSpPr/>
          <p:nvPr/>
        </p:nvSpPr>
        <p:spPr>
          <a:xfrm>
            <a:off x="609600" y="990601"/>
            <a:ext cx="1185685" cy="304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1FF1B38-FEAB-4B6E-8B82-BE8EF1468A79}"/>
              </a:ext>
            </a:extLst>
          </p:cNvPr>
          <p:cNvSpPr/>
          <p:nvPr/>
        </p:nvSpPr>
        <p:spPr>
          <a:xfrm>
            <a:off x="1828800" y="990600"/>
            <a:ext cx="1075970" cy="304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3" name="Graphic 112" descr="Checkmark with solid fill">
            <a:extLst>
              <a:ext uri="{FF2B5EF4-FFF2-40B4-BE49-F238E27FC236}">
                <a16:creationId xmlns:a16="http://schemas.microsoft.com/office/drawing/2014/main" id="{F22F9AB9-78C5-44F1-AEAE-58AEB42D0B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3179" y="2419599"/>
            <a:ext cx="291471" cy="331127"/>
          </a:xfrm>
          <a:prstGeom prst="rect">
            <a:avLst/>
          </a:prstGeom>
        </p:spPr>
      </p:pic>
      <p:pic>
        <p:nvPicPr>
          <p:cNvPr id="115" name="Graphic 114" descr="Close with solid fill">
            <a:extLst>
              <a:ext uri="{FF2B5EF4-FFF2-40B4-BE49-F238E27FC236}">
                <a16:creationId xmlns:a16="http://schemas.microsoft.com/office/drawing/2014/main" id="{CA746C19-958E-4ADF-A4A2-AFEC593D50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1756" y="3514380"/>
            <a:ext cx="291471" cy="324650"/>
          </a:xfrm>
          <a:prstGeom prst="rect">
            <a:avLst/>
          </a:prstGeom>
        </p:spPr>
      </p:pic>
      <p:pic>
        <p:nvPicPr>
          <p:cNvPr id="116" name="Graphic 115" descr="Checkmark with solid fill">
            <a:extLst>
              <a:ext uri="{FF2B5EF4-FFF2-40B4-BE49-F238E27FC236}">
                <a16:creationId xmlns:a16="http://schemas.microsoft.com/office/drawing/2014/main" id="{DD882E1F-2B1C-4023-84F5-7C09523B6C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3179" y="2810675"/>
            <a:ext cx="291471" cy="331127"/>
          </a:xfrm>
          <a:prstGeom prst="rect">
            <a:avLst/>
          </a:prstGeom>
        </p:spPr>
      </p:pic>
      <p:pic>
        <p:nvPicPr>
          <p:cNvPr id="117" name="Graphic 116" descr="Checkmark with solid fill">
            <a:extLst>
              <a:ext uri="{FF2B5EF4-FFF2-40B4-BE49-F238E27FC236}">
                <a16:creationId xmlns:a16="http://schemas.microsoft.com/office/drawing/2014/main" id="{6A3099D4-8277-41C0-B9AE-E7AE27BDBF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3179" y="3183253"/>
            <a:ext cx="291471" cy="331127"/>
          </a:xfrm>
          <a:prstGeom prst="rect">
            <a:avLst/>
          </a:prstGeom>
        </p:spPr>
      </p:pic>
      <p:pic>
        <p:nvPicPr>
          <p:cNvPr id="118" name="Graphic 117" descr="Checkmark with solid fill">
            <a:extLst>
              <a:ext uri="{FF2B5EF4-FFF2-40B4-BE49-F238E27FC236}">
                <a16:creationId xmlns:a16="http://schemas.microsoft.com/office/drawing/2014/main" id="{B8C2ED3E-3548-4DAA-97AE-296C30C5E6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3179" y="3921647"/>
            <a:ext cx="291471" cy="331127"/>
          </a:xfrm>
          <a:prstGeom prst="rect">
            <a:avLst/>
          </a:prstGeom>
        </p:spPr>
      </p:pic>
      <p:pic>
        <p:nvPicPr>
          <p:cNvPr id="119" name="Graphic 118" descr="Checkmark with solid fill">
            <a:extLst>
              <a:ext uri="{FF2B5EF4-FFF2-40B4-BE49-F238E27FC236}">
                <a16:creationId xmlns:a16="http://schemas.microsoft.com/office/drawing/2014/main" id="{9CC482AB-DA6A-41B6-AE8A-229E39F32E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3179" y="4254549"/>
            <a:ext cx="291471" cy="331127"/>
          </a:xfrm>
          <a:prstGeom prst="rect">
            <a:avLst/>
          </a:prstGeom>
        </p:spPr>
      </p:pic>
      <p:pic>
        <p:nvPicPr>
          <p:cNvPr id="120" name="Graphic 119" descr="Checkmark with solid fill">
            <a:extLst>
              <a:ext uri="{FF2B5EF4-FFF2-40B4-BE49-F238E27FC236}">
                <a16:creationId xmlns:a16="http://schemas.microsoft.com/office/drawing/2014/main" id="{F3B27AD0-C9B0-43C4-A89B-F8A99EDCD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26240" y="4619550"/>
            <a:ext cx="291471" cy="331127"/>
          </a:xfrm>
          <a:prstGeom prst="rect">
            <a:avLst/>
          </a:prstGeom>
        </p:spPr>
      </p:pic>
      <p:pic>
        <p:nvPicPr>
          <p:cNvPr id="121" name="Graphic 120" descr="Checkmark with solid fill">
            <a:extLst>
              <a:ext uri="{FF2B5EF4-FFF2-40B4-BE49-F238E27FC236}">
                <a16:creationId xmlns:a16="http://schemas.microsoft.com/office/drawing/2014/main" id="{4FB6F22C-0154-4E28-BF74-96755A2E45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3299" y="5022215"/>
            <a:ext cx="291471" cy="331127"/>
          </a:xfrm>
          <a:prstGeom prst="rect">
            <a:avLst/>
          </a:prstGeom>
        </p:spPr>
      </p:pic>
      <p:pic>
        <p:nvPicPr>
          <p:cNvPr id="122" name="Graphic 121" descr="Checkmark with solid fill">
            <a:extLst>
              <a:ext uri="{FF2B5EF4-FFF2-40B4-BE49-F238E27FC236}">
                <a16:creationId xmlns:a16="http://schemas.microsoft.com/office/drawing/2014/main" id="{63E135C9-43ED-4D43-A187-C87B8CF980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585" y="5022214"/>
            <a:ext cx="291471" cy="331127"/>
          </a:xfrm>
          <a:prstGeom prst="rect">
            <a:avLst/>
          </a:prstGeom>
        </p:spPr>
      </p:pic>
      <p:pic>
        <p:nvPicPr>
          <p:cNvPr id="123" name="Graphic 122" descr="Checkmark with solid fill">
            <a:extLst>
              <a:ext uri="{FF2B5EF4-FFF2-40B4-BE49-F238E27FC236}">
                <a16:creationId xmlns:a16="http://schemas.microsoft.com/office/drawing/2014/main" id="{B62B8CD3-C60C-456F-AC48-D5C2282AC6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1885" y="4998862"/>
            <a:ext cx="291471" cy="331127"/>
          </a:xfrm>
          <a:prstGeom prst="rect">
            <a:avLst/>
          </a:prstGeom>
        </p:spPr>
      </p:pic>
      <p:pic>
        <p:nvPicPr>
          <p:cNvPr id="124" name="Graphic 123" descr="Checkmark with solid fill">
            <a:extLst>
              <a:ext uri="{FF2B5EF4-FFF2-40B4-BE49-F238E27FC236}">
                <a16:creationId xmlns:a16="http://schemas.microsoft.com/office/drawing/2014/main" id="{93FE5E2B-8CAB-4113-93EC-C6024D0E09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9724" y="4950677"/>
            <a:ext cx="291471" cy="331127"/>
          </a:xfrm>
          <a:prstGeom prst="rect">
            <a:avLst/>
          </a:prstGeom>
        </p:spPr>
      </p:pic>
      <p:pic>
        <p:nvPicPr>
          <p:cNvPr id="125" name="Graphic 124" descr="Close with solid fill">
            <a:extLst>
              <a:ext uri="{FF2B5EF4-FFF2-40B4-BE49-F238E27FC236}">
                <a16:creationId xmlns:a16="http://schemas.microsoft.com/office/drawing/2014/main" id="{72662FC0-F3B6-4FA1-9A07-B612A92AC9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1528" y="5008749"/>
            <a:ext cx="291471" cy="324650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80F52D6A-5A76-4E16-A311-9DFF7011639D}"/>
              </a:ext>
            </a:extLst>
          </p:cNvPr>
          <p:cNvSpPr/>
          <p:nvPr/>
        </p:nvSpPr>
        <p:spPr>
          <a:xfrm>
            <a:off x="10668000" y="2057400"/>
            <a:ext cx="1371600" cy="914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XOR of Data bits == Parity bit??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D42B1A4-A105-4275-ACA0-66F8EDD8599A}"/>
              </a:ext>
            </a:extLst>
          </p:cNvPr>
          <p:cNvSpPr/>
          <p:nvPr/>
        </p:nvSpPr>
        <p:spPr>
          <a:xfrm>
            <a:off x="1957387" y="3542277"/>
            <a:ext cx="8222930" cy="339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3EEBADC-5F91-4CC0-84BC-9923363B109B}"/>
              </a:ext>
            </a:extLst>
          </p:cNvPr>
          <p:cNvSpPr/>
          <p:nvPr/>
        </p:nvSpPr>
        <p:spPr>
          <a:xfrm>
            <a:off x="3579019" y="2419600"/>
            <a:ext cx="1600199" cy="2567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A5ECC4E-A257-4238-B289-0D44C90D1579}"/>
              </a:ext>
            </a:extLst>
          </p:cNvPr>
          <p:cNvSpPr/>
          <p:nvPr/>
        </p:nvSpPr>
        <p:spPr>
          <a:xfrm>
            <a:off x="3614738" y="3572830"/>
            <a:ext cx="1506139" cy="266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1???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0F43798-9314-4C1A-909D-BA99FFEA1660}"/>
              </a:ext>
            </a:extLst>
          </p:cNvPr>
          <p:cNvSpPr/>
          <p:nvPr/>
        </p:nvSpPr>
        <p:spPr>
          <a:xfrm>
            <a:off x="3714750" y="3591650"/>
            <a:ext cx="1307305" cy="2612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9690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26" grpId="0" animBg="1"/>
      <p:bldP spid="127" grpId="0" animBg="1"/>
      <p:bldP spid="128" grpId="0" animBg="1"/>
      <p:bldP spid="130" grpId="0" animBg="1"/>
      <p:bldP spid="1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42" y="-6114"/>
            <a:ext cx="11771630" cy="17081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/>
              <a:t>Example</a:t>
            </a:r>
            <a:r>
              <a:rPr spc="-7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Product</a:t>
            </a:r>
            <a:r>
              <a:rPr spc="-70" dirty="0"/>
              <a:t> </a:t>
            </a:r>
            <a:r>
              <a:rPr spc="-20" dirty="0"/>
              <a:t>Code</a:t>
            </a:r>
            <a:r>
              <a:rPr lang="en-US" spc="-20" dirty="0"/>
              <a:t> (Decoding: 2-Bit Error)</a:t>
            </a:r>
            <a:endParaRPr spc="-20" dirty="0"/>
          </a:p>
          <a:p>
            <a:pPr marL="484505" marR="5080" indent="-457200">
              <a:lnSpc>
                <a:spcPct val="100000"/>
              </a:lnSpc>
              <a:spcBef>
                <a:spcPts val="330"/>
              </a:spcBef>
              <a:buFont typeface="Wingdings"/>
              <a:buChar char=""/>
              <a:tabLst>
                <a:tab pos="484505" algn="l"/>
              </a:tabLst>
            </a:pPr>
            <a:r>
              <a:rPr sz="2400" u="none" dirty="0">
                <a:solidFill>
                  <a:srgbClr val="6F2F9F"/>
                </a:solidFill>
              </a:rPr>
              <a:t>Example</a:t>
            </a:r>
            <a:r>
              <a:rPr sz="2400" u="none" spc="260" dirty="0">
                <a:solidFill>
                  <a:srgbClr val="6F2F9F"/>
                </a:solidFill>
              </a:rPr>
              <a:t> </a:t>
            </a:r>
            <a:r>
              <a:rPr lang="en-US" sz="2400" u="none" spc="260" dirty="0">
                <a:solidFill>
                  <a:srgbClr val="6F2F9F"/>
                </a:solidFill>
              </a:rPr>
              <a:t>3</a:t>
            </a:r>
            <a:r>
              <a:rPr sz="2400" u="none" dirty="0">
                <a:solidFill>
                  <a:srgbClr val="6F2F9F"/>
                </a:solidFill>
              </a:rPr>
              <a:t>: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Given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the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lang="en-US" sz="2400" u="none" dirty="0">
                <a:solidFill>
                  <a:srgbClr val="6F2F9F"/>
                </a:solidFill>
              </a:rPr>
              <a:t>Codeword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lang="en-US" sz="2400" u="none" dirty="0">
                <a:solidFill>
                  <a:srgbClr val="6F2F9F"/>
                </a:solidFill>
              </a:rPr>
              <a:t>C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=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[1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lang="en-US" sz="2400" u="none" dirty="0">
                <a:solidFill>
                  <a:srgbClr val="6F2F9F"/>
                </a:solidFill>
              </a:rPr>
              <a:t> 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lang="en-US" sz="2400" u="none" dirty="0">
                <a:solidFill>
                  <a:srgbClr val="FF0000"/>
                </a:solidFill>
              </a:rPr>
              <a:t>1</a:t>
            </a:r>
            <a:r>
              <a:rPr lang="en-US" sz="2400" u="none" dirty="0">
                <a:solidFill>
                  <a:srgbClr val="6F2F9F"/>
                </a:solidFill>
              </a:rPr>
              <a:t> 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lang="en-US" sz="2400" u="none" dirty="0">
                <a:solidFill>
                  <a:srgbClr val="6F2F9F"/>
                </a:solidFill>
              </a:rPr>
              <a:t> 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lang="en-US" sz="2400" u="none" spc="254" dirty="0">
                <a:solidFill>
                  <a:srgbClr val="FF0000"/>
                </a:solidFill>
              </a:rPr>
              <a:t>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lang="en-US" sz="2400" u="none" dirty="0">
                <a:solidFill>
                  <a:srgbClr val="6F2F9F"/>
                </a:solidFill>
              </a:rPr>
              <a:t> 0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lang="en-US" sz="2400" u="none" dirty="0">
                <a:solidFill>
                  <a:srgbClr val="6F2F9F"/>
                </a:solidFill>
              </a:rPr>
              <a:t> 1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spc="-25" dirty="0">
                <a:solidFill>
                  <a:srgbClr val="6F2F9F"/>
                </a:solidFill>
              </a:rPr>
              <a:t>1</a:t>
            </a:r>
            <a:r>
              <a:rPr lang="en-US" sz="2400" u="none" spc="-25" dirty="0">
                <a:solidFill>
                  <a:srgbClr val="6F2F9F"/>
                </a:solidFill>
              </a:rPr>
              <a:t> 0 0 1 0 0 1</a:t>
            </a:r>
            <a:r>
              <a:rPr sz="2400" u="none" spc="-25" dirty="0">
                <a:solidFill>
                  <a:srgbClr val="6F2F9F"/>
                </a:solidFill>
              </a:rPr>
              <a:t>], </a:t>
            </a:r>
            <a:r>
              <a:rPr lang="en-US" sz="2400" u="none" spc="-25" dirty="0">
                <a:solidFill>
                  <a:srgbClr val="6F2F9F"/>
                </a:solidFill>
              </a:rPr>
              <a:t>s</a:t>
            </a:r>
            <a:r>
              <a:rPr sz="2400" u="none" dirty="0">
                <a:solidFill>
                  <a:srgbClr val="6F2F9F"/>
                </a:solidFill>
              </a:rPr>
              <a:t>tructure</a:t>
            </a:r>
            <a:r>
              <a:rPr lang="en-US" sz="2400" u="none" dirty="0">
                <a:solidFill>
                  <a:srgbClr val="6F2F9F"/>
                </a:solidFill>
              </a:rPr>
              <a:t>d by (35, 24)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Block</a:t>
            </a:r>
            <a:r>
              <a:rPr sz="2400" u="none" spc="-5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for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Product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sz="2400" u="none" spc="-20" dirty="0">
                <a:solidFill>
                  <a:srgbClr val="6F2F9F"/>
                </a:solidFill>
              </a:rPr>
              <a:t>.</a:t>
            </a:r>
            <a:r>
              <a:rPr lang="en-US" sz="2400" u="none" spc="-20" dirty="0">
                <a:solidFill>
                  <a:srgbClr val="6F2F9F"/>
                </a:solidFill>
              </a:rPr>
              <a:t> Detect and Correct the Error bits.</a:t>
            </a:r>
            <a:endParaRPr sz="2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5125" y="2057400"/>
          <a:ext cx="11423015" cy="296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EC6D4EDB-0AAD-4DFA-97BF-6D6BB9FB6AE2}"/>
              </a:ext>
            </a:extLst>
          </p:cNvPr>
          <p:cNvSpPr/>
          <p:nvPr/>
        </p:nvSpPr>
        <p:spPr>
          <a:xfrm>
            <a:off x="1981200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1153377-7688-487C-B71F-858C2DF5303A}"/>
              </a:ext>
            </a:extLst>
          </p:cNvPr>
          <p:cNvSpPr/>
          <p:nvPr/>
        </p:nvSpPr>
        <p:spPr>
          <a:xfrm>
            <a:off x="3571875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8A6DAC-E9B2-4DFB-810E-2BC2B7B02295}"/>
              </a:ext>
            </a:extLst>
          </p:cNvPr>
          <p:cNvSpPr/>
          <p:nvPr/>
        </p:nvSpPr>
        <p:spPr>
          <a:xfrm>
            <a:off x="5195887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333AE08-7CDD-44B6-9D1F-2BB902DA6945}"/>
              </a:ext>
            </a:extLst>
          </p:cNvPr>
          <p:cNvSpPr/>
          <p:nvPr/>
        </p:nvSpPr>
        <p:spPr>
          <a:xfrm>
            <a:off x="6819900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DA728A-307C-4862-8D51-B732493BE9CA}"/>
              </a:ext>
            </a:extLst>
          </p:cNvPr>
          <p:cNvSpPr/>
          <p:nvPr/>
        </p:nvSpPr>
        <p:spPr>
          <a:xfrm>
            <a:off x="1981200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0F1BE08-0FD0-4577-B72C-94AAD8386360}"/>
              </a:ext>
            </a:extLst>
          </p:cNvPr>
          <p:cNvSpPr/>
          <p:nvPr/>
        </p:nvSpPr>
        <p:spPr>
          <a:xfrm>
            <a:off x="3571875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825CE80-3557-4C88-BCA9-13FBC2CCDE6B}"/>
              </a:ext>
            </a:extLst>
          </p:cNvPr>
          <p:cNvSpPr/>
          <p:nvPr/>
        </p:nvSpPr>
        <p:spPr>
          <a:xfrm>
            <a:off x="5195887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1EC1704-BBA3-421F-891D-52982494E4C0}"/>
              </a:ext>
            </a:extLst>
          </p:cNvPr>
          <p:cNvSpPr/>
          <p:nvPr/>
        </p:nvSpPr>
        <p:spPr>
          <a:xfrm>
            <a:off x="6819900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3A587E8-6477-4C0C-8AAB-2AE42CDD4FFF}"/>
              </a:ext>
            </a:extLst>
          </p:cNvPr>
          <p:cNvSpPr/>
          <p:nvPr/>
        </p:nvSpPr>
        <p:spPr>
          <a:xfrm>
            <a:off x="1981200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3A108A2-CB9B-4298-BFC1-5B9FE4552BAD}"/>
              </a:ext>
            </a:extLst>
          </p:cNvPr>
          <p:cNvSpPr/>
          <p:nvPr/>
        </p:nvSpPr>
        <p:spPr>
          <a:xfrm>
            <a:off x="3571875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E9A6EF1-3CEC-431C-B100-C54D0BF81449}"/>
              </a:ext>
            </a:extLst>
          </p:cNvPr>
          <p:cNvSpPr/>
          <p:nvPr/>
        </p:nvSpPr>
        <p:spPr>
          <a:xfrm>
            <a:off x="5195887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C2060D7-8CEF-468E-94EC-97D8C6E37C68}"/>
              </a:ext>
            </a:extLst>
          </p:cNvPr>
          <p:cNvSpPr/>
          <p:nvPr/>
        </p:nvSpPr>
        <p:spPr>
          <a:xfrm>
            <a:off x="6819900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706533-26FA-4BFE-B098-76EA1B5294B4}"/>
              </a:ext>
            </a:extLst>
          </p:cNvPr>
          <p:cNvSpPr/>
          <p:nvPr/>
        </p:nvSpPr>
        <p:spPr>
          <a:xfrm>
            <a:off x="1981200" y="3565629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3827B03-FF37-4739-9FB5-6153907D0B2B}"/>
              </a:ext>
            </a:extLst>
          </p:cNvPr>
          <p:cNvSpPr/>
          <p:nvPr/>
        </p:nvSpPr>
        <p:spPr>
          <a:xfrm>
            <a:off x="3571875" y="355554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9AC0133-2110-40AE-9F08-0EF170F92EE0}"/>
              </a:ext>
            </a:extLst>
          </p:cNvPr>
          <p:cNvSpPr/>
          <p:nvPr/>
        </p:nvSpPr>
        <p:spPr>
          <a:xfrm>
            <a:off x="5195887" y="355554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50C893A-91DF-4257-B8EA-4FBA1FBCA62F}"/>
              </a:ext>
            </a:extLst>
          </p:cNvPr>
          <p:cNvSpPr/>
          <p:nvPr/>
        </p:nvSpPr>
        <p:spPr>
          <a:xfrm>
            <a:off x="6819900" y="3555546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D1891F9-D858-44B6-BDC9-48D03F4C520C}"/>
              </a:ext>
            </a:extLst>
          </p:cNvPr>
          <p:cNvSpPr/>
          <p:nvPr/>
        </p:nvSpPr>
        <p:spPr>
          <a:xfrm>
            <a:off x="1981200" y="394291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6C865BF-7CAB-4E90-A114-02610E10B4AD}"/>
              </a:ext>
            </a:extLst>
          </p:cNvPr>
          <p:cNvSpPr/>
          <p:nvPr/>
        </p:nvSpPr>
        <p:spPr>
          <a:xfrm>
            <a:off x="3571875" y="394291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B7CF6FC-D59F-4C5A-BDF3-C32BA3C256D1}"/>
              </a:ext>
            </a:extLst>
          </p:cNvPr>
          <p:cNvSpPr/>
          <p:nvPr/>
        </p:nvSpPr>
        <p:spPr>
          <a:xfrm>
            <a:off x="5195887" y="394291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403BA45-2F16-4BBB-87E4-DB3706ECF102}"/>
              </a:ext>
            </a:extLst>
          </p:cNvPr>
          <p:cNvSpPr/>
          <p:nvPr/>
        </p:nvSpPr>
        <p:spPr>
          <a:xfrm>
            <a:off x="6819900" y="394291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4D46A2-C700-4CFE-8734-2528581338FB}"/>
              </a:ext>
            </a:extLst>
          </p:cNvPr>
          <p:cNvSpPr/>
          <p:nvPr/>
        </p:nvSpPr>
        <p:spPr>
          <a:xfrm>
            <a:off x="1981200" y="430946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0FDB16B-FDD4-461C-B515-FFF718AC41D0}"/>
              </a:ext>
            </a:extLst>
          </p:cNvPr>
          <p:cNvSpPr/>
          <p:nvPr/>
        </p:nvSpPr>
        <p:spPr>
          <a:xfrm>
            <a:off x="3571875" y="430946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F227DD3-C01E-44BC-80FE-0A178A83949D}"/>
              </a:ext>
            </a:extLst>
          </p:cNvPr>
          <p:cNvSpPr/>
          <p:nvPr/>
        </p:nvSpPr>
        <p:spPr>
          <a:xfrm>
            <a:off x="5195887" y="430946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47410B5-2DF4-4D6D-AD01-428B50A20807}"/>
              </a:ext>
            </a:extLst>
          </p:cNvPr>
          <p:cNvSpPr/>
          <p:nvPr/>
        </p:nvSpPr>
        <p:spPr>
          <a:xfrm>
            <a:off x="6819900" y="4309463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146E2DD-912D-4A8C-BC03-24E1BCB5D1C2}"/>
              </a:ext>
            </a:extLst>
          </p:cNvPr>
          <p:cNvSpPr/>
          <p:nvPr/>
        </p:nvSpPr>
        <p:spPr>
          <a:xfrm>
            <a:off x="1952625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CA25139-D87F-4526-BA2C-6CD0E432A649}"/>
              </a:ext>
            </a:extLst>
          </p:cNvPr>
          <p:cNvSpPr/>
          <p:nvPr/>
        </p:nvSpPr>
        <p:spPr>
          <a:xfrm>
            <a:off x="3543300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90C933C-41B4-45C9-9661-6434FBCFF057}"/>
              </a:ext>
            </a:extLst>
          </p:cNvPr>
          <p:cNvSpPr/>
          <p:nvPr/>
        </p:nvSpPr>
        <p:spPr>
          <a:xfrm>
            <a:off x="5167312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D33C1B-9EF0-4AAF-A912-86150F86029D}"/>
              </a:ext>
            </a:extLst>
          </p:cNvPr>
          <p:cNvSpPr/>
          <p:nvPr/>
        </p:nvSpPr>
        <p:spPr>
          <a:xfrm>
            <a:off x="6791325" y="2479548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051FEC2-1074-438A-996E-B79EC921BEB6}"/>
              </a:ext>
            </a:extLst>
          </p:cNvPr>
          <p:cNvSpPr/>
          <p:nvPr/>
        </p:nvSpPr>
        <p:spPr>
          <a:xfrm>
            <a:off x="1952625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075E863-E510-44A4-89A4-64651DEBADBC}"/>
              </a:ext>
            </a:extLst>
          </p:cNvPr>
          <p:cNvSpPr/>
          <p:nvPr/>
        </p:nvSpPr>
        <p:spPr>
          <a:xfrm>
            <a:off x="3543300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65E4D97-0AB3-4B3A-B95C-B27074473F6A}"/>
              </a:ext>
            </a:extLst>
          </p:cNvPr>
          <p:cNvSpPr/>
          <p:nvPr/>
        </p:nvSpPr>
        <p:spPr>
          <a:xfrm>
            <a:off x="5167312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B4EA32-6048-4018-90AB-8447B9990B38}"/>
              </a:ext>
            </a:extLst>
          </p:cNvPr>
          <p:cNvSpPr/>
          <p:nvPr/>
        </p:nvSpPr>
        <p:spPr>
          <a:xfrm>
            <a:off x="6791325" y="2844564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C744B10-E112-41B1-86F4-4C87C2E2BD73}"/>
              </a:ext>
            </a:extLst>
          </p:cNvPr>
          <p:cNvSpPr/>
          <p:nvPr/>
        </p:nvSpPr>
        <p:spPr>
          <a:xfrm>
            <a:off x="1952625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A071D38-97E7-4B92-AE19-1B42172E37AB}"/>
              </a:ext>
            </a:extLst>
          </p:cNvPr>
          <p:cNvSpPr/>
          <p:nvPr/>
        </p:nvSpPr>
        <p:spPr>
          <a:xfrm>
            <a:off x="3543300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8D8E09B-8327-4680-921C-AE8E693C7952}"/>
              </a:ext>
            </a:extLst>
          </p:cNvPr>
          <p:cNvSpPr/>
          <p:nvPr/>
        </p:nvSpPr>
        <p:spPr>
          <a:xfrm>
            <a:off x="5167312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ECC2817-8E03-4BAF-A339-9BAA8A9FF01D}"/>
              </a:ext>
            </a:extLst>
          </p:cNvPr>
          <p:cNvSpPr/>
          <p:nvPr/>
        </p:nvSpPr>
        <p:spPr>
          <a:xfrm>
            <a:off x="6791325" y="3209580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8EF398F-0890-4292-88EF-7AFD2FA3BC19}"/>
              </a:ext>
            </a:extLst>
          </p:cNvPr>
          <p:cNvSpPr/>
          <p:nvPr/>
        </p:nvSpPr>
        <p:spPr>
          <a:xfrm>
            <a:off x="3543300" y="3565629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9857F14-05EC-4901-B256-31A801547ECA}"/>
              </a:ext>
            </a:extLst>
          </p:cNvPr>
          <p:cNvSpPr/>
          <p:nvPr/>
        </p:nvSpPr>
        <p:spPr>
          <a:xfrm>
            <a:off x="5167312" y="3565629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2C5E5F0-92C8-40D5-8680-BEA6A5C37E65}"/>
              </a:ext>
            </a:extLst>
          </p:cNvPr>
          <p:cNvSpPr/>
          <p:nvPr/>
        </p:nvSpPr>
        <p:spPr>
          <a:xfrm>
            <a:off x="6791325" y="3565629"/>
            <a:ext cx="1600200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B9249AC-B484-4F1E-9C2F-178BBD83A5EF}"/>
              </a:ext>
            </a:extLst>
          </p:cNvPr>
          <p:cNvSpPr/>
          <p:nvPr/>
        </p:nvSpPr>
        <p:spPr>
          <a:xfrm>
            <a:off x="8444862" y="2426076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66A8083-8298-4526-80B8-562F539449DA}"/>
              </a:ext>
            </a:extLst>
          </p:cNvPr>
          <p:cNvSpPr/>
          <p:nvPr/>
        </p:nvSpPr>
        <p:spPr>
          <a:xfrm>
            <a:off x="8444862" y="2810675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CF5D9E5-32AA-4467-B5B2-FB27826A90D8}"/>
              </a:ext>
            </a:extLst>
          </p:cNvPr>
          <p:cNvSpPr/>
          <p:nvPr/>
        </p:nvSpPr>
        <p:spPr>
          <a:xfrm>
            <a:off x="8453438" y="3195274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2AA7F3A-1EDC-4AF1-90A8-7815CB2C7E06}"/>
              </a:ext>
            </a:extLst>
          </p:cNvPr>
          <p:cNvSpPr/>
          <p:nvPr/>
        </p:nvSpPr>
        <p:spPr>
          <a:xfrm>
            <a:off x="8462963" y="3528404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0B06143-AAF3-4A6C-94EA-47DDC0311191}"/>
              </a:ext>
            </a:extLst>
          </p:cNvPr>
          <p:cNvSpPr/>
          <p:nvPr/>
        </p:nvSpPr>
        <p:spPr>
          <a:xfrm>
            <a:off x="8453438" y="3918650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2CD46F7-3939-4289-B9EC-0DEAED9554DA}"/>
              </a:ext>
            </a:extLst>
          </p:cNvPr>
          <p:cNvSpPr/>
          <p:nvPr/>
        </p:nvSpPr>
        <p:spPr>
          <a:xfrm>
            <a:off x="8453438" y="4289601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C339E28-EF67-43D6-ADEE-294CB54DF111}"/>
              </a:ext>
            </a:extLst>
          </p:cNvPr>
          <p:cNvSpPr/>
          <p:nvPr/>
        </p:nvSpPr>
        <p:spPr>
          <a:xfrm>
            <a:off x="8462963" y="4646441"/>
            <a:ext cx="1735455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13AFCF7-BF41-4383-BD5F-9AC2918B16A2}"/>
              </a:ext>
            </a:extLst>
          </p:cNvPr>
          <p:cNvSpPr/>
          <p:nvPr/>
        </p:nvSpPr>
        <p:spPr>
          <a:xfrm>
            <a:off x="1952626" y="4646440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6D42562-8B75-40AE-B8EB-8BAC367D5714}"/>
              </a:ext>
            </a:extLst>
          </p:cNvPr>
          <p:cNvSpPr/>
          <p:nvPr/>
        </p:nvSpPr>
        <p:spPr>
          <a:xfrm>
            <a:off x="3581400" y="4646439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479F88C-29F0-47A7-8226-51FEB87C8F78}"/>
              </a:ext>
            </a:extLst>
          </p:cNvPr>
          <p:cNvSpPr/>
          <p:nvPr/>
        </p:nvSpPr>
        <p:spPr>
          <a:xfrm>
            <a:off x="5207794" y="4646438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7CDFD16-27DB-48FF-BFF6-E06E2AA2108C}"/>
              </a:ext>
            </a:extLst>
          </p:cNvPr>
          <p:cNvSpPr/>
          <p:nvPr/>
        </p:nvSpPr>
        <p:spPr>
          <a:xfrm>
            <a:off x="6819900" y="4646437"/>
            <a:ext cx="1600200" cy="3524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64272CF-08A7-4955-8D6D-D8928E9D5379}"/>
              </a:ext>
            </a:extLst>
          </p:cNvPr>
          <p:cNvSpPr/>
          <p:nvPr/>
        </p:nvSpPr>
        <p:spPr>
          <a:xfrm>
            <a:off x="5562600" y="631715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ACD6443-30B4-4165-A177-71DFA17CB80A}"/>
              </a:ext>
            </a:extLst>
          </p:cNvPr>
          <p:cNvSpPr/>
          <p:nvPr/>
        </p:nvSpPr>
        <p:spPr>
          <a:xfrm>
            <a:off x="6800850" y="631715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1A023E2-7061-4508-8465-CD68A90C5BD9}"/>
              </a:ext>
            </a:extLst>
          </p:cNvPr>
          <p:cNvSpPr/>
          <p:nvPr/>
        </p:nvSpPr>
        <p:spPr>
          <a:xfrm>
            <a:off x="8058150" y="631715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D89C704-C65F-4F39-A890-E1C7E0EB8890}"/>
              </a:ext>
            </a:extLst>
          </p:cNvPr>
          <p:cNvSpPr/>
          <p:nvPr/>
        </p:nvSpPr>
        <p:spPr>
          <a:xfrm>
            <a:off x="9296400" y="631715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EA69968-DBA4-49F4-B471-640AAE11DEA6}"/>
              </a:ext>
            </a:extLst>
          </p:cNvPr>
          <p:cNvSpPr/>
          <p:nvPr/>
        </p:nvSpPr>
        <p:spPr>
          <a:xfrm>
            <a:off x="10534650" y="631714"/>
            <a:ext cx="1204912" cy="30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BE7FD13-F696-4088-9A88-469DC4333C38}"/>
              </a:ext>
            </a:extLst>
          </p:cNvPr>
          <p:cNvSpPr/>
          <p:nvPr/>
        </p:nvSpPr>
        <p:spPr>
          <a:xfrm>
            <a:off x="609600" y="990601"/>
            <a:ext cx="1185685" cy="304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1FF1B38-FEAB-4B6E-8B82-BE8EF1468A79}"/>
              </a:ext>
            </a:extLst>
          </p:cNvPr>
          <p:cNvSpPr/>
          <p:nvPr/>
        </p:nvSpPr>
        <p:spPr>
          <a:xfrm>
            <a:off x="1828800" y="990600"/>
            <a:ext cx="1075970" cy="304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3" name="Graphic 112" descr="Checkmark with solid fill">
            <a:extLst>
              <a:ext uri="{FF2B5EF4-FFF2-40B4-BE49-F238E27FC236}">
                <a16:creationId xmlns:a16="http://schemas.microsoft.com/office/drawing/2014/main" id="{F22F9AB9-78C5-44F1-AEAE-58AEB42D0B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3179" y="2419599"/>
            <a:ext cx="291471" cy="331127"/>
          </a:xfrm>
          <a:prstGeom prst="rect">
            <a:avLst/>
          </a:prstGeom>
        </p:spPr>
      </p:pic>
      <p:pic>
        <p:nvPicPr>
          <p:cNvPr id="115" name="Graphic 114" descr="Close with solid fill">
            <a:extLst>
              <a:ext uri="{FF2B5EF4-FFF2-40B4-BE49-F238E27FC236}">
                <a16:creationId xmlns:a16="http://schemas.microsoft.com/office/drawing/2014/main" id="{CA746C19-958E-4ADF-A4A2-AFEC593D50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1756" y="3514380"/>
            <a:ext cx="291471" cy="324650"/>
          </a:xfrm>
          <a:prstGeom prst="rect">
            <a:avLst/>
          </a:prstGeom>
        </p:spPr>
      </p:pic>
      <p:pic>
        <p:nvPicPr>
          <p:cNvPr id="117" name="Graphic 116" descr="Checkmark with solid fill">
            <a:extLst>
              <a:ext uri="{FF2B5EF4-FFF2-40B4-BE49-F238E27FC236}">
                <a16:creationId xmlns:a16="http://schemas.microsoft.com/office/drawing/2014/main" id="{6A3099D4-8277-41C0-B9AE-E7AE27BDBF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3179" y="3183253"/>
            <a:ext cx="291471" cy="331127"/>
          </a:xfrm>
          <a:prstGeom prst="rect">
            <a:avLst/>
          </a:prstGeom>
        </p:spPr>
      </p:pic>
      <p:pic>
        <p:nvPicPr>
          <p:cNvPr id="118" name="Graphic 117" descr="Checkmark with solid fill">
            <a:extLst>
              <a:ext uri="{FF2B5EF4-FFF2-40B4-BE49-F238E27FC236}">
                <a16:creationId xmlns:a16="http://schemas.microsoft.com/office/drawing/2014/main" id="{B8C2ED3E-3548-4DAA-97AE-296C30C5E6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3179" y="3921647"/>
            <a:ext cx="291471" cy="331127"/>
          </a:xfrm>
          <a:prstGeom prst="rect">
            <a:avLst/>
          </a:prstGeom>
        </p:spPr>
      </p:pic>
      <p:pic>
        <p:nvPicPr>
          <p:cNvPr id="119" name="Graphic 118" descr="Checkmark with solid fill">
            <a:extLst>
              <a:ext uri="{FF2B5EF4-FFF2-40B4-BE49-F238E27FC236}">
                <a16:creationId xmlns:a16="http://schemas.microsoft.com/office/drawing/2014/main" id="{9CC482AB-DA6A-41B6-AE8A-229E39F32E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3179" y="4254549"/>
            <a:ext cx="291471" cy="331127"/>
          </a:xfrm>
          <a:prstGeom prst="rect">
            <a:avLst/>
          </a:prstGeom>
        </p:spPr>
      </p:pic>
      <p:pic>
        <p:nvPicPr>
          <p:cNvPr id="120" name="Graphic 119" descr="Checkmark with solid fill">
            <a:extLst>
              <a:ext uri="{FF2B5EF4-FFF2-40B4-BE49-F238E27FC236}">
                <a16:creationId xmlns:a16="http://schemas.microsoft.com/office/drawing/2014/main" id="{F3B27AD0-C9B0-43C4-A89B-F8A99EDCD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26240" y="4619550"/>
            <a:ext cx="291471" cy="331127"/>
          </a:xfrm>
          <a:prstGeom prst="rect">
            <a:avLst/>
          </a:prstGeom>
        </p:spPr>
      </p:pic>
      <p:pic>
        <p:nvPicPr>
          <p:cNvPr id="121" name="Graphic 120" descr="Checkmark with solid fill">
            <a:extLst>
              <a:ext uri="{FF2B5EF4-FFF2-40B4-BE49-F238E27FC236}">
                <a16:creationId xmlns:a16="http://schemas.microsoft.com/office/drawing/2014/main" id="{4FB6F22C-0154-4E28-BF74-96755A2E45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3299" y="5022215"/>
            <a:ext cx="291471" cy="331127"/>
          </a:xfrm>
          <a:prstGeom prst="rect">
            <a:avLst/>
          </a:prstGeom>
        </p:spPr>
      </p:pic>
      <p:pic>
        <p:nvPicPr>
          <p:cNvPr id="122" name="Graphic 121" descr="Checkmark with solid fill">
            <a:extLst>
              <a:ext uri="{FF2B5EF4-FFF2-40B4-BE49-F238E27FC236}">
                <a16:creationId xmlns:a16="http://schemas.microsoft.com/office/drawing/2014/main" id="{63E135C9-43ED-4D43-A187-C87B8CF980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585" y="5022214"/>
            <a:ext cx="291471" cy="331127"/>
          </a:xfrm>
          <a:prstGeom prst="rect">
            <a:avLst/>
          </a:prstGeom>
        </p:spPr>
      </p:pic>
      <p:pic>
        <p:nvPicPr>
          <p:cNvPr id="124" name="Graphic 123" descr="Checkmark with solid fill">
            <a:extLst>
              <a:ext uri="{FF2B5EF4-FFF2-40B4-BE49-F238E27FC236}">
                <a16:creationId xmlns:a16="http://schemas.microsoft.com/office/drawing/2014/main" id="{93FE5E2B-8CAB-4113-93EC-C6024D0E09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9724" y="4950677"/>
            <a:ext cx="291471" cy="331127"/>
          </a:xfrm>
          <a:prstGeom prst="rect">
            <a:avLst/>
          </a:prstGeom>
        </p:spPr>
      </p:pic>
      <p:pic>
        <p:nvPicPr>
          <p:cNvPr id="125" name="Graphic 124" descr="Close with solid fill">
            <a:extLst>
              <a:ext uri="{FF2B5EF4-FFF2-40B4-BE49-F238E27FC236}">
                <a16:creationId xmlns:a16="http://schemas.microsoft.com/office/drawing/2014/main" id="{72662FC0-F3B6-4FA1-9A07-B612A92AC9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1528" y="5008749"/>
            <a:ext cx="291471" cy="324650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80F52D6A-5A76-4E16-A311-9DFF7011639D}"/>
              </a:ext>
            </a:extLst>
          </p:cNvPr>
          <p:cNvSpPr/>
          <p:nvPr/>
        </p:nvSpPr>
        <p:spPr>
          <a:xfrm>
            <a:off x="10668000" y="2057400"/>
            <a:ext cx="1371600" cy="914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XOR of Data bits == Parity bit??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D42B1A4-A105-4275-ACA0-66F8EDD8599A}"/>
              </a:ext>
            </a:extLst>
          </p:cNvPr>
          <p:cNvSpPr/>
          <p:nvPr/>
        </p:nvSpPr>
        <p:spPr>
          <a:xfrm>
            <a:off x="1957387" y="3542277"/>
            <a:ext cx="8222930" cy="339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3EEBADC-5F91-4CC0-84BC-9923363B109B}"/>
              </a:ext>
            </a:extLst>
          </p:cNvPr>
          <p:cNvSpPr/>
          <p:nvPr/>
        </p:nvSpPr>
        <p:spPr>
          <a:xfrm>
            <a:off x="3579019" y="2419600"/>
            <a:ext cx="1600199" cy="2567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2" name="Graphic 111" descr="Close with solid fill">
            <a:extLst>
              <a:ext uri="{FF2B5EF4-FFF2-40B4-BE49-F238E27FC236}">
                <a16:creationId xmlns:a16="http://schemas.microsoft.com/office/drawing/2014/main" id="{BFB55C12-62B2-49CA-9C7E-6FC5B31401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1756" y="2807903"/>
            <a:ext cx="291471" cy="324650"/>
          </a:xfrm>
          <a:prstGeom prst="rect">
            <a:avLst/>
          </a:prstGeom>
        </p:spPr>
      </p:pic>
      <p:pic>
        <p:nvPicPr>
          <p:cNvPr id="114" name="Graphic 113" descr="Close with solid fill">
            <a:extLst>
              <a:ext uri="{FF2B5EF4-FFF2-40B4-BE49-F238E27FC236}">
                <a16:creationId xmlns:a16="http://schemas.microsoft.com/office/drawing/2014/main" id="{73DD6554-38A7-4FF5-AD89-C5410CFAD8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5759" y="5007199"/>
            <a:ext cx="291471" cy="32465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CAE1EE5-23D9-4B93-8D3E-76F80F1AFAB1}"/>
              </a:ext>
            </a:extLst>
          </p:cNvPr>
          <p:cNvSpPr/>
          <p:nvPr/>
        </p:nvSpPr>
        <p:spPr>
          <a:xfrm>
            <a:off x="6817045" y="2413961"/>
            <a:ext cx="1600199" cy="2567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F386BCD-6ED4-4797-AF4B-93D60221E3B2}"/>
              </a:ext>
            </a:extLst>
          </p:cNvPr>
          <p:cNvSpPr/>
          <p:nvPr/>
        </p:nvSpPr>
        <p:spPr>
          <a:xfrm>
            <a:off x="1948492" y="2817767"/>
            <a:ext cx="8222930" cy="339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F6DA36-FEE8-425E-BF12-3482307A9232}"/>
              </a:ext>
            </a:extLst>
          </p:cNvPr>
          <p:cNvSpPr/>
          <p:nvPr/>
        </p:nvSpPr>
        <p:spPr>
          <a:xfrm>
            <a:off x="3585446" y="2816973"/>
            <a:ext cx="1585437" cy="3398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73C7353-58F4-48DB-8C14-9983CBFB0CAE}"/>
              </a:ext>
            </a:extLst>
          </p:cNvPr>
          <p:cNvSpPr/>
          <p:nvPr/>
        </p:nvSpPr>
        <p:spPr>
          <a:xfrm>
            <a:off x="3569732" y="3548874"/>
            <a:ext cx="1585437" cy="3398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C618FF8-8AE4-4B83-B8E0-D7FDA5E5B1D5}"/>
              </a:ext>
            </a:extLst>
          </p:cNvPr>
          <p:cNvSpPr/>
          <p:nvPr/>
        </p:nvSpPr>
        <p:spPr>
          <a:xfrm>
            <a:off x="6819416" y="3539813"/>
            <a:ext cx="1585437" cy="3398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2B4AF51-D234-4570-8DFD-EE7FE7EBBB44}"/>
              </a:ext>
            </a:extLst>
          </p:cNvPr>
          <p:cNvSpPr/>
          <p:nvPr/>
        </p:nvSpPr>
        <p:spPr>
          <a:xfrm>
            <a:off x="6822281" y="2831716"/>
            <a:ext cx="1585437" cy="3398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9A18A0-D1F4-4709-8917-E0E0316E72A6}"/>
              </a:ext>
            </a:extLst>
          </p:cNvPr>
          <p:cNvSpPr/>
          <p:nvPr/>
        </p:nvSpPr>
        <p:spPr>
          <a:xfrm>
            <a:off x="3124200" y="5562600"/>
            <a:ext cx="6416995" cy="88943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 intersections for 2-bit errors!!!</a:t>
            </a:r>
          </a:p>
          <a:p>
            <a:pPr algn="ctr"/>
            <a:r>
              <a:rPr lang="en-US" dirty="0"/>
              <a:t>Which 2 are error bits???</a:t>
            </a:r>
          </a:p>
          <a:p>
            <a:pPr algn="ctr"/>
            <a:r>
              <a:rPr lang="en-US" dirty="0"/>
              <a:t>Cannot be identified and corrected…</a:t>
            </a:r>
          </a:p>
        </p:txBody>
      </p:sp>
    </p:spTree>
    <p:extLst>
      <p:ext uri="{BB962C8B-B14F-4D97-AF65-F5344CB8AC3E}">
        <p14:creationId xmlns:p14="http://schemas.microsoft.com/office/powerpoint/2010/main" val="159258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1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26" grpId="0" animBg="1"/>
      <p:bldP spid="127" grpId="0" animBg="1"/>
      <p:bldP spid="128" grpId="0" animBg="1"/>
      <p:bldP spid="129" grpId="0" animBg="1"/>
      <p:bldP spid="132" grpId="0" animBg="1"/>
      <p:bldP spid="4" grpId="0" animBg="1"/>
      <p:bldP spid="133" grpId="0" animBg="1"/>
      <p:bldP spid="134" grpId="0" animBg="1"/>
      <p:bldP spid="135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42" y="-6114"/>
            <a:ext cx="11771630" cy="1338828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Product</a:t>
            </a:r>
            <a:r>
              <a:rPr spc="-70" dirty="0"/>
              <a:t> </a:t>
            </a:r>
            <a:r>
              <a:rPr spc="-20" dirty="0"/>
              <a:t>Code</a:t>
            </a:r>
            <a:r>
              <a:rPr lang="en-US" spc="-20" dirty="0"/>
              <a:t> (How Many Rows &amp; Columns in Matrix)</a:t>
            </a:r>
            <a:endParaRPr spc="-20" dirty="0"/>
          </a:p>
          <a:p>
            <a:pPr marL="484505" marR="5080" indent="-457200">
              <a:lnSpc>
                <a:spcPct val="100000"/>
              </a:lnSpc>
              <a:spcBef>
                <a:spcPts val="330"/>
              </a:spcBef>
              <a:buFont typeface="Wingdings"/>
              <a:buChar char=""/>
              <a:tabLst>
                <a:tab pos="484505" algn="l"/>
              </a:tabLst>
            </a:pPr>
            <a:r>
              <a:rPr sz="2400" u="none" dirty="0">
                <a:solidFill>
                  <a:srgbClr val="6F2F9F"/>
                </a:solidFill>
              </a:rPr>
              <a:t>Example</a:t>
            </a:r>
            <a:r>
              <a:rPr sz="2400" u="none" spc="260" dirty="0">
                <a:solidFill>
                  <a:srgbClr val="6F2F9F"/>
                </a:solidFill>
              </a:rPr>
              <a:t> </a:t>
            </a:r>
            <a:r>
              <a:rPr lang="en-US" sz="2400" u="none" dirty="0">
                <a:solidFill>
                  <a:srgbClr val="6F2F9F"/>
                </a:solidFill>
              </a:rPr>
              <a:t>4</a:t>
            </a:r>
            <a:r>
              <a:rPr sz="2400" u="none" dirty="0">
                <a:solidFill>
                  <a:srgbClr val="6F2F9F"/>
                </a:solidFill>
              </a:rPr>
              <a:t>:</a:t>
            </a:r>
            <a:r>
              <a:rPr lang="en-US" sz="2400" u="none" dirty="0">
                <a:solidFill>
                  <a:srgbClr val="6F2F9F"/>
                </a:solidFill>
              </a:rPr>
              <a:t> For generating codeword of (35,</a:t>
            </a:r>
            <a:r>
              <a:rPr lang="en-US" sz="2400" u="none" spc="-45" dirty="0">
                <a:solidFill>
                  <a:srgbClr val="6F2F9F"/>
                </a:solidFill>
              </a:rPr>
              <a:t> </a:t>
            </a:r>
            <a:r>
              <a:rPr lang="en-US" sz="2400" u="none" spc="-20" dirty="0">
                <a:solidFill>
                  <a:srgbClr val="6F2F9F"/>
                </a:solidFill>
              </a:rPr>
              <a:t>24)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Block</a:t>
            </a:r>
            <a:r>
              <a:rPr sz="2400" u="none" spc="-5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for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Product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lang="en-US" sz="2400" u="none" spc="-20" dirty="0">
                <a:solidFill>
                  <a:srgbClr val="6F2F9F"/>
                </a:solidFill>
              </a:rPr>
              <a:t>, how many rows and columns are required?</a:t>
            </a:r>
            <a:endParaRPr sz="2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843161"/>
              </p:ext>
            </p:extLst>
          </p:nvPr>
        </p:nvGraphicFramePr>
        <p:xfrm>
          <a:off x="365125" y="1768941"/>
          <a:ext cx="11423015" cy="296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45972" y="4809956"/>
            <a:ext cx="11142168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2400" b="1" spc="-35" dirty="0">
                <a:solidFill>
                  <a:srgbClr val="006FC0"/>
                </a:solidFill>
                <a:latin typeface="Calibri"/>
                <a:cs typeface="Calibri"/>
              </a:rPr>
              <a:t>Each row is representing a codeword of (c, c-1) even/odd parity block code </a:t>
            </a:r>
          </a:p>
          <a:p>
            <a:pPr marL="469265" indent="-456565"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2400" b="1" spc="-35" dirty="0">
                <a:solidFill>
                  <a:srgbClr val="006FC0"/>
                </a:solidFill>
                <a:latin typeface="Calibri"/>
                <a:cs typeface="Calibri"/>
              </a:rPr>
              <a:t>Each column is representing a codeword of (r, r-1) even/odd parity block code 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G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iven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 in the question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(35,24)</a:t>
            </a:r>
            <a:r>
              <a:rPr lang="en-US" sz="2400" b="1" spc="-10" dirty="0">
                <a:solidFill>
                  <a:srgbClr val="006FC0"/>
                </a:solidFill>
                <a:latin typeface="Calibri"/>
                <a:cs typeface="Calibri"/>
              </a:rPr>
              <a:t>; So, (c, c-1) 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x (r, r-1) = (35, 24)</a:t>
            </a: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c*r=35 and (c-1)*(r-1)=24</a:t>
            </a: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So, c=5 and r=7 OR c=7 and r=5.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79AFF59A-CB20-46DB-B2A4-9DFF4FAA4DE4}"/>
              </a:ext>
            </a:extLst>
          </p:cNvPr>
          <p:cNvSpPr/>
          <p:nvPr/>
        </p:nvSpPr>
        <p:spPr>
          <a:xfrm rot="5400000">
            <a:off x="5900187" y="-2541672"/>
            <a:ext cx="391626" cy="8229600"/>
          </a:xfrm>
          <a:prstGeom prst="leftBrace">
            <a:avLst>
              <a:gd name="adj1" fmla="val 75165"/>
              <a:gd name="adj2" fmla="val 49295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F8BF5-8733-4918-B8DC-0DD9E84D73D9}"/>
              </a:ext>
            </a:extLst>
          </p:cNvPr>
          <p:cNvSpPr txBox="1"/>
          <p:nvPr/>
        </p:nvSpPr>
        <p:spPr>
          <a:xfrm>
            <a:off x="5569356" y="101912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n-lt"/>
              </a:rPr>
              <a:t>c</a:t>
            </a:r>
            <a:r>
              <a:rPr lang="en-US" dirty="0">
                <a:latin typeface="+mn-lt"/>
              </a:rPr>
              <a:t> columns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7F15A38-2F8B-4358-B51E-7C66EF762315}"/>
              </a:ext>
            </a:extLst>
          </p:cNvPr>
          <p:cNvSpPr/>
          <p:nvPr/>
        </p:nvSpPr>
        <p:spPr>
          <a:xfrm>
            <a:off x="10210800" y="1807041"/>
            <a:ext cx="457200" cy="2926715"/>
          </a:xfrm>
          <a:prstGeom prst="rightBrace">
            <a:avLst>
              <a:gd name="adj1" fmla="val 61904"/>
              <a:gd name="adj2" fmla="val 43816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C3047F-FA1C-4329-BA70-0A7DE72DC684}"/>
              </a:ext>
            </a:extLst>
          </p:cNvPr>
          <p:cNvSpPr txBox="1"/>
          <p:nvPr/>
        </p:nvSpPr>
        <p:spPr>
          <a:xfrm>
            <a:off x="10744200" y="288201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n-lt"/>
              </a:rPr>
              <a:t>r</a:t>
            </a:r>
            <a:r>
              <a:rPr lang="en-US" dirty="0">
                <a:latin typeface="+mn-lt"/>
              </a:rPr>
              <a:t> rows</a:t>
            </a:r>
          </a:p>
        </p:txBody>
      </p:sp>
    </p:spTree>
    <p:extLst>
      <p:ext uri="{BB962C8B-B14F-4D97-AF65-F5344CB8AC3E}">
        <p14:creationId xmlns:p14="http://schemas.microsoft.com/office/powerpoint/2010/main" val="3134311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-62357"/>
            <a:ext cx="1162748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40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5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40" dirty="0">
                <a:solidFill>
                  <a:srgbClr val="006600"/>
                </a:solidFill>
                <a:latin typeface="Arial"/>
                <a:cs typeface="Arial"/>
              </a:rPr>
              <a:t>for</a:t>
            </a:r>
            <a:r>
              <a:rPr sz="6600" u="none" spc="-3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90" dirty="0">
                <a:solidFill>
                  <a:srgbClr val="006600"/>
                </a:solidFill>
                <a:latin typeface="Arial"/>
                <a:cs typeface="Arial"/>
              </a:rPr>
              <a:t>Repetition</a:t>
            </a:r>
            <a:r>
              <a:rPr sz="6600" u="none" spc="-2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4015" cy="3081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Basics</a:t>
            </a:r>
            <a:r>
              <a:rPr sz="3200" b="1" u="sng" spc="-8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Block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for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Repetition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These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repeat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two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more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times.</a:t>
            </a:r>
            <a:endParaRPr sz="2400">
              <a:latin typeface="Calibri"/>
              <a:cs typeface="Calibri"/>
            </a:endParaRPr>
          </a:p>
          <a:p>
            <a:pPr marL="520065" marR="5080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They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type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denoted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1),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where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each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encoded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into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codeword.</a:t>
            </a:r>
            <a:endParaRPr sz="2400">
              <a:latin typeface="Calibri"/>
              <a:cs typeface="Calibri"/>
            </a:endParaRPr>
          </a:p>
          <a:p>
            <a:pPr marL="977265" lvl="1" indent="-457200">
              <a:lnSpc>
                <a:spcPct val="100000"/>
              </a:lnSpc>
              <a:buFont typeface="Wingdings"/>
              <a:buChar char=""/>
              <a:tabLst>
                <a:tab pos="977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Example: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(4,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1)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(n,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977265" lvl="1" indent="-457200">
              <a:lnSpc>
                <a:spcPct val="100000"/>
              </a:lnSpc>
              <a:buFont typeface="Wingdings"/>
              <a:buChar char=""/>
              <a:tabLst>
                <a:tab pos="977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n=4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k=1</a:t>
            </a:r>
            <a:endParaRPr sz="2400">
              <a:latin typeface="Calibri"/>
              <a:cs typeface="Calibri"/>
            </a:endParaRPr>
          </a:p>
          <a:p>
            <a:pPr marL="977265" lvl="1" indent="-457200">
              <a:lnSpc>
                <a:spcPct val="100000"/>
              </a:lnSpc>
              <a:buFont typeface="Wingdings"/>
              <a:buChar char=""/>
              <a:tabLst>
                <a:tab pos="9772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Redundancy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Here,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redundancy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odd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Block</a:t>
            </a:r>
            <a:r>
              <a:rPr spc="-85" dirty="0"/>
              <a:t> </a:t>
            </a:r>
            <a:r>
              <a:rPr dirty="0"/>
              <a:t>Code</a:t>
            </a:r>
            <a:r>
              <a:rPr spc="-70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Repetition</a:t>
            </a:r>
            <a:r>
              <a:rPr spc="-8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0191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(3,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1)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Explain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Encoding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Decoding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Process.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939" y="983741"/>
            <a:ext cx="43199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(3,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1)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(n,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k=1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Redundancy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772" y="2126360"/>
            <a:ext cx="2654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Encoding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Process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5465" y="2555239"/>
          <a:ext cx="5132066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5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Redundancy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7962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584952" y="1113027"/>
            <a:ext cx="0" cy="4185285"/>
          </a:xfrm>
          <a:custGeom>
            <a:avLst/>
            <a:gdLst/>
            <a:ahLst/>
            <a:cxnLst/>
            <a:rect l="l" t="t" r="r" b="b"/>
            <a:pathLst>
              <a:path h="4185285">
                <a:moveTo>
                  <a:pt x="0" y="0"/>
                </a:moveTo>
                <a:lnTo>
                  <a:pt x="0" y="4185158"/>
                </a:lnTo>
              </a:path>
            </a:pathLst>
          </a:custGeom>
          <a:ln w="19050">
            <a:solidFill>
              <a:srgbClr val="538235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00521" y="1002791"/>
            <a:ext cx="5953125" cy="8343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400"/>
              </a:spcBef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Decoding</a:t>
            </a:r>
            <a:r>
              <a:rPr sz="2400" b="1" spc="-3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Process</a:t>
            </a:r>
            <a:endParaRPr sz="2400">
              <a:latin typeface="Calibri"/>
              <a:cs typeface="Calibri"/>
            </a:endParaRPr>
          </a:p>
          <a:p>
            <a:pPr marL="543560" lvl="1" indent="-457200">
              <a:lnSpc>
                <a:spcPct val="100000"/>
              </a:lnSpc>
              <a:spcBef>
                <a:spcPts val="305"/>
              </a:spcBef>
              <a:buFont typeface="Wingdings"/>
              <a:buChar char=""/>
              <a:tabLst>
                <a:tab pos="54356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Decoding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done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based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Majority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Votes.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816219" y="1932051"/>
          <a:ext cx="6219822" cy="3340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 gridSpan="3"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Received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5529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49427" y="5423103"/>
            <a:ext cx="9347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Majority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Vote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)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taken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per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Info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1234</TotalTime>
  <Words>2295</Words>
  <Application>Microsoft Office PowerPoint</Application>
  <PresentationFormat>Widescreen</PresentationFormat>
  <Paragraphs>483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Introduction to Block Codes, Type of Block Codes</vt:lpstr>
      <vt:lpstr>Block Code</vt:lpstr>
      <vt:lpstr>Basics of Channel and Codeword</vt:lpstr>
      <vt:lpstr>Basic Structure of Communication Systems</vt:lpstr>
      <vt:lpstr>Basics of Block Code</vt:lpstr>
      <vt:lpstr>Parameters of Block Code (n, k)</vt:lpstr>
      <vt:lpstr>Block Code (4, 3)</vt:lpstr>
      <vt:lpstr>Block Code for Parity Check</vt:lpstr>
      <vt:lpstr>Basics of Block Code for Parity Check</vt:lpstr>
      <vt:lpstr>Example of Block Code for Parity Check with Encoding</vt:lpstr>
      <vt:lpstr>Decoding of Block Code for Parity Check</vt:lpstr>
      <vt:lpstr>Example of Block Code for Parity Check with Decoding</vt:lpstr>
      <vt:lpstr>Block Code for Product Code</vt:lpstr>
      <vt:lpstr>Example of Block Code for Product Code (Encoding) Example 1: Given the Information I = [1 1 0 1 0 1 1 0 1 0 0 0 0 0 0 0 1 1 1 0 1 0 0 1], Structure the Block Code for Product Code (35, 24).</vt:lpstr>
      <vt:lpstr>Example of Block Code for Product Code (Decoding: 1-Bit Error) Example 2: Given the Codeword C = [1 1 0 1 1 0 1 1 0 0 1 0 0 0 1 0 1 0 0 0 1 1 1 0 1 1 0 0 1 0 0 1 0 0 1], structured by (35, 24) Block Code for Product Code. Detect and Correct the Error bit.</vt:lpstr>
      <vt:lpstr>Example of Block Code for Product Code (Decoding: 2-Bit Error) Example 3: Given the Codeword C = [1 1 0 1 1 0 1 1 1 0 1 0 0 0 1 0 1 0 0 0 1 1 1 0 1 1 0 0 1 0 0 1 0 0 1], structured by (35, 24) Block Code for Product Code. Detect and Correct the Error bits.</vt:lpstr>
      <vt:lpstr>Block Code for Product Code (How Many Rows &amp; Columns in Matrix) Example 4: For generating codeword of (35, 24) Block Code for Product Code, how many rows and columns are required?</vt:lpstr>
      <vt:lpstr>Block Code for Repetition Code</vt:lpstr>
      <vt:lpstr>Example of Block Code for Repetition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Code</dc:title>
  <cp:lastModifiedBy>Rifat Rahman</cp:lastModifiedBy>
  <cp:revision>14</cp:revision>
  <dcterms:created xsi:type="dcterms:W3CDTF">2026-02-16T15:48:50Z</dcterms:created>
  <dcterms:modified xsi:type="dcterms:W3CDTF">2026-02-20T11:11:56Z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  <property fmtid="{D5CDD505-2E9C-101B-9397-08002B2CF9AE}" pid="4" name="Producer">
    <vt:lpwstr>3-Heights™ PDF Merge Split Shell 6.12.1.11 (http://www.pdf-tools.com)</vt:lpwstr>
  </property>
</Properties>
</file>