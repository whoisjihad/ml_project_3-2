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55"/>
  </p:notesMasterIdLst>
  <p:handoutMasterIdLst>
    <p:handoutMasterId r:id="rId56"/>
  </p:handoutMasterIdLst>
  <p:sldIdLst>
    <p:sldId id="315" r:id="rId5"/>
    <p:sldId id="325" r:id="rId6"/>
    <p:sldId id="826" r:id="rId7"/>
    <p:sldId id="827" r:id="rId8"/>
    <p:sldId id="781" r:id="rId9"/>
    <p:sldId id="785" r:id="rId10"/>
    <p:sldId id="786" r:id="rId11"/>
    <p:sldId id="787" r:id="rId12"/>
    <p:sldId id="788" r:id="rId13"/>
    <p:sldId id="789" r:id="rId14"/>
    <p:sldId id="804" r:id="rId15"/>
    <p:sldId id="841" r:id="rId16"/>
    <p:sldId id="274" r:id="rId17"/>
    <p:sldId id="280" r:id="rId18"/>
    <p:sldId id="805" r:id="rId19"/>
    <p:sldId id="809" r:id="rId20"/>
    <p:sldId id="810" r:id="rId21"/>
    <p:sldId id="290" r:id="rId22"/>
    <p:sldId id="291" r:id="rId23"/>
    <p:sldId id="301" r:id="rId24"/>
    <p:sldId id="303" r:id="rId25"/>
    <p:sldId id="842" r:id="rId26"/>
    <p:sldId id="831" r:id="rId27"/>
    <p:sldId id="832" r:id="rId28"/>
    <p:sldId id="833" r:id="rId29"/>
    <p:sldId id="834" r:id="rId30"/>
    <p:sldId id="836" r:id="rId31"/>
    <p:sldId id="856" r:id="rId32"/>
    <p:sldId id="844" r:id="rId33"/>
    <p:sldId id="845" r:id="rId34"/>
    <p:sldId id="846" r:id="rId35"/>
    <p:sldId id="847" r:id="rId36"/>
    <p:sldId id="848" r:id="rId37"/>
    <p:sldId id="849" r:id="rId38"/>
    <p:sldId id="807" r:id="rId39"/>
    <p:sldId id="808" r:id="rId40"/>
    <p:sldId id="811" r:id="rId41"/>
    <p:sldId id="850" r:id="rId42"/>
    <p:sldId id="851" r:id="rId43"/>
    <p:sldId id="852" r:id="rId44"/>
    <p:sldId id="853" r:id="rId45"/>
    <p:sldId id="854" r:id="rId46"/>
    <p:sldId id="855" r:id="rId47"/>
    <p:sldId id="857" r:id="rId48"/>
    <p:sldId id="798" r:id="rId49"/>
    <p:sldId id="331" r:id="rId50"/>
    <p:sldId id="862" r:id="rId51"/>
    <p:sldId id="863" r:id="rId52"/>
    <p:sldId id="864" r:id="rId53"/>
    <p:sldId id="865" r:id="rId54"/>
  </p:sldIdLst>
  <p:sldSz cx="12192000" cy="6858000"/>
  <p:notesSz cx="6858000" cy="9144000"/>
  <p:custDataLst>
    <p:tags r:id="rId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2131" autoAdjust="0"/>
  </p:normalViewPr>
  <p:slideViewPr>
    <p:cSldViewPr snapToGrid="0">
      <p:cViewPr varScale="1">
        <p:scale>
          <a:sx n="51" d="100"/>
          <a:sy n="51" d="100"/>
        </p:scale>
        <p:origin x="1266" y="1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gs" Target="tags/tag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12/2/2025</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unsplash.com/photos/9dF7pCyaM9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unsplash.com/photos/NVWyN8GamCk"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dirty="0"/>
          </a:p>
        </p:txBody>
      </p:sp>
    </p:spTree>
    <p:extLst>
      <p:ext uri="{BB962C8B-B14F-4D97-AF65-F5344CB8AC3E}">
        <p14:creationId xmlns:p14="http://schemas.microsoft.com/office/powerpoint/2010/main" val="33560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3D5346D5-0412-0212-D7BB-A99BC4C48DE1}"/>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579CBEFA-BA6C-D678-AF96-1DA2174052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E892AC2D-ABC0-A584-E623-BFE6BBF8F8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164317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F8B788CA-0D3A-B74F-98AB-6813F1916BF6}"/>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95105C31-04F4-895D-1C44-599C9F3B8C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664F38E1-00E3-A0AB-41ED-4ECFE1848C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1858565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2157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9941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991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41" name="Google Shape;3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1300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41" name="Google Shape;3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7615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6679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18593D6E-8E5B-3D7D-277A-A2E0DE9072C6}"/>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8A733BEA-1721-F791-DEE8-E58C15FD0B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230BC418-751B-572E-1764-5FFD6B72E4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31285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33FBF3B5-2707-F43C-C476-644B0F7AB49E}"/>
            </a:ext>
          </a:extLst>
        </p:cNvPr>
        <p:cNvGrpSpPr/>
        <p:nvPr/>
      </p:nvGrpSpPr>
      <p:grpSpPr>
        <a:xfrm>
          <a:off x="0" y="0"/>
          <a:ext cx="0" cy="0"/>
          <a:chOff x="0" y="0"/>
          <a:chExt cx="0" cy="0"/>
        </a:xfrm>
      </p:grpSpPr>
      <p:sp>
        <p:nvSpPr>
          <p:cNvPr id="63" name="Google Shape;63;p2:notes">
            <a:extLst>
              <a:ext uri="{FF2B5EF4-FFF2-40B4-BE49-F238E27FC236}">
                <a16:creationId xmlns:a16="http://schemas.microsoft.com/office/drawing/2014/main" id="{396396EC-FD13-DFCB-6C2C-BBDE54D630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a:extLst>
              <a:ext uri="{FF2B5EF4-FFF2-40B4-BE49-F238E27FC236}">
                <a16:creationId xmlns:a16="http://schemas.microsoft.com/office/drawing/2014/main" id="{628D5A64-FFB4-ABE5-F1FB-8EB74C849B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791949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0e9282fa1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20e9282fa1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2ed3a8fd3b_1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22ed3a8fd3b_1_2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600"/>
              </a:spcBef>
              <a:spcAft>
                <a:spcPts val="0"/>
              </a:spcAft>
              <a:buSzPts val="1100"/>
              <a:buNone/>
            </a:pPr>
            <a:endParaRPr dirty="0">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1E8D0382-E246-92DD-F406-3E9B3680B398}"/>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8957C720-5F09-D72E-E1E5-B82E1B1A2C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B49BF1F6-333F-BDC1-6E26-9DF546E440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625404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A3C97A7F-3756-DEC0-B22A-CA1FB52BA019}"/>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BFE69FA3-3AA9-4D9B-9541-22EEE434D9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83D9E06E-5AA5-3919-4C83-E927C5E05D3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186240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82FB0DBC-FA2E-279E-3F81-8372B012BA4C}"/>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0A48A986-4207-60D6-1CE7-204A24026C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E2C2A873-42C3-E397-36C8-78CA868C95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73270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chemeClr val="dk1"/>
              </a:buClr>
              <a:buSzPts val="1100"/>
              <a:buFont typeface="Arial"/>
              <a:buChar char="●"/>
            </a:pPr>
            <a:r>
              <a:rPr lang="en-US" dirty="0"/>
              <a:t>From the reading – creating questions: </a:t>
            </a:r>
          </a:p>
          <a:p>
            <a:pPr marL="914400" lvl="1" indent="-298450" algn="l" rtl="0">
              <a:lnSpc>
                <a:spcPct val="100000"/>
              </a:lnSpc>
              <a:spcBef>
                <a:spcPts val="0"/>
              </a:spcBef>
              <a:spcAft>
                <a:spcPts val="0"/>
              </a:spcAft>
              <a:buSzPts val="1100"/>
              <a:buChar char="○"/>
            </a:pPr>
            <a:r>
              <a:rPr lang="en-US" dirty="0"/>
              <a:t>Identification of the domain</a:t>
            </a:r>
          </a:p>
          <a:p>
            <a:pPr marL="914400" lvl="1" indent="-298450" algn="l" rtl="0">
              <a:lnSpc>
                <a:spcPct val="100000"/>
              </a:lnSpc>
              <a:spcBef>
                <a:spcPts val="0"/>
              </a:spcBef>
              <a:spcAft>
                <a:spcPts val="0"/>
              </a:spcAft>
              <a:buSzPts val="1100"/>
              <a:buChar char="○"/>
            </a:pPr>
            <a:r>
              <a:rPr lang="en-US" dirty="0"/>
              <a:t>Leadoff Question</a:t>
            </a:r>
          </a:p>
          <a:p>
            <a:pPr marL="914400" lvl="1" indent="-298450" algn="l" rtl="0">
              <a:lnSpc>
                <a:spcPct val="100000"/>
              </a:lnSpc>
              <a:spcBef>
                <a:spcPts val="0"/>
              </a:spcBef>
              <a:spcAft>
                <a:spcPts val="0"/>
              </a:spcAft>
              <a:buSzPts val="1100"/>
              <a:buChar char="○"/>
            </a:pPr>
            <a:r>
              <a:rPr lang="en-US" dirty="0"/>
              <a:t>Covert Categories</a:t>
            </a:r>
          </a:p>
          <a:p>
            <a:pPr marL="914400" lvl="1" indent="-298450" algn="l" rtl="0">
              <a:lnSpc>
                <a:spcPct val="100000"/>
              </a:lnSpc>
              <a:spcBef>
                <a:spcPts val="0"/>
              </a:spcBef>
              <a:spcAft>
                <a:spcPts val="0"/>
              </a:spcAft>
              <a:buSzPts val="1100"/>
              <a:buChar char="○"/>
            </a:pPr>
            <a:r>
              <a:rPr lang="en-US" dirty="0"/>
              <a:t>Follow-up Questions</a:t>
            </a:r>
          </a:p>
          <a:p>
            <a:pPr marL="914400" lvl="1" indent="-298450" algn="l" rtl="0">
              <a:lnSpc>
                <a:spcPct val="100000"/>
              </a:lnSpc>
              <a:spcBef>
                <a:spcPts val="0"/>
              </a:spcBef>
              <a:spcAft>
                <a:spcPts val="0"/>
              </a:spcAft>
              <a:buSzPts val="1100"/>
              <a:buChar char="○"/>
            </a:pPr>
            <a:r>
              <a:rPr lang="en-US" i="1" dirty="0"/>
              <a:t>Magic Words</a:t>
            </a:r>
            <a:endParaRPr lang="en-US" dirty="0"/>
          </a:p>
          <a:p>
            <a:pPr marL="457200" marR="0" lvl="0" indent="-298450" algn="l" rtl="0">
              <a:lnSpc>
                <a:spcPct val="100000"/>
              </a:lnSpc>
              <a:spcBef>
                <a:spcPts val="0"/>
              </a:spcBef>
              <a:spcAft>
                <a:spcPts val="0"/>
              </a:spcAft>
              <a:buClr>
                <a:schemeClr val="dk1"/>
              </a:buClr>
              <a:buSzPts val="1100"/>
              <a:buFont typeface="Arial"/>
              <a:buNone/>
            </a:pPr>
            <a:endParaRPr lang="en-US" dirty="0">
              <a:solidFill>
                <a:srgbClr val="000000"/>
              </a:solidFill>
            </a:endParaRPr>
          </a:p>
          <a:p>
            <a:pPr marL="457200" marR="0" lvl="0" indent="-298450" algn="l" rtl="0">
              <a:lnSpc>
                <a:spcPct val="100000"/>
              </a:lnSpc>
              <a:spcBef>
                <a:spcPts val="0"/>
              </a:spcBef>
              <a:spcAft>
                <a:spcPts val="0"/>
              </a:spcAft>
              <a:buClr>
                <a:schemeClr val="dk1"/>
              </a:buClr>
              <a:buSzPts val="1100"/>
              <a:buFont typeface="Arial"/>
              <a:buNone/>
            </a:pPr>
            <a:r>
              <a:rPr lang="en-US" dirty="0">
                <a:solidFill>
                  <a:srgbClr val="000000"/>
                </a:solidFill>
              </a:rPr>
              <a:t>You have to come in with lots of knowledge, about the person, about the topic. </a:t>
            </a:r>
            <a:r>
              <a:rPr lang="en-US" dirty="0">
                <a:solidFill>
                  <a:schemeClr val="dk1"/>
                </a:solidFill>
                <a:latin typeface="Arial"/>
                <a:ea typeface="Arial"/>
                <a:cs typeface="Arial"/>
                <a:sym typeface="Arial"/>
              </a:rPr>
              <a:t>Interviewees only have so much time so use it wisely. Don’t waste it by finding out information was available elsewhere; you want to get beyond information that’s publicly available</a:t>
            </a:r>
            <a:r>
              <a:rPr lang="en-US" dirty="0">
                <a:solidFill>
                  <a:srgbClr val="000000"/>
                </a:solidFill>
                <a:latin typeface="Arial"/>
                <a:ea typeface="Arial"/>
                <a:cs typeface="Arial"/>
                <a:sym typeface="Arial"/>
              </a:rPr>
              <a:t>.</a:t>
            </a:r>
            <a:endParaRPr lang="en-US" dirty="0">
              <a:solidFill>
                <a:srgbClr val="000000"/>
              </a:solidFill>
            </a:endParaRPr>
          </a:p>
          <a:p>
            <a:pPr marL="457200" lvl="0" indent="-298450" algn="l" rtl="0">
              <a:lnSpc>
                <a:spcPct val="100000"/>
              </a:lnSpc>
              <a:spcBef>
                <a:spcPts val="0"/>
              </a:spcBef>
              <a:spcAft>
                <a:spcPts val="0"/>
              </a:spcAft>
              <a:buSzPts val="1100"/>
              <a:buNone/>
            </a:pPr>
            <a:endParaRPr lang="en-US" sz="1100" dirty="0">
              <a:solidFill>
                <a:srgbClr val="666666"/>
              </a:solidFill>
              <a:latin typeface="Raleway"/>
              <a:ea typeface="Raleway"/>
              <a:cs typeface="Raleway"/>
              <a:sym typeface="Raleway"/>
            </a:endParaRPr>
          </a:p>
          <a:p>
            <a:pPr marL="457200" lvl="0" indent="-298450" algn="l" rtl="0">
              <a:lnSpc>
                <a:spcPct val="100000"/>
              </a:lnSpc>
              <a:spcBef>
                <a:spcPts val="0"/>
              </a:spcBef>
              <a:spcAft>
                <a:spcPts val="0"/>
              </a:spcAft>
              <a:buSzPts val="1100"/>
              <a:buNone/>
            </a:pPr>
            <a:r>
              <a:rPr lang="en-US" sz="1100" dirty="0"/>
              <a:t>WHY prepare for an interview </a:t>
            </a:r>
            <a:endParaRPr lang="en-US" dirty="0"/>
          </a:p>
          <a:p>
            <a:pPr marL="457200" lvl="0" indent="-298450" algn="l" rtl="0">
              <a:lnSpc>
                <a:spcPct val="100000"/>
              </a:lnSpc>
              <a:spcBef>
                <a:spcPts val="0"/>
              </a:spcBef>
              <a:spcAft>
                <a:spcPts val="0"/>
              </a:spcAft>
              <a:buSzPts val="1100"/>
              <a:buNone/>
            </a:pPr>
            <a:r>
              <a:rPr lang="en-US" sz="1100" dirty="0"/>
              <a:t>Time with users is precious; you need to make the most of it! While you must always allow room for the spontaneous conversation. it is imperative to plan your interviews. You may not get to every question you prepare, but you should come in with a plan for engagement. </a:t>
            </a:r>
            <a:endParaRPr lang="en-US" dirty="0"/>
          </a:p>
          <a:p>
            <a:pPr marL="457200" marR="0" lvl="0" indent="-298450" algn="l" rtl="0">
              <a:lnSpc>
                <a:spcPct val="100000"/>
              </a:lnSpc>
              <a:spcBef>
                <a:spcPts val="220"/>
              </a:spcBef>
              <a:spcAft>
                <a:spcPts val="0"/>
              </a:spcAft>
              <a:buClr>
                <a:schemeClr val="dk1"/>
              </a:buClr>
              <a:buSzPts val="1100"/>
              <a:buFont typeface="Arial"/>
              <a:buNone/>
            </a:pPr>
            <a:r>
              <a:rPr lang="en-US" dirty="0">
                <a:solidFill>
                  <a:schemeClr val="dk1"/>
                </a:solidFill>
                <a:latin typeface="Arial"/>
                <a:ea typeface="Arial"/>
                <a:cs typeface="Arial"/>
                <a:sym typeface="Arial"/>
              </a:rPr>
              <a:t>Take a few moments to make sure that you leave room in your planning to ask plenty of “why?” questions, plenty of “tell me about the last time you …?” questions, and plenty of questions that are directed at how the user feels.</a:t>
            </a:r>
            <a:endParaRPr lang="en-US" dirty="0"/>
          </a:p>
          <a:p>
            <a:pPr marL="457200" lvl="0" indent="-298450" algn="l" rtl="0">
              <a:lnSpc>
                <a:spcPct val="100000"/>
              </a:lnSpc>
              <a:spcBef>
                <a:spcPts val="0"/>
              </a:spcBef>
              <a:spcAft>
                <a:spcPts val="0"/>
              </a:spcAft>
              <a:buSzPts val="1100"/>
              <a:buNone/>
            </a:pPr>
            <a:endParaRPr lang="en-US" sz="1100" dirty="0">
              <a:solidFill>
                <a:srgbClr val="666666"/>
              </a:solidFill>
              <a:latin typeface="Raleway"/>
              <a:ea typeface="Raleway"/>
              <a:cs typeface="Raleway"/>
              <a:sym typeface="Raleway"/>
            </a:endParaRPr>
          </a:p>
          <a:p>
            <a:pPr marL="457200" lvl="0" indent="-298450" algn="l" rtl="0">
              <a:lnSpc>
                <a:spcPct val="100000"/>
              </a:lnSpc>
              <a:spcBef>
                <a:spcPts val="0"/>
              </a:spcBef>
              <a:spcAft>
                <a:spcPts val="0"/>
              </a:spcAft>
              <a:buSzPts val="1100"/>
              <a:buNone/>
            </a:pPr>
            <a:r>
              <a:rPr lang="en-US" sz="1100" dirty="0">
                <a:solidFill>
                  <a:srgbClr val="666666"/>
                </a:solidFill>
                <a:latin typeface="Raleway"/>
                <a:ea typeface="Raleway"/>
                <a:cs typeface="Raleway"/>
                <a:sym typeface="Raleway"/>
              </a:rPr>
              <a:t>The interviews should happen in the context of the target activity  </a:t>
            </a:r>
            <a:endParaRPr lang="en-US" dirty="0"/>
          </a:p>
          <a:p>
            <a:pPr marL="457200" lvl="0" indent="-298450" algn="l" rtl="0">
              <a:lnSpc>
                <a:spcPct val="100000"/>
              </a:lnSpc>
              <a:spcBef>
                <a:spcPts val="0"/>
              </a:spcBef>
              <a:spcAft>
                <a:spcPts val="0"/>
              </a:spcAft>
              <a:buSzPts val="1100"/>
              <a:buNone/>
            </a:pPr>
            <a:r>
              <a:rPr lang="en-US" dirty="0">
                <a:solidFill>
                  <a:srgbClr val="000000"/>
                </a:solidFill>
              </a:rPr>
              <a:t>Ask them where they want to be interviewed, look around and decide what to ask to proceed the discussion, powerful way to tell stories, tell me about this picture, </a:t>
            </a:r>
            <a:endParaRPr lang="en-US" dirty="0"/>
          </a:p>
          <a:p>
            <a:pPr marL="457200" lvl="0" indent="-298450" algn="l" rtl="0">
              <a:lnSpc>
                <a:spcPct val="100000"/>
              </a:lnSpc>
              <a:spcBef>
                <a:spcPts val="0"/>
              </a:spcBef>
              <a:spcAft>
                <a:spcPts val="0"/>
              </a:spcAft>
              <a:buSzPts val="1100"/>
              <a:buNone/>
            </a:pPr>
            <a:r>
              <a:rPr lang="en-US" b="1" dirty="0"/>
              <a:t>Context helps explain the inconsistencies</a:t>
            </a:r>
            <a:r>
              <a:rPr lang="en-US" dirty="0"/>
              <a:t> </a:t>
            </a:r>
            <a:r>
              <a:rPr lang="en-US" b="1" dirty="0"/>
              <a:t>between what people think, say, and do </a:t>
            </a:r>
            <a:endParaRPr lang="en-US" dirty="0"/>
          </a:p>
          <a:p>
            <a:pPr marL="457200" lvl="0" indent="-298450" algn="l" rtl="0">
              <a:lnSpc>
                <a:spcPct val="100000"/>
              </a:lnSpc>
              <a:spcBef>
                <a:spcPts val="0"/>
              </a:spcBef>
              <a:spcAft>
                <a:spcPts val="0"/>
              </a:spcAft>
              <a:buSzPts val="1100"/>
              <a:buNone/>
            </a:pPr>
            <a:r>
              <a:rPr lang="en-US" b="0" i="0" dirty="0"/>
              <a:t>“If you want to understand how a lion hunts, don’t go to the zoo. Go to the jungle.”  -FRANK CHIMERO </a:t>
            </a:r>
            <a:endParaRPr lang="en-US" b="0" i="0" dirty="0">
              <a:solidFill>
                <a:srgbClr val="000000"/>
              </a:solidFill>
            </a:endParaRPr>
          </a:p>
          <a:p>
            <a:pPr marL="457200" lvl="0" indent="-298450" algn="l" rtl="0">
              <a:lnSpc>
                <a:spcPct val="100000"/>
              </a:lnSpc>
              <a:spcBef>
                <a:spcPts val="0"/>
              </a:spcBef>
              <a:spcAft>
                <a:spcPts val="0"/>
              </a:spcAft>
              <a:buSzPts val="1100"/>
              <a:buNone/>
            </a:pPr>
            <a:endParaRPr lang="en-US" sz="1100" dirty="0"/>
          </a:p>
          <a:p>
            <a:pPr marL="457200" lvl="0" indent="-298450" algn="l" rtl="0">
              <a:lnSpc>
                <a:spcPct val="100000"/>
              </a:lnSpc>
              <a:spcBef>
                <a:spcPts val="0"/>
              </a:spcBef>
              <a:spcAft>
                <a:spcPts val="0"/>
              </a:spcAft>
              <a:buSzPts val="1100"/>
              <a:buNone/>
            </a:pPr>
            <a:r>
              <a:rPr lang="en-US" sz="1100" b="1" dirty="0">
                <a:solidFill>
                  <a:srgbClr val="666666"/>
                </a:solidFill>
                <a:latin typeface="Raleway"/>
                <a:ea typeface="Raleway"/>
                <a:cs typeface="Raleway"/>
                <a:sym typeface="Raleway"/>
              </a:rPr>
              <a:t>Make sure you’re prepared to capture</a:t>
            </a:r>
            <a:r>
              <a:rPr lang="en-US" sz="1100" dirty="0">
                <a:solidFill>
                  <a:srgbClr val="666666"/>
                </a:solidFill>
                <a:latin typeface="Raleway"/>
                <a:ea typeface="Raleway"/>
                <a:cs typeface="Raleway"/>
                <a:sym typeface="Raleway"/>
              </a:rPr>
              <a:t>. If you’re not interviewing in pairs, you should use a voice recorder (ask for permission)—it is impossible to properly engage a user and take detailed notes at the same time. </a:t>
            </a:r>
            <a:endParaRPr lang="en-US" dirty="0"/>
          </a:p>
          <a:p>
            <a:pPr marL="457200" lvl="0" indent="-298450" algn="l" rtl="0">
              <a:lnSpc>
                <a:spcPct val="100000"/>
              </a:lnSpc>
              <a:spcBef>
                <a:spcPts val="0"/>
              </a:spcBef>
              <a:spcAft>
                <a:spcPts val="0"/>
              </a:spcAft>
              <a:buSzPts val="1100"/>
              <a:buNone/>
            </a:pPr>
            <a:r>
              <a:rPr lang="en-US" dirty="0">
                <a:solidFill>
                  <a:srgbClr val="000000"/>
                </a:solidFill>
              </a:rPr>
              <a:t>Prevent intimidating environment! (as the interviewer, YOU are in the position of power). Make them feel comfortable</a:t>
            </a:r>
          </a:p>
          <a:p>
            <a:pPr marL="457200" lvl="0" indent="-298450" algn="l" rtl="0">
              <a:lnSpc>
                <a:spcPct val="100000"/>
              </a:lnSpc>
              <a:spcBef>
                <a:spcPts val="0"/>
              </a:spcBef>
              <a:spcAft>
                <a:spcPts val="0"/>
              </a:spcAft>
              <a:buSzPts val="1100"/>
              <a:buNone/>
            </a:pPr>
            <a:endParaRPr lang="en-US" dirty="0">
              <a:solidFill>
                <a:srgbClr val="000000"/>
              </a:solidFill>
            </a:endParaRPr>
          </a:p>
          <a:p>
            <a:pPr marL="457200" lvl="0" indent="-298450" algn="l" rtl="0">
              <a:lnSpc>
                <a:spcPct val="100000"/>
              </a:lnSpc>
              <a:spcBef>
                <a:spcPts val="0"/>
              </a:spcBef>
              <a:spcAft>
                <a:spcPts val="0"/>
              </a:spcAft>
              <a:buSzPts val="1100"/>
              <a:buNone/>
            </a:pPr>
            <a:endParaRPr lang="en-US" dirty="0">
              <a:solidFill>
                <a:srgbClr val="000000"/>
              </a:solidFill>
            </a:endParaRPr>
          </a:p>
          <a:p>
            <a:pPr marL="457200" lvl="0" indent="-298450" algn="l" rtl="0">
              <a:lnSpc>
                <a:spcPct val="100000"/>
              </a:lnSpc>
              <a:spcBef>
                <a:spcPts val="0"/>
              </a:spcBef>
              <a:spcAft>
                <a:spcPts val="0"/>
              </a:spcAft>
              <a:buSzPts val="1100"/>
              <a:buNone/>
            </a:pPr>
            <a:r>
              <a:rPr lang="en-US" u="sng" dirty="0">
                <a:solidFill>
                  <a:schemeClr val="hlink"/>
                </a:solidFill>
                <a:hlinkClick r:id="rId3"/>
              </a:rPr>
              <a:t>https://unsplash.com/photos/9dF7pCyaM9s</a:t>
            </a:r>
            <a:r>
              <a:rPr lang="en-US" dirty="0">
                <a:solidFill>
                  <a:srgbClr val="000000"/>
                </a:solidFill>
              </a:rPr>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0e9282fa1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g20e9282fa1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600"/>
              </a:spcBef>
              <a:spcAft>
                <a:spcPts val="0"/>
              </a:spcAft>
              <a:buSzPts val="1100"/>
              <a:buNone/>
            </a:pPr>
            <a:r>
              <a:rPr lang="en-US" sz="1100"/>
              <a:t>Do not rush into the questions, care about the topic and the participant.</a:t>
            </a:r>
            <a:endParaRPr>
              <a:solidFill>
                <a:schemeClr val="dk1"/>
              </a:solidFill>
            </a:endParaRPr>
          </a:p>
          <a:p>
            <a:pPr marL="0" lvl="0" indent="0" algn="l" rtl="0">
              <a:lnSpc>
                <a:spcPct val="100000"/>
              </a:lnSpc>
              <a:spcBef>
                <a:spcPts val="600"/>
              </a:spcBef>
              <a:spcAft>
                <a:spcPts val="0"/>
              </a:spcAft>
              <a:buClr>
                <a:schemeClr val="dk1"/>
              </a:buClr>
              <a:buSzPts val="1210"/>
              <a:buNone/>
            </a:pPr>
            <a:r>
              <a:rPr lang="en-US" sz="1100">
                <a:solidFill>
                  <a:schemeClr val="dk1"/>
                </a:solidFill>
              </a:rPr>
              <a:t>Introduce yourself, share something about yourself, but make sure to move the focus to the participant. Watch for their body language to relax before you move on.</a:t>
            </a:r>
            <a:endParaRPr/>
          </a:p>
          <a:p>
            <a:pPr marL="0" lvl="0" indent="0" algn="l" rtl="0">
              <a:lnSpc>
                <a:spcPct val="100000"/>
              </a:lnSpc>
              <a:spcBef>
                <a:spcPts val="600"/>
              </a:spcBef>
              <a:spcAft>
                <a:spcPts val="0"/>
              </a:spcAft>
              <a:buClr>
                <a:schemeClr val="dk1"/>
              </a:buClr>
              <a:buSzPts val="1210"/>
              <a:buNone/>
            </a:pPr>
            <a:r>
              <a:rPr lang="en-US" sz="1100">
                <a:solidFill>
                  <a:schemeClr val="dk1"/>
                </a:solidFill>
              </a:rPr>
              <a:t>Be charming, positive, and reassuring. </a:t>
            </a:r>
            <a:r>
              <a:rPr lang="en-US" sz="1100">
                <a:solidFill>
                  <a:schemeClr val="dk1"/>
                </a:solidFill>
                <a:latin typeface="Arial"/>
                <a:ea typeface="Arial"/>
                <a:cs typeface="Arial"/>
                <a:sym typeface="Arial"/>
              </a:rPr>
              <a:t>Be </a:t>
            </a:r>
            <a:r>
              <a:rPr lang="en-US" sz="1100">
                <a:solidFill>
                  <a:srgbClr val="666666"/>
                </a:solidFill>
                <a:latin typeface="Raleway"/>
                <a:ea typeface="Raleway"/>
                <a:cs typeface="Raleway"/>
                <a:sym typeface="Raleway"/>
              </a:rPr>
              <a:t>genuinely interested in what they are saying. </a:t>
            </a:r>
            <a:endParaRPr/>
          </a:p>
          <a:p>
            <a:pPr marL="0" lvl="0" indent="0" algn="l" rtl="0">
              <a:lnSpc>
                <a:spcPct val="100000"/>
              </a:lnSpc>
              <a:spcBef>
                <a:spcPts val="600"/>
              </a:spcBef>
              <a:spcAft>
                <a:spcPts val="0"/>
              </a:spcAft>
              <a:buClr>
                <a:schemeClr val="dk1"/>
              </a:buClr>
              <a:buSzPts val="1210"/>
              <a:buNone/>
            </a:pPr>
            <a:r>
              <a:rPr lang="en-US" sz="1100">
                <a:solidFill>
                  <a:srgbClr val="666666"/>
                </a:solidFill>
                <a:latin typeface="Raleway"/>
                <a:ea typeface="Raleway"/>
                <a:cs typeface="Raleway"/>
                <a:sym typeface="Raleway"/>
              </a:rPr>
              <a:t>A good warm up question: tell me about the first time you did something that you loved </a:t>
            </a:r>
            <a:endParaRPr/>
          </a:p>
          <a:p>
            <a:pPr marL="457200" lvl="0" indent="-298450" algn="l" rtl="0">
              <a:lnSpc>
                <a:spcPct val="100000"/>
              </a:lnSpc>
              <a:spcBef>
                <a:spcPts val="600"/>
              </a:spcBef>
              <a:spcAft>
                <a:spcPts val="0"/>
              </a:spcAft>
              <a:buSzPts val="1100"/>
              <a:buNone/>
            </a:pPr>
            <a:endParaRPr sz="1100">
              <a:solidFill>
                <a:srgbClr val="FFFFFF"/>
              </a:solidFill>
              <a:latin typeface="Arial"/>
              <a:ea typeface="Arial"/>
              <a:cs typeface="Arial"/>
              <a:sym typeface="Arial"/>
            </a:endParaRPr>
          </a:p>
          <a:p>
            <a:pPr marL="457200" marR="0" lvl="0" indent="-298450" algn="l" rtl="0">
              <a:lnSpc>
                <a:spcPct val="100000"/>
              </a:lnSpc>
              <a:spcBef>
                <a:spcPts val="220"/>
              </a:spcBef>
              <a:spcAft>
                <a:spcPts val="0"/>
              </a:spcAft>
              <a:buClr>
                <a:schemeClr val="dk1"/>
              </a:buClr>
              <a:buSzPts val="1100"/>
              <a:buFont typeface="Arial"/>
              <a:buNone/>
            </a:pPr>
            <a:r>
              <a:rPr lang="en-US" sz="1100">
                <a:solidFill>
                  <a:srgbClr val="666666"/>
                </a:solidFill>
                <a:latin typeface="Raleway"/>
                <a:ea typeface="Raleway"/>
                <a:cs typeface="Raleway"/>
                <a:sym typeface="Raleway"/>
              </a:rPr>
              <a:t>Whether or not the stories people tell are true, they reveal how they think about the world. Ask questions that get people telling stories. If not naturally storyteller: tell me the story of your last time …, can you tell me what happened. </a:t>
            </a:r>
            <a:r>
              <a:rPr lang="en-US" sz="1100"/>
              <a:t>Encourage storytelling by often asking ‘why’ or saying ‘tell me more’</a:t>
            </a:r>
            <a:endParaRPr/>
          </a:p>
          <a:p>
            <a:pPr marL="457200" lvl="0" indent="-298450" algn="l" rtl="0">
              <a:lnSpc>
                <a:spcPct val="100000"/>
              </a:lnSpc>
              <a:spcBef>
                <a:spcPts val="220"/>
              </a:spcBef>
              <a:spcAft>
                <a:spcPts val="0"/>
              </a:spcAft>
              <a:buSzPts val="1100"/>
              <a:buNone/>
            </a:pPr>
            <a:r>
              <a:rPr lang="en-US" sz="1100"/>
              <a:t>Help them be specific. Do not ask “what is your average day” instead ask “what happened the last time…”</a:t>
            </a:r>
            <a:endParaRPr/>
          </a:p>
          <a:p>
            <a:pPr marL="457200" lvl="0" indent="-298450" algn="l" rtl="0">
              <a:lnSpc>
                <a:spcPct val="100000"/>
              </a:lnSpc>
              <a:spcBef>
                <a:spcPts val="220"/>
              </a:spcBef>
              <a:spcAft>
                <a:spcPts val="0"/>
              </a:spcAft>
              <a:buSzPts val="1100"/>
              <a:buNone/>
            </a:pPr>
            <a:r>
              <a:rPr lang="en-US" sz="1100"/>
              <a:t>Follow up by asking:</a:t>
            </a:r>
            <a:endParaRPr/>
          </a:p>
          <a:p>
            <a:pPr marL="457200" lvl="0" indent="-298450" algn="l" rtl="0">
              <a:lnSpc>
                <a:spcPct val="100000"/>
              </a:lnSpc>
              <a:spcBef>
                <a:spcPts val="220"/>
              </a:spcBef>
              <a:spcAft>
                <a:spcPts val="0"/>
              </a:spcAft>
              <a:buSzPts val="1100"/>
              <a:buChar char="●"/>
            </a:pPr>
            <a:r>
              <a:rPr lang="en-US" sz="1100"/>
              <a:t>Can you tell me about?</a:t>
            </a:r>
            <a:endParaRPr/>
          </a:p>
          <a:p>
            <a:pPr marL="457200" lvl="0" indent="-298450" algn="l" rtl="0">
              <a:lnSpc>
                <a:spcPct val="100000"/>
              </a:lnSpc>
              <a:spcBef>
                <a:spcPts val="220"/>
              </a:spcBef>
              <a:spcAft>
                <a:spcPts val="0"/>
              </a:spcAft>
              <a:buSzPts val="1100"/>
              <a:buChar char="●"/>
            </a:pPr>
            <a:r>
              <a:rPr lang="en-US" sz="1100"/>
              <a:t>Say more…</a:t>
            </a:r>
            <a:endParaRPr/>
          </a:p>
          <a:p>
            <a:pPr marL="457200" lvl="0" indent="-298450" algn="l" rtl="0">
              <a:lnSpc>
                <a:spcPct val="100000"/>
              </a:lnSpc>
              <a:spcBef>
                <a:spcPts val="220"/>
              </a:spcBef>
              <a:spcAft>
                <a:spcPts val="0"/>
              </a:spcAft>
              <a:buSzPts val="1100"/>
              <a:buChar char="●"/>
            </a:pPr>
            <a:r>
              <a:rPr lang="en-US" sz="1100"/>
              <a:t>Why?</a:t>
            </a:r>
            <a:endParaRPr/>
          </a:p>
          <a:p>
            <a:pPr marL="457200" lvl="0" indent="-298450" algn="l" rtl="0">
              <a:lnSpc>
                <a:spcPct val="100000"/>
              </a:lnSpc>
              <a:spcBef>
                <a:spcPts val="600"/>
              </a:spcBef>
              <a:spcAft>
                <a:spcPts val="0"/>
              </a:spcAft>
              <a:buSzPts val="1100"/>
              <a:buNone/>
            </a:pPr>
            <a:endParaRPr sz="1100">
              <a:solidFill>
                <a:srgbClr val="FFFFFF"/>
              </a:solidFill>
            </a:endParaRPr>
          </a:p>
          <a:p>
            <a:pPr marL="457200" lvl="0" indent="-298450" algn="l" rtl="0">
              <a:lnSpc>
                <a:spcPct val="150000"/>
              </a:lnSpc>
              <a:spcBef>
                <a:spcPts val="0"/>
              </a:spcBef>
              <a:spcAft>
                <a:spcPts val="0"/>
              </a:spcAft>
              <a:buSzPts val="1100"/>
              <a:buNone/>
            </a:pPr>
            <a:r>
              <a:rPr lang="en-US" sz="1100">
                <a:solidFill>
                  <a:srgbClr val="000000"/>
                </a:solidFill>
              </a:rPr>
              <a:t>Wrapping up</a:t>
            </a:r>
            <a:endParaRPr/>
          </a:p>
          <a:p>
            <a:pPr marL="457200" lvl="0" indent="-298450" algn="l" rtl="0">
              <a:lnSpc>
                <a:spcPct val="150000"/>
              </a:lnSpc>
              <a:spcBef>
                <a:spcPts val="0"/>
              </a:spcBef>
              <a:spcAft>
                <a:spcPts val="0"/>
              </a:spcAft>
              <a:buSzPts val="1100"/>
              <a:buFont typeface="Arial"/>
              <a:buNone/>
            </a:pPr>
            <a:r>
              <a:rPr lang="en-US" sz="1100"/>
              <a:t>Look for any conflict or inconsistency (based on your notes), and ask for explanation.</a:t>
            </a:r>
            <a:endParaRPr/>
          </a:p>
          <a:p>
            <a:pPr marL="457200" lvl="0" indent="-298450" algn="l" rtl="0">
              <a:lnSpc>
                <a:spcPct val="100000"/>
              </a:lnSpc>
              <a:spcBef>
                <a:spcPts val="0"/>
              </a:spcBef>
              <a:spcAft>
                <a:spcPts val="0"/>
              </a:spcAft>
              <a:buSzPts val="1100"/>
              <a:buNone/>
            </a:pPr>
            <a:r>
              <a:rPr lang="en-US" sz="1100"/>
              <a:t>Go back to any points of conflict or inconsistency (based on your notes), probe for resolution or explanation. </a:t>
            </a:r>
            <a:endParaRPr/>
          </a:p>
          <a:p>
            <a:pPr marL="457200" lvl="0" indent="-298450" algn="l" rtl="0">
              <a:lnSpc>
                <a:spcPct val="100000"/>
              </a:lnSpc>
              <a:spcBef>
                <a:spcPts val="0"/>
              </a:spcBef>
              <a:spcAft>
                <a:spcPts val="0"/>
              </a:spcAft>
              <a:buSzPts val="1100"/>
              <a:buNone/>
            </a:pPr>
            <a:r>
              <a:rPr lang="en-US" sz="1100"/>
              <a:t>Ask follow up questions on any topic that requires more detail or information. </a:t>
            </a:r>
            <a:endParaRPr/>
          </a:p>
          <a:p>
            <a:pPr marL="457200" lvl="0" indent="-298450" algn="l" rtl="0">
              <a:lnSpc>
                <a:spcPct val="150000"/>
              </a:lnSpc>
              <a:spcBef>
                <a:spcPts val="0"/>
              </a:spcBef>
              <a:spcAft>
                <a:spcPts val="0"/>
              </a:spcAft>
              <a:buSzPts val="1100"/>
              <a:buFont typeface="Arial"/>
              <a:buNone/>
            </a:pPr>
            <a:r>
              <a:rPr lang="en-US" sz="1100"/>
              <a:t>Ask for follow up interview if necessary</a:t>
            </a:r>
            <a:endParaRPr/>
          </a:p>
          <a:p>
            <a:pPr marL="457200" lvl="0" indent="-298450" algn="l" rtl="0">
              <a:lnSpc>
                <a:spcPct val="150000"/>
              </a:lnSpc>
              <a:spcBef>
                <a:spcPts val="0"/>
              </a:spcBef>
              <a:spcAft>
                <a:spcPts val="0"/>
              </a:spcAft>
              <a:buSzPts val="1100"/>
              <a:buFont typeface="Arial"/>
              <a:buNone/>
            </a:pPr>
            <a:r>
              <a:rPr lang="en-US" sz="1100"/>
              <a:t>Share your finding with them: tell them you will get back in touch toward the end of the semester</a:t>
            </a:r>
            <a:endParaRPr sz="1100"/>
          </a:p>
          <a:p>
            <a:pPr marL="457200" lvl="0" indent="-298450" algn="l" rtl="0">
              <a:lnSpc>
                <a:spcPct val="150000"/>
              </a:lnSpc>
              <a:spcBef>
                <a:spcPts val="0"/>
              </a:spcBef>
              <a:spcAft>
                <a:spcPts val="0"/>
              </a:spcAft>
              <a:buSzPts val="1100"/>
              <a:buFont typeface="Arial"/>
              <a:buNone/>
            </a:pPr>
            <a:endParaRPr/>
          </a:p>
          <a:p>
            <a:pPr marL="457200" lvl="0" indent="-298450" algn="l" rtl="0">
              <a:lnSpc>
                <a:spcPct val="150000"/>
              </a:lnSpc>
              <a:spcBef>
                <a:spcPts val="0"/>
              </a:spcBef>
              <a:spcAft>
                <a:spcPts val="0"/>
              </a:spcAft>
              <a:buSzPts val="1100"/>
              <a:buFont typeface="Arial"/>
              <a:buNone/>
            </a:pPr>
            <a:endParaRPr/>
          </a:p>
          <a:p>
            <a:pPr marL="457200" lvl="0" indent="-298450" algn="l" rtl="0">
              <a:lnSpc>
                <a:spcPct val="150000"/>
              </a:lnSpc>
              <a:spcBef>
                <a:spcPts val="0"/>
              </a:spcBef>
              <a:spcAft>
                <a:spcPts val="0"/>
              </a:spcAft>
              <a:buSzPts val="1100"/>
              <a:buFont typeface="Arial"/>
              <a:buNone/>
            </a:pPr>
            <a:r>
              <a:rPr lang="en-US" u="sng">
                <a:solidFill>
                  <a:schemeClr val="hlink"/>
                </a:solidFill>
                <a:hlinkClick r:id="rId3"/>
              </a:rPr>
              <a:t>https://unsplash.com/photos/NVWyN8GamCk</a:t>
            </a:r>
            <a:r>
              <a:rPr lang="en-US"/>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2ed3a8fd3b_1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3" name="Google Shape;413;g22ed3a8fd3b_1_3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600"/>
              </a:spcBef>
              <a:spcAft>
                <a:spcPts val="0"/>
              </a:spcAft>
              <a:buSzPts val="1100"/>
              <a:buNone/>
            </a:pPr>
            <a:r>
              <a:rPr lang="en-US" sz="1100">
                <a:solidFill>
                  <a:srgbClr val="666666"/>
                </a:solidFill>
                <a:latin typeface="Raleway"/>
                <a:ea typeface="Raleway"/>
                <a:cs typeface="Raleway"/>
                <a:sym typeface="Raleway"/>
              </a:rPr>
              <a:t>When people first start interviewing, they fall into certain trap of </a:t>
            </a:r>
            <a:r>
              <a:rPr lang="en-US" sz="1100" b="1">
                <a:solidFill>
                  <a:srgbClr val="666666"/>
                </a:solidFill>
                <a:latin typeface="Raleway"/>
                <a:ea typeface="Raleway"/>
                <a:cs typeface="Raleway"/>
                <a:sym typeface="Raleway"/>
              </a:rPr>
              <a:t>leading interviewees by </a:t>
            </a:r>
            <a:r>
              <a:rPr lang="en-US" sz="1100">
                <a:solidFill>
                  <a:srgbClr val="666666"/>
                </a:solidFill>
                <a:latin typeface="Raleway"/>
                <a:ea typeface="Raleway"/>
                <a:cs typeface="Raleway"/>
                <a:sym typeface="Raleway"/>
              </a:rPr>
              <a:t>nodding, saying aha, that’s great, interesting, yeah, I see, thanks.</a:t>
            </a:r>
            <a:endParaRPr/>
          </a:p>
          <a:p>
            <a:pPr marL="457200" lvl="0" indent="-298450" algn="l" rtl="0">
              <a:lnSpc>
                <a:spcPct val="100000"/>
              </a:lnSpc>
              <a:spcBef>
                <a:spcPts val="600"/>
              </a:spcBef>
              <a:spcAft>
                <a:spcPts val="0"/>
              </a:spcAft>
              <a:buSzPts val="1100"/>
              <a:buNone/>
            </a:pPr>
            <a:r>
              <a:rPr lang="en-US" sz="1100">
                <a:solidFill>
                  <a:srgbClr val="666666"/>
                </a:solidFill>
                <a:latin typeface="Raleway"/>
                <a:ea typeface="Raleway"/>
                <a:cs typeface="Raleway"/>
                <a:sym typeface="Raleway"/>
              </a:rPr>
              <a:t>Don’t let the information that they get surprises you too much. Never too surprised or too bored. Look interested.</a:t>
            </a:r>
            <a:endParaRPr/>
          </a:p>
          <a:p>
            <a:pPr marL="457200" lvl="0" indent="-298450" algn="l" rtl="0">
              <a:lnSpc>
                <a:spcPct val="100000"/>
              </a:lnSpc>
              <a:spcBef>
                <a:spcPts val="600"/>
              </a:spcBef>
              <a:spcAft>
                <a:spcPts val="0"/>
              </a:spcAft>
              <a:buSzPts val="1100"/>
              <a:buNone/>
            </a:pPr>
            <a:endParaRPr sz="1100">
              <a:solidFill>
                <a:srgbClr val="FFFFFF"/>
              </a:solidFill>
            </a:endParaRPr>
          </a:p>
          <a:p>
            <a:pPr marL="457200" lvl="0" indent="-298450" algn="l" rtl="0">
              <a:lnSpc>
                <a:spcPct val="100000"/>
              </a:lnSpc>
              <a:spcBef>
                <a:spcPts val="600"/>
              </a:spcBef>
              <a:spcAft>
                <a:spcPts val="0"/>
              </a:spcAft>
              <a:buSzPts val="1100"/>
              <a:buNone/>
            </a:pPr>
            <a:r>
              <a:rPr lang="en-US" sz="1100">
                <a:solidFill>
                  <a:srgbClr val="666666"/>
                </a:solidFill>
                <a:latin typeface="Raleway"/>
                <a:ea typeface="Raleway"/>
                <a:cs typeface="Raleway"/>
                <a:sym typeface="Raleway"/>
              </a:rPr>
              <a:t>Don’t suggest answers to your questions. This can unintentionally get people to say things that agree with your expectations. </a:t>
            </a:r>
            <a:endParaRPr/>
          </a:p>
          <a:p>
            <a:pPr marL="457200" lvl="0" indent="-298450" algn="l" rtl="0">
              <a:lnSpc>
                <a:spcPct val="100000"/>
              </a:lnSpc>
              <a:spcBef>
                <a:spcPts val="600"/>
              </a:spcBef>
              <a:spcAft>
                <a:spcPts val="0"/>
              </a:spcAft>
              <a:buSzPts val="1100"/>
              <a:buNone/>
            </a:pPr>
            <a:endParaRPr sz="1100">
              <a:solidFill>
                <a:srgbClr val="666666"/>
              </a:solidFill>
              <a:latin typeface="Raleway"/>
              <a:ea typeface="Raleway"/>
              <a:cs typeface="Raleway"/>
              <a:sym typeface="Raleway"/>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2ed3a8fd3b_1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g22ed3a8fd3b_1_2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600"/>
              </a:spcBef>
              <a:spcAft>
                <a:spcPts val="0"/>
              </a:spcAft>
              <a:buSzPts val="1100"/>
              <a:buNone/>
            </a:pPr>
            <a:endParaRPr dirty="0">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FAD0F5BE-6D0D-6F56-41E9-5D517331AA0D}"/>
            </a:ext>
          </a:extLst>
        </p:cNvPr>
        <p:cNvGrpSpPr/>
        <p:nvPr/>
      </p:nvGrpSpPr>
      <p:grpSpPr>
        <a:xfrm>
          <a:off x="0" y="0"/>
          <a:ext cx="0" cy="0"/>
          <a:chOff x="0" y="0"/>
          <a:chExt cx="0" cy="0"/>
        </a:xfrm>
      </p:grpSpPr>
      <p:sp>
        <p:nvSpPr>
          <p:cNvPr id="63" name="Google Shape;63;p2:notes">
            <a:extLst>
              <a:ext uri="{FF2B5EF4-FFF2-40B4-BE49-F238E27FC236}">
                <a16:creationId xmlns:a16="http://schemas.microsoft.com/office/drawing/2014/main" id="{96E4ABC7-A20C-36D8-9307-7B26276CAC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a:extLst>
              <a:ext uri="{FF2B5EF4-FFF2-40B4-BE49-F238E27FC236}">
                <a16:creationId xmlns:a16="http://schemas.microsoft.com/office/drawing/2014/main" id="{675A476A-417C-5883-99D6-DAAF481B6C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29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FAA141F2-7C5A-CAE9-91FF-FA6FFDA747C8}"/>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B9F0232A-4003-B277-34DE-C95D3861CA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91755CF3-8768-2E4E-1A1B-CD181CEF40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432854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89F82FE9-894F-4AD8-0674-8568244EE5A7}"/>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2C568DF8-5829-B2F7-E2E8-8BF7D37A5F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16E2256D-23A0-D6F1-2A8B-BF5EE7899C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17438141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1759D467-A48B-2B3F-2543-28C3EF9376E7}"/>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5B077FDA-1734-1108-0732-EE069AA068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630C61DA-988C-782B-5716-4B801B3D4C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9929409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6A3F10BB-4941-3D87-D91C-D0DF7BCD7889}"/>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C6F82B36-A293-A944-EB50-00772B517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1FB36481-811E-6018-3DB0-21BA36D5BB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2969175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ECFFC359-DBB1-67A8-2D33-D4AD3B0CA8DC}"/>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9C5D79B4-E382-90DB-32CF-EB7D58F63A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87709B24-4CA1-34A6-D40C-7DE7EDD8ED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3630796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63831C4A-F798-967B-8843-D0C38A807736}"/>
            </a:ext>
          </a:extLst>
        </p:cNvPr>
        <p:cNvGrpSpPr/>
        <p:nvPr/>
      </p:nvGrpSpPr>
      <p:grpSpPr>
        <a:xfrm>
          <a:off x="0" y="0"/>
          <a:ext cx="0" cy="0"/>
          <a:chOff x="0" y="0"/>
          <a:chExt cx="0" cy="0"/>
        </a:xfrm>
      </p:grpSpPr>
      <p:sp>
        <p:nvSpPr>
          <p:cNvPr id="63" name="Google Shape;63;p2:notes">
            <a:extLst>
              <a:ext uri="{FF2B5EF4-FFF2-40B4-BE49-F238E27FC236}">
                <a16:creationId xmlns:a16="http://schemas.microsoft.com/office/drawing/2014/main" id="{0C28A12E-F8B1-1B4C-20F9-5CDB1A5697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a:extLst>
              <a:ext uri="{FF2B5EF4-FFF2-40B4-BE49-F238E27FC236}">
                <a16:creationId xmlns:a16="http://schemas.microsoft.com/office/drawing/2014/main" id="{2022F893-8344-862A-86EB-E523D704ED7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74625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8F1798B1-A8AB-8316-B496-6E59122D39E7}"/>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12265989-7B04-D533-CD63-5370892D42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0CBD4674-7EBF-B7EF-5441-640B8629B7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extLst>
      <p:ext uri="{BB962C8B-B14F-4D97-AF65-F5344CB8AC3E}">
        <p14:creationId xmlns:p14="http://schemas.microsoft.com/office/powerpoint/2010/main" val="2489302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65F4E6C1-DFD1-F58A-13AA-42035ECAB8A5}"/>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424B4279-86D3-FBD4-9032-358861D277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87BD470C-9A14-31D1-4748-5545938F65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450947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784AB7BA-AEC3-997A-9EBC-6EBF30BCB14B}"/>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5D71EEED-2595-E7AE-5C7C-8A6433109C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B273C02C-132D-AC18-1300-F4D134450F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121947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BCBD12E2-4E33-C740-AEBE-3B380FA158E2}"/>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2462ADA4-5F88-6721-9A78-C80E868DB8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4EF53437-B7D5-8625-1CFC-66F09CAA5B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36477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A246F125-EB87-C69C-9297-A596D32829BF}"/>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A9ABF39E-E439-9B83-AEB4-A0551A314B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0F2A237A-2934-FDEB-5C9F-9CA2F0473E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454472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07B02C9A-7106-B933-47F2-B81B0B904F96}"/>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13AA41D0-54C1-EFDF-69DC-0781BDEF7A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B5CBA82F-2F5F-F003-5BC9-4A518773F5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1746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7D0FACEC-1C52-84FB-45A7-B58387F13766}"/>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BDE87E16-0B90-15AF-8907-FF27937E92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E8D6D93D-AF10-FBC9-5959-37097C980A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136668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9EFE5D75-194C-1780-670C-CDA909631F9F}"/>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D6854CAC-6539-1E09-D93E-5F6D125F63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480A3EED-E181-C613-33DD-35AB67554E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6836564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73725783-FFB0-0227-783C-89A28146536C}"/>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C1F207B8-15AE-30F3-9123-8966CEE2A5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FDF42760-94D4-ED45-1DA8-9332EF6406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351913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C6407AEE-14B2-E72B-3ADB-C25AD24C1365}"/>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23A80975-2AA2-CE05-0011-8846C06323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89440F80-08A7-0B2D-351A-43AE66062A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962009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9C81CF3D-1709-8FBD-05B3-5D30E16213B7}"/>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022A050C-C7AA-9E9F-3640-6D05D0738F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B4E712A6-6FBC-B905-18F4-F84A2534B2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9694371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F1A16EB1-2D5D-8857-A829-C635CA45DF67}"/>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AE3EE3D5-CFDF-C1C5-DF18-FD1C7E9F9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722F32BE-6DFC-28D4-58F2-E7E183BB82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926972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49BCAD28-3F20-F083-C9CF-8EB13F1FA7B3}"/>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718F5ECC-160C-DE6F-AC77-32DB55C73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B834A692-D170-EF6D-9C15-83726C2327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6632249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a:extLst>
            <a:ext uri="{FF2B5EF4-FFF2-40B4-BE49-F238E27FC236}">
              <a16:creationId xmlns:a16="http://schemas.microsoft.com/office/drawing/2014/main" id="{8F1798B1-A8AB-8316-B496-6E59122D39E7}"/>
            </a:ext>
          </a:extLst>
        </p:cNvPr>
        <p:cNvGrpSpPr/>
        <p:nvPr/>
      </p:nvGrpSpPr>
      <p:grpSpPr>
        <a:xfrm>
          <a:off x="0" y="0"/>
          <a:ext cx="0" cy="0"/>
          <a:chOff x="0" y="0"/>
          <a:chExt cx="0" cy="0"/>
        </a:xfrm>
      </p:grpSpPr>
      <p:sp>
        <p:nvSpPr>
          <p:cNvPr id="572" name="Google Shape;572;p44:notes">
            <a:extLst>
              <a:ext uri="{FF2B5EF4-FFF2-40B4-BE49-F238E27FC236}">
                <a16:creationId xmlns:a16="http://schemas.microsoft.com/office/drawing/2014/main" id="{12265989-7B04-D533-CD63-5370892D42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4:notes">
            <a:extLst>
              <a:ext uri="{FF2B5EF4-FFF2-40B4-BE49-F238E27FC236}">
                <a16:creationId xmlns:a16="http://schemas.microsoft.com/office/drawing/2014/main" id="{0CBD4674-7EBF-B7EF-5441-640B8629B7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p>
        </p:txBody>
      </p:sp>
    </p:spTree>
    <p:extLst>
      <p:ext uri="{BB962C8B-B14F-4D97-AF65-F5344CB8AC3E}">
        <p14:creationId xmlns:p14="http://schemas.microsoft.com/office/powerpoint/2010/main" val="24893026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16CAF383-85A7-E31E-5F30-1F28DCD6C616}"/>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949FD829-3FF5-1988-251D-5C34B234E1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E2123604-6ECE-B842-F2DB-DD9381C5C1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572928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a:extLst>
            <a:ext uri="{FF2B5EF4-FFF2-40B4-BE49-F238E27FC236}">
              <a16:creationId xmlns:a16="http://schemas.microsoft.com/office/drawing/2014/main" id="{0B49106D-3723-99FD-14C7-24FC3F050C04}"/>
            </a:ext>
          </a:extLst>
        </p:cNvPr>
        <p:cNvGrpSpPr/>
        <p:nvPr/>
      </p:nvGrpSpPr>
      <p:grpSpPr>
        <a:xfrm>
          <a:off x="0" y="0"/>
          <a:ext cx="0" cy="0"/>
          <a:chOff x="0" y="0"/>
          <a:chExt cx="0" cy="0"/>
        </a:xfrm>
      </p:grpSpPr>
      <p:sp>
        <p:nvSpPr>
          <p:cNvPr id="564" name="Google Shape;564;p46:notes">
            <a:extLst>
              <a:ext uri="{FF2B5EF4-FFF2-40B4-BE49-F238E27FC236}">
                <a16:creationId xmlns:a16="http://schemas.microsoft.com/office/drawing/2014/main" id="{176AE750-EFC2-D6EC-B998-0D85C08638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p46:notes">
            <a:extLst>
              <a:ext uri="{FF2B5EF4-FFF2-40B4-BE49-F238E27FC236}">
                <a16:creationId xmlns:a16="http://schemas.microsoft.com/office/drawing/2014/main" id="{C1EC094D-5860-0F48-DE96-C477E45FAC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1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537565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49</a:t>
            </a:fld>
            <a:endParaRPr lang="en-US" dirty="0"/>
          </a:p>
        </p:txBody>
      </p:sp>
    </p:spTree>
    <p:extLst>
      <p:ext uri="{BB962C8B-B14F-4D97-AF65-F5344CB8AC3E}">
        <p14:creationId xmlns:p14="http://schemas.microsoft.com/office/powerpoint/2010/main" val="21167009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7181E9E6-B003-A97D-D71A-30A2D1B161C7}"/>
            </a:ext>
          </a:extLst>
        </p:cNvPr>
        <p:cNvGrpSpPr/>
        <p:nvPr/>
      </p:nvGrpSpPr>
      <p:grpSpPr>
        <a:xfrm>
          <a:off x="0" y="0"/>
          <a:ext cx="0" cy="0"/>
          <a:chOff x="0" y="0"/>
          <a:chExt cx="0" cy="0"/>
        </a:xfrm>
      </p:grpSpPr>
      <p:sp>
        <p:nvSpPr>
          <p:cNvPr id="100" name="Google Shape;100;g2064b3d91da_0_28:notes">
            <a:extLst>
              <a:ext uri="{FF2B5EF4-FFF2-40B4-BE49-F238E27FC236}">
                <a16:creationId xmlns:a16="http://schemas.microsoft.com/office/drawing/2014/main" id="{3FAD6FB2-043B-7A5B-A6CB-40876810F4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2064b3d91da_0_28:notes">
            <a:extLst>
              <a:ext uri="{FF2B5EF4-FFF2-40B4-BE49-F238E27FC236}">
                <a16:creationId xmlns:a16="http://schemas.microsoft.com/office/drawing/2014/main" id="{1C7B8F38-F263-57BC-69FF-850823BC34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21945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233062062"/>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208494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534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9/8/20XX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87585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9/8/20XX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41521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 useBgFill="1">
        <p:nvSpPr>
          <p:cNvPr id="6" name="Rectangle 5">
            <a:extLst>
              <a:ext uri="{FF2B5EF4-FFF2-40B4-BE49-F238E27FC236}">
                <a16:creationId xmlns:a16="http://schemas.microsoft.com/office/drawing/2014/main" id="{94837D5C-EE88-BE2B-5940-6A8E20CAEEC6}"/>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7D6331A-AE6C-3009-DDD4-1671FF7E0F3D}"/>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8D7D28B-DE67-0B99-CDEB-A037FFC568ED}"/>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8B9F3E3-6134-5423-F75E-B36E71A65278}"/>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B1F677F-A1EC-4CDA-E80E-4B369546515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F1E2C06-C49E-A5AA-07A3-D134EFA3D29E}"/>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2BA39D8-E4F7-CD36-B80A-49D228C0FCA3}"/>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06F4721-4B2C-0638-8409-054F6738EAFD}"/>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789478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38225541"/>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804140893"/>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endParaRPr lang="en-US" dirty="0"/>
          </a:p>
        </p:txBody>
      </p:sp>
    </p:spTree>
    <p:extLst>
      <p:ext uri="{BB962C8B-B14F-4D97-AF65-F5344CB8AC3E}">
        <p14:creationId xmlns:p14="http://schemas.microsoft.com/office/powerpoint/2010/main" val="13706319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3352365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r>
              <a:rPr lang="en-US"/>
              <a:t>9/8/20XX</a:t>
            </a:r>
            <a:endParaRPr lang="en-US" dirty="0"/>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2157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dirty="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6" name="Google Shape;26;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7" name="Google Shape;27;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8" name="Google Shape;28;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323405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dk1"/>
        </a:solidFill>
        <a:effectLst/>
      </p:bgPr>
    </p:bg>
    <p:spTree>
      <p:nvGrpSpPr>
        <p:cNvPr id="1" name="Shape 12"/>
        <p:cNvGrpSpPr/>
        <p:nvPr/>
      </p:nvGrpSpPr>
      <p:grpSpPr>
        <a:xfrm>
          <a:off x="0" y="0"/>
          <a:ext cx="0" cy="0"/>
          <a:chOff x="0" y="0"/>
          <a:chExt cx="0" cy="0"/>
        </a:xfrm>
      </p:grpSpPr>
      <p:pic>
        <p:nvPicPr>
          <p:cNvPr id="13" name="Google Shape;13;p19"/>
          <p:cNvPicPr preferRelativeResize="0"/>
          <p:nvPr/>
        </p:nvPicPr>
        <p:blipFill rotWithShape="1">
          <a:blip r:embed="rId2">
            <a:alphaModFix/>
          </a:blip>
          <a:srcRect/>
          <a:stretch/>
        </p:blipFill>
        <p:spPr>
          <a:xfrm>
            <a:off x="-36717" y="-38383"/>
            <a:ext cx="12265433" cy="6934765"/>
          </a:xfrm>
          <a:prstGeom prst="rect">
            <a:avLst/>
          </a:prstGeom>
          <a:noFill/>
          <a:ln>
            <a:noFill/>
          </a:ln>
        </p:spPr>
      </p:pic>
      <p:pic>
        <p:nvPicPr>
          <p:cNvPr id="14" name="Google Shape;14;p19"/>
          <p:cNvPicPr preferRelativeResize="0"/>
          <p:nvPr/>
        </p:nvPicPr>
        <p:blipFill rotWithShape="1">
          <a:blip r:embed="rId3">
            <a:alphaModFix/>
          </a:blip>
          <a:srcRect/>
          <a:stretch/>
        </p:blipFill>
        <p:spPr>
          <a:xfrm>
            <a:off x="-48799" y="-48733"/>
            <a:ext cx="12289597" cy="6955465"/>
          </a:xfrm>
          <a:prstGeom prst="rect">
            <a:avLst/>
          </a:prstGeom>
          <a:noFill/>
          <a:ln>
            <a:noFill/>
          </a:ln>
        </p:spPr>
      </p:pic>
      <p:sp>
        <p:nvSpPr>
          <p:cNvPr id="15" name="Google Shape;15;p19"/>
          <p:cNvSpPr txBox="1">
            <a:spLocks noGrp="1"/>
          </p:cNvSpPr>
          <p:nvPr>
            <p:ph type="title"/>
          </p:nvPr>
        </p:nvSpPr>
        <p:spPr>
          <a:xfrm>
            <a:off x="3777400" y="1900667"/>
            <a:ext cx="4637200" cy="130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8300"/>
              <a:buNone/>
              <a:defRPr sz="11066"/>
            </a:lvl1pPr>
            <a:lvl2pPr lvl="1" algn="ctr">
              <a:lnSpc>
                <a:spcPct val="100000"/>
              </a:lnSpc>
              <a:spcBef>
                <a:spcPts val="0"/>
              </a:spcBef>
              <a:spcAft>
                <a:spcPts val="0"/>
              </a:spcAft>
              <a:buSzPts val="8300"/>
              <a:buNone/>
              <a:defRPr sz="11066"/>
            </a:lvl2pPr>
            <a:lvl3pPr lvl="2" algn="ctr">
              <a:lnSpc>
                <a:spcPct val="100000"/>
              </a:lnSpc>
              <a:spcBef>
                <a:spcPts val="0"/>
              </a:spcBef>
              <a:spcAft>
                <a:spcPts val="0"/>
              </a:spcAft>
              <a:buSzPts val="8300"/>
              <a:buNone/>
              <a:defRPr sz="11066"/>
            </a:lvl3pPr>
            <a:lvl4pPr lvl="3" algn="ctr">
              <a:lnSpc>
                <a:spcPct val="100000"/>
              </a:lnSpc>
              <a:spcBef>
                <a:spcPts val="0"/>
              </a:spcBef>
              <a:spcAft>
                <a:spcPts val="0"/>
              </a:spcAft>
              <a:buSzPts val="8300"/>
              <a:buNone/>
              <a:defRPr sz="11066"/>
            </a:lvl4pPr>
            <a:lvl5pPr lvl="4" algn="ctr">
              <a:lnSpc>
                <a:spcPct val="100000"/>
              </a:lnSpc>
              <a:spcBef>
                <a:spcPts val="0"/>
              </a:spcBef>
              <a:spcAft>
                <a:spcPts val="0"/>
              </a:spcAft>
              <a:buSzPts val="8300"/>
              <a:buNone/>
              <a:defRPr sz="11066"/>
            </a:lvl5pPr>
            <a:lvl6pPr lvl="5" algn="ctr">
              <a:lnSpc>
                <a:spcPct val="100000"/>
              </a:lnSpc>
              <a:spcBef>
                <a:spcPts val="0"/>
              </a:spcBef>
              <a:spcAft>
                <a:spcPts val="0"/>
              </a:spcAft>
              <a:buSzPts val="8300"/>
              <a:buNone/>
              <a:defRPr sz="11066"/>
            </a:lvl6pPr>
            <a:lvl7pPr lvl="6" algn="ctr">
              <a:lnSpc>
                <a:spcPct val="100000"/>
              </a:lnSpc>
              <a:spcBef>
                <a:spcPts val="0"/>
              </a:spcBef>
              <a:spcAft>
                <a:spcPts val="0"/>
              </a:spcAft>
              <a:buSzPts val="8300"/>
              <a:buNone/>
              <a:defRPr sz="11066"/>
            </a:lvl7pPr>
            <a:lvl8pPr lvl="7" algn="ctr">
              <a:lnSpc>
                <a:spcPct val="100000"/>
              </a:lnSpc>
              <a:spcBef>
                <a:spcPts val="0"/>
              </a:spcBef>
              <a:spcAft>
                <a:spcPts val="0"/>
              </a:spcAft>
              <a:buSzPts val="8300"/>
              <a:buNone/>
              <a:defRPr sz="11066"/>
            </a:lvl8pPr>
            <a:lvl9pPr lvl="8" algn="ctr">
              <a:lnSpc>
                <a:spcPct val="100000"/>
              </a:lnSpc>
              <a:spcBef>
                <a:spcPts val="0"/>
              </a:spcBef>
              <a:spcAft>
                <a:spcPts val="0"/>
              </a:spcAft>
              <a:buSzPts val="8300"/>
              <a:buNone/>
              <a:defRPr sz="11066"/>
            </a:lvl9pPr>
          </a:lstStyle>
          <a:p>
            <a:endParaRPr/>
          </a:p>
        </p:txBody>
      </p:sp>
      <p:sp>
        <p:nvSpPr>
          <p:cNvPr id="16" name="Google Shape;16;p19"/>
          <p:cNvSpPr txBox="1">
            <a:spLocks noGrp="1"/>
          </p:cNvSpPr>
          <p:nvPr>
            <p:ph type="subTitle" idx="1"/>
          </p:nvPr>
        </p:nvSpPr>
        <p:spPr>
          <a:xfrm>
            <a:off x="4127400" y="3509317"/>
            <a:ext cx="3937200" cy="1344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700"/>
              <a:buNone/>
              <a:defRPr sz="2267"/>
            </a:lvl1pPr>
            <a:lvl2pPr lvl="1" algn="ctr">
              <a:lnSpc>
                <a:spcPct val="100000"/>
              </a:lnSpc>
              <a:spcBef>
                <a:spcPts val="0"/>
              </a:spcBef>
              <a:spcAft>
                <a:spcPts val="0"/>
              </a:spcAft>
              <a:buSzPts val="1700"/>
              <a:buNone/>
              <a:defRPr sz="2267"/>
            </a:lvl2pPr>
            <a:lvl3pPr lvl="2" algn="ctr">
              <a:lnSpc>
                <a:spcPct val="100000"/>
              </a:lnSpc>
              <a:spcBef>
                <a:spcPts val="0"/>
              </a:spcBef>
              <a:spcAft>
                <a:spcPts val="0"/>
              </a:spcAft>
              <a:buSzPts val="1700"/>
              <a:buNone/>
              <a:defRPr sz="2267"/>
            </a:lvl3pPr>
            <a:lvl4pPr lvl="3" algn="ctr">
              <a:lnSpc>
                <a:spcPct val="100000"/>
              </a:lnSpc>
              <a:spcBef>
                <a:spcPts val="0"/>
              </a:spcBef>
              <a:spcAft>
                <a:spcPts val="0"/>
              </a:spcAft>
              <a:buSzPts val="1700"/>
              <a:buNone/>
              <a:defRPr sz="2267"/>
            </a:lvl4pPr>
            <a:lvl5pPr lvl="4" algn="ctr">
              <a:lnSpc>
                <a:spcPct val="100000"/>
              </a:lnSpc>
              <a:spcBef>
                <a:spcPts val="0"/>
              </a:spcBef>
              <a:spcAft>
                <a:spcPts val="0"/>
              </a:spcAft>
              <a:buSzPts val="1700"/>
              <a:buNone/>
              <a:defRPr sz="2267"/>
            </a:lvl5pPr>
            <a:lvl6pPr lvl="5" algn="ctr">
              <a:lnSpc>
                <a:spcPct val="100000"/>
              </a:lnSpc>
              <a:spcBef>
                <a:spcPts val="0"/>
              </a:spcBef>
              <a:spcAft>
                <a:spcPts val="0"/>
              </a:spcAft>
              <a:buSzPts val="1700"/>
              <a:buNone/>
              <a:defRPr sz="2267"/>
            </a:lvl6pPr>
            <a:lvl7pPr lvl="6" algn="ctr">
              <a:lnSpc>
                <a:spcPct val="100000"/>
              </a:lnSpc>
              <a:spcBef>
                <a:spcPts val="0"/>
              </a:spcBef>
              <a:spcAft>
                <a:spcPts val="0"/>
              </a:spcAft>
              <a:buSzPts val="1700"/>
              <a:buNone/>
              <a:defRPr sz="2267"/>
            </a:lvl7pPr>
            <a:lvl8pPr lvl="7" algn="ctr">
              <a:lnSpc>
                <a:spcPct val="100000"/>
              </a:lnSpc>
              <a:spcBef>
                <a:spcPts val="0"/>
              </a:spcBef>
              <a:spcAft>
                <a:spcPts val="0"/>
              </a:spcAft>
              <a:buSzPts val="1700"/>
              <a:buNone/>
              <a:defRPr sz="2267"/>
            </a:lvl8pPr>
            <a:lvl9pPr lvl="8" algn="ctr">
              <a:lnSpc>
                <a:spcPct val="100000"/>
              </a:lnSpc>
              <a:spcBef>
                <a:spcPts val="0"/>
              </a:spcBef>
              <a:spcAft>
                <a:spcPts val="0"/>
              </a:spcAft>
              <a:buSzPts val="1700"/>
              <a:buNone/>
              <a:defRPr sz="2267"/>
            </a:lvl9pPr>
          </a:lstStyle>
          <a:p>
            <a:endParaRPr/>
          </a:p>
        </p:txBody>
      </p:sp>
    </p:spTree>
    <p:extLst>
      <p:ext uri="{BB962C8B-B14F-4D97-AF65-F5344CB8AC3E}">
        <p14:creationId xmlns:p14="http://schemas.microsoft.com/office/powerpoint/2010/main" val="1920645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754897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82" r:id="rId12"/>
    <p:sldLayoutId id="2147483710" r:id="rId13"/>
    <p:sldLayoutId id="2147483711" r:id="rId14"/>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U4UKwd0KExc"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www.youtube.com/watch?v=eNMTJTnrTQQ"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youtu.be/e9nZRMN49J0"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drive.google.com/file/d/14zC6av3iB3b33EkMAyXoK52kKKP-RhvP/view?usp=sharing" TargetMode="External"/><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hyperlink" Target="https://drive.google.com/file/d/14zC6av3iB3b33EkMAyXoK52kKKP-RhvP/view?usp=sharing" TargetMode="Externa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p:txBody>
          <a:bodyPr vert="horz" lIns="109728" tIns="109728" rIns="109728" bIns="91440" rtlCol="0" anchor="ctr">
            <a:normAutofit/>
          </a:bodyPr>
          <a:lstStyle/>
          <a:p>
            <a:r>
              <a:rPr lang="en-US" dirty="0"/>
              <a:t>CSE 325: Information System Design</a:t>
            </a:r>
          </a:p>
        </p:txBody>
      </p:sp>
      <p:sp>
        <p:nvSpPr>
          <p:cNvPr id="2" name="Subtitle 14">
            <a:extLst>
              <a:ext uri="{FF2B5EF4-FFF2-40B4-BE49-F238E27FC236}">
                <a16:creationId xmlns:a16="http://schemas.microsoft.com/office/drawing/2014/main" id="{A86C0802-401B-5E92-F8F3-5E04A8EF8581}"/>
              </a:ext>
            </a:extLst>
          </p:cNvPr>
          <p:cNvSpPr txBox="1">
            <a:spLocks/>
          </p:cNvSpPr>
          <p:nvPr/>
        </p:nvSpPr>
        <p:spPr>
          <a:xfrm>
            <a:off x="1488616" y="4720832"/>
            <a:ext cx="5125300" cy="1068929"/>
          </a:xfrm>
          <a:prstGeom prst="rect">
            <a:avLst/>
          </a:prstGeom>
        </p:spPr>
        <p:txBody>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r>
              <a:rPr lang="en-US" dirty="0">
                <a:solidFill>
                  <a:schemeClr val="bg1"/>
                </a:solidFill>
              </a:rPr>
              <a:t>Week 1: Requirement Analysis (Gathering)</a:t>
            </a:r>
          </a:p>
          <a:p>
            <a:r>
              <a:rPr lang="en-US" dirty="0">
                <a:solidFill>
                  <a:schemeClr val="bg1"/>
                </a:solidFill>
              </a:rPr>
              <a:t>Novia Nurain</a:t>
            </a:r>
          </a:p>
        </p:txBody>
      </p:sp>
    </p:spTree>
    <p:extLst>
      <p:ext uri="{BB962C8B-B14F-4D97-AF65-F5344CB8AC3E}">
        <p14:creationId xmlns:p14="http://schemas.microsoft.com/office/powerpoint/2010/main" val="232390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574"/>
        <p:cNvGrpSpPr/>
        <p:nvPr/>
      </p:nvGrpSpPr>
      <p:grpSpPr>
        <a:xfrm>
          <a:off x="0" y="0"/>
          <a:ext cx="0" cy="0"/>
          <a:chOff x="0" y="0"/>
          <a:chExt cx="0" cy="0"/>
        </a:xfrm>
      </p:grpSpPr>
      <p:sp>
        <p:nvSpPr>
          <p:cNvPr id="582" name="Rectangle 581">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EF1BAF6F-6275-4646-9C59-331B29B9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86" name="Rectangle 585">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8" name="Rectangle 587">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35" y="758246"/>
            <a:ext cx="4658480" cy="53863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Google Shape;575;p84"/>
          <p:cNvSpPr txBox="1">
            <a:spLocks noGrp="1"/>
          </p:cNvSpPr>
          <p:nvPr>
            <p:ph type="title"/>
          </p:nvPr>
        </p:nvSpPr>
        <p:spPr>
          <a:xfrm>
            <a:off x="642918" y="1072110"/>
            <a:ext cx="3611029" cy="1862345"/>
          </a:xfrm>
          <a:prstGeom prst="rect">
            <a:avLst/>
          </a:prstGeom>
        </p:spPr>
        <p:txBody>
          <a:bodyPr spcFirstLastPara="1" vert="horz" lIns="109728" tIns="109728" rIns="109728" bIns="91440" rtlCol="0" anchor="ctr" anchorCtr="0">
            <a:normAutofit/>
          </a:bodyPr>
          <a:lstStyle/>
          <a:p>
            <a:pPr marL="0" lvl="0" indent="0">
              <a:lnSpc>
                <a:spcPct val="140000"/>
              </a:lnSpc>
              <a:spcBef>
                <a:spcPct val="0"/>
              </a:spcBef>
              <a:spcAft>
                <a:spcPts val="0"/>
              </a:spcAft>
              <a:buClr>
                <a:schemeClr val="dk1"/>
              </a:buClr>
              <a:buSzPts val="2400"/>
            </a:pPr>
            <a:r>
              <a:rPr lang="en-US" sz="2500" dirty="0"/>
              <a:t>Requirement Gathering Methods</a:t>
            </a:r>
          </a:p>
        </p:txBody>
      </p:sp>
      <p:sp>
        <p:nvSpPr>
          <p:cNvPr id="590" name="Rectangle 589">
            <a:extLst>
              <a:ext uri="{FF2B5EF4-FFF2-40B4-BE49-F238E27FC236}">
                <a16:creationId xmlns:a16="http://schemas.microsoft.com/office/drawing/2014/main" id="{2060C0F7-61A6-4E64-A77E-AFBD8112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84060" y="0"/>
            <a:ext cx="7507940" cy="7652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 y="6144564"/>
            <a:ext cx="4656246" cy="7134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15122" y="6167615"/>
            <a:ext cx="747382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6241"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713436"/>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AF41837-39FD-779B-2019-6F53CD128E19}"/>
              </a:ext>
            </a:extLst>
          </p:cNvPr>
          <p:cNvSpPr txBox="1"/>
          <p:nvPr/>
        </p:nvSpPr>
        <p:spPr>
          <a:xfrm>
            <a:off x="4896865" y="819024"/>
            <a:ext cx="7009562" cy="4647426"/>
          </a:xfrm>
          <a:prstGeom prst="rect">
            <a:avLst/>
          </a:prstGeom>
          <a:noFill/>
        </p:spPr>
        <p:txBody>
          <a:bodyPr wrap="square">
            <a:spAutoFit/>
          </a:bodyPr>
          <a:lstStyle/>
          <a:p>
            <a:pPr marL="342900" indent="-342900">
              <a:buFont typeface="Arial" panose="020B0604020202020204" pitchFamily="34" charset="0"/>
              <a:buChar char="•"/>
            </a:pPr>
            <a:r>
              <a:rPr lang="en-US" sz="2200" b="1" dirty="0"/>
              <a:t>Direct user engagement</a:t>
            </a:r>
          </a:p>
          <a:p>
            <a:pPr marL="800100" lvl="1" indent="-342900">
              <a:buFont typeface="Arial" panose="020B0604020202020204" pitchFamily="34" charset="0"/>
              <a:buChar char="•"/>
            </a:pPr>
            <a:r>
              <a:rPr lang="en-US" sz="2200" dirty="0"/>
              <a:t>Observation</a:t>
            </a:r>
          </a:p>
          <a:p>
            <a:pPr marL="800100" lvl="1" indent="-342900">
              <a:buFont typeface="Arial" panose="020B0604020202020204" pitchFamily="34" charset="0"/>
              <a:buChar char="•"/>
            </a:pPr>
            <a:r>
              <a:rPr lang="en-US" sz="2200" dirty="0"/>
              <a:t>Interviews</a:t>
            </a:r>
          </a:p>
          <a:p>
            <a:pPr marL="800100" lvl="1" indent="-342900">
              <a:buFont typeface="Arial" panose="020B0604020202020204" pitchFamily="34" charset="0"/>
              <a:buChar char="•"/>
            </a:pPr>
            <a:r>
              <a:rPr lang="en-US" sz="2200" dirty="0"/>
              <a:t>Focus groups</a:t>
            </a:r>
          </a:p>
          <a:p>
            <a:pPr marL="800100" lvl="1" indent="-342900">
              <a:buFont typeface="Arial" panose="020B0604020202020204" pitchFamily="34" charset="0"/>
              <a:buChar char="•"/>
            </a:pPr>
            <a:r>
              <a:rPr lang="en-US" sz="2200" dirty="0"/>
              <a:t>Contextual inquiries</a:t>
            </a:r>
          </a:p>
          <a:p>
            <a:pPr marL="800100" lvl="1" indent="-342900">
              <a:buFont typeface="Arial" panose="020B0604020202020204" pitchFamily="34" charset="0"/>
              <a:buChar char="•"/>
            </a:pPr>
            <a:r>
              <a:rPr lang="en-US" sz="2200" dirty="0"/>
              <a:t>Survey &amp; questionaries</a:t>
            </a:r>
          </a:p>
          <a:p>
            <a:pPr lvl="1"/>
            <a:endParaRPr lang="en-US" sz="2200" dirty="0"/>
          </a:p>
          <a:p>
            <a:pPr marL="342900" indent="-342900">
              <a:buFont typeface="Arial" panose="020B0604020202020204" pitchFamily="34" charset="0"/>
              <a:buChar char="•"/>
            </a:pPr>
            <a:r>
              <a:rPr lang="en-US" sz="2200" b="1" dirty="0"/>
              <a:t>Collaborative and Participatory method</a:t>
            </a:r>
          </a:p>
          <a:p>
            <a:pPr marL="800100" lvl="1" indent="-342900">
              <a:buFont typeface="Arial" panose="020B0604020202020204" pitchFamily="34" charset="0"/>
              <a:buChar char="•"/>
            </a:pPr>
            <a:r>
              <a:rPr lang="en-US" sz="2200" dirty="0"/>
              <a:t>Participatory design</a:t>
            </a:r>
          </a:p>
          <a:p>
            <a:pPr marL="800100" lvl="1" indent="-342900">
              <a:buFont typeface="Arial" panose="020B0604020202020204" pitchFamily="34" charset="0"/>
              <a:buChar char="•"/>
            </a:pPr>
            <a:r>
              <a:rPr lang="en-US" sz="2200" dirty="0"/>
              <a:t>JAD/JDP (Joint Application Development / Joint Design Planning</a:t>
            </a:r>
          </a:p>
          <a:p>
            <a:pPr marL="800100" lvl="1" indent="-342900">
              <a:buFont typeface="Arial" panose="020B0604020202020204" pitchFamily="34" charset="0"/>
              <a:buChar char="•"/>
            </a:pPr>
            <a:endParaRPr lang="en-US" dirty="0"/>
          </a:p>
          <a:p>
            <a:pPr marL="800100" lvl="1"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E47F9892-A5CA-2C48-72E8-C5B3069FA6A3}"/>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D755A181-6DB4-8750-45C2-6B9F771FD8DE}"/>
              </a:ext>
            </a:extLst>
          </p:cNvPr>
          <p:cNvSpPr txBox="1">
            <a:spLocks noGrp="1"/>
          </p:cNvSpPr>
          <p:nvPr>
            <p:ph type="title"/>
          </p:nvPr>
        </p:nvSpPr>
        <p:spPr>
          <a:xfrm>
            <a:off x="642918" y="1072110"/>
            <a:ext cx="3611029" cy="1862345"/>
          </a:xfrm>
          <a:prstGeom prst="rect">
            <a:avLst/>
          </a:prstGeom>
        </p:spPr>
        <p:txBody>
          <a:bodyPr spcFirstLastPara="1" vert="horz" lIns="109728" tIns="109728" rIns="109728" bIns="91440" rtlCol="0" anchor="ctr" anchorCtr="0">
            <a:normAutofit/>
          </a:bodyPr>
          <a:lstStyle/>
          <a:p>
            <a:pPr marL="0" lvl="0" indent="0">
              <a:lnSpc>
                <a:spcPct val="140000"/>
              </a:lnSpc>
              <a:spcBef>
                <a:spcPct val="0"/>
              </a:spcBef>
              <a:spcAft>
                <a:spcPts val="0"/>
              </a:spcAft>
              <a:buClr>
                <a:schemeClr val="dk1"/>
              </a:buClr>
              <a:buSzPts val="2400"/>
            </a:pPr>
            <a:r>
              <a:rPr lang="en-US" sz="2500" dirty="0"/>
              <a:t>Requirement Gathering Methods</a:t>
            </a:r>
          </a:p>
        </p:txBody>
      </p:sp>
      <p:sp>
        <p:nvSpPr>
          <p:cNvPr id="7" name="TextBox 6">
            <a:extLst>
              <a:ext uri="{FF2B5EF4-FFF2-40B4-BE49-F238E27FC236}">
                <a16:creationId xmlns:a16="http://schemas.microsoft.com/office/drawing/2014/main" id="{5D3C7A7F-9EF7-EEF1-C182-73404F09B508}"/>
              </a:ext>
            </a:extLst>
          </p:cNvPr>
          <p:cNvSpPr txBox="1"/>
          <p:nvPr/>
        </p:nvSpPr>
        <p:spPr>
          <a:xfrm>
            <a:off x="4896865" y="819024"/>
            <a:ext cx="7009562" cy="4154984"/>
          </a:xfrm>
          <a:prstGeom prst="rect">
            <a:avLst/>
          </a:prstGeom>
          <a:noFill/>
        </p:spPr>
        <p:txBody>
          <a:bodyPr wrap="square">
            <a:spAutoFit/>
          </a:bodyPr>
          <a:lstStyle/>
          <a:p>
            <a:pPr marL="342900" indent="-342900">
              <a:buFont typeface="Arial" panose="020B0604020202020204" pitchFamily="34" charset="0"/>
              <a:buChar char="•"/>
            </a:pPr>
            <a:r>
              <a:rPr lang="en-US" sz="2200" b="1" dirty="0"/>
              <a:t>Analytical and Modelling methods</a:t>
            </a:r>
          </a:p>
          <a:p>
            <a:pPr marL="800100" lvl="1" indent="-342900">
              <a:buFont typeface="Arial" panose="020B0604020202020204" pitchFamily="34" charset="0"/>
              <a:buChar char="•"/>
            </a:pPr>
            <a:r>
              <a:rPr lang="en-US" sz="2200" dirty="0"/>
              <a:t>Task analysis</a:t>
            </a:r>
          </a:p>
          <a:p>
            <a:pPr marL="800100" lvl="1" indent="-342900">
              <a:buFont typeface="Arial" panose="020B0604020202020204" pitchFamily="34" charset="0"/>
              <a:buChar char="•"/>
            </a:pPr>
            <a:r>
              <a:rPr lang="en-US" sz="2200" dirty="0"/>
              <a:t>BPMN (Business Process Model and Notation)</a:t>
            </a:r>
          </a:p>
          <a:p>
            <a:pPr marL="800100" lvl="1" indent="-342900">
              <a:buFont typeface="Arial" panose="020B0604020202020204" pitchFamily="34" charset="0"/>
              <a:buChar char="•"/>
            </a:pPr>
            <a:r>
              <a:rPr lang="en-US" sz="2200" dirty="0"/>
              <a:t>Journey Mapping/Experience Mapping</a:t>
            </a:r>
          </a:p>
          <a:p>
            <a:pPr lvl="1"/>
            <a:endParaRPr lang="en-US" sz="2200" dirty="0"/>
          </a:p>
          <a:p>
            <a:pPr marL="342900" indent="-342900">
              <a:buFont typeface="Arial" panose="020B0604020202020204" pitchFamily="34" charset="0"/>
              <a:buChar char="•"/>
            </a:pPr>
            <a:r>
              <a:rPr lang="en-US" sz="2200" b="1" dirty="0"/>
              <a:t>Secondary Methods</a:t>
            </a:r>
          </a:p>
          <a:p>
            <a:pPr marL="800100" lvl="1" indent="-342900">
              <a:buFont typeface="Arial" panose="020B0604020202020204" pitchFamily="34" charset="0"/>
              <a:buChar char="•"/>
            </a:pPr>
            <a:r>
              <a:rPr lang="en-US" sz="2200" dirty="0"/>
              <a:t>Document &amp; Artifact analysis</a:t>
            </a:r>
          </a:p>
          <a:p>
            <a:pPr marL="800100" lvl="1" indent="-342900">
              <a:buFont typeface="Arial" panose="020B0604020202020204" pitchFamily="34" charset="0"/>
              <a:buChar char="•"/>
            </a:pPr>
            <a:r>
              <a:rPr lang="en-US" sz="2200" dirty="0"/>
              <a:t>Domain/Market analysis</a:t>
            </a:r>
          </a:p>
          <a:p>
            <a:pPr marL="800100" lvl="1" indent="-342900">
              <a:buFont typeface="Arial" panose="020B0604020202020204" pitchFamily="34" charset="0"/>
              <a:buChar char="•"/>
            </a:pPr>
            <a:r>
              <a:rPr lang="en-US" sz="2200" dirty="0"/>
              <a:t>Competitive analysis</a:t>
            </a:r>
          </a:p>
          <a:p>
            <a:pPr marL="800100" lvl="1"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p:txBody>
      </p:sp>
    </p:spTree>
    <p:extLst>
      <p:ext uri="{BB962C8B-B14F-4D97-AF65-F5344CB8AC3E}">
        <p14:creationId xmlns:p14="http://schemas.microsoft.com/office/powerpoint/2010/main" val="4014908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BD90EE19-19B5-36D8-63C5-A08336AA30F8}"/>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F4772C81-A7D6-DEF3-A7EC-595D98F7B242}"/>
              </a:ext>
            </a:extLst>
          </p:cNvPr>
          <p:cNvSpPr txBox="1">
            <a:spLocks noGrp="1"/>
          </p:cNvSpPr>
          <p:nvPr>
            <p:ph type="title"/>
          </p:nvPr>
        </p:nvSpPr>
        <p:spPr>
          <a:xfrm>
            <a:off x="642918" y="1072110"/>
            <a:ext cx="3611029" cy="1862345"/>
          </a:xfrm>
          <a:prstGeom prst="rect">
            <a:avLst/>
          </a:prstGeom>
        </p:spPr>
        <p:txBody>
          <a:bodyPr spcFirstLastPara="1" vert="horz" lIns="109728" tIns="109728" rIns="109728" bIns="91440" rtlCol="0" anchor="ctr" anchorCtr="0">
            <a:normAutofit/>
          </a:bodyPr>
          <a:lstStyle/>
          <a:p>
            <a:pPr marL="0" lvl="0" indent="0">
              <a:lnSpc>
                <a:spcPct val="140000"/>
              </a:lnSpc>
              <a:spcBef>
                <a:spcPct val="0"/>
              </a:spcBef>
              <a:spcAft>
                <a:spcPts val="0"/>
              </a:spcAft>
              <a:buClr>
                <a:schemeClr val="dk1"/>
              </a:buClr>
              <a:buSzPts val="2400"/>
            </a:pPr>
            <a:r>
              <a:rPr lang="en-US" sz="2500" dirty="0"/>
              <a:t>Requirement Gathering Methods</a:t>
            </a:r>
          </a:p>
        </p:txBody>
      </p:sp>
      <p:sp>
        <p:nvSpPr>
          <p:cNvPr id="7" name="TextBox 6">
            <a:extLst>
              <a:ext uri="{FF2B5EF4-FFF2-40B4-BE49-F238E27FC236}">
                <a16:creationId xmlns:a16="http://schemas.microsoft.com/office/drawing/2014/main" id="{44D2B92A-6D08-7DE7-F8F0-337D0201EE6D}"/>
              </a:ext>
            </a:extLst>
          </p:cNvPr>
          <p:cNvSpPr txBox="1"/>
          <p:nvPr/>
        </p:nvSpPr>
        <p:spPr>
          <a:xfrm>
            <a:off x="4896865" y="819024"/>
            <a:ext cx="7009562" cy="4647426"/>
          </a:xfrm>
          <a:prstGeom prst="rect">
            <a:avLst/>
          </a:prstGeom>
          <a:noFill/>
        </p:spPr>
        <p:txBody>
          <a:bodyPr wrap="square">
            <a:spAutoFit/>
          </a:bodyPr>
          <a:lstStyle/>
          <a:p>
            <a:pPr marL="342900" indent="-342900">
              <a:buFont typeface="Arial" panose="020B0604020202020204" pitchFamily="34" charset="0"/>
              <a:buChar char="•"/>
            </a:pPr>
            <a:r>
              <a:rPr lang="en-US" sz="2200" b="1" dirty="0"/>
              <a:t>Direct user engagement</a:t>
            </a:r>
          </a:p>
          <a:p>
            <a:pPr marL="800100" lvl="1" indent="-342900">
              <a:buFont typeface="Arial" panose="020B0604020202020204" pitchFamily="34" charset="0"/>
              <a:buChar char="•"/>
            </a:pPr>
            <a:r>
              <a:rPr lang="en-US" sz="2200" dirty="0"/>
              <a:t>Observation</a:t>
            </a:r>
          </a:p>
          <a:p>
            <a:pPr marL="800100" lvl="1" indent="-342900">
              <a:buFont typeface="Arial" panose="020B0604020202020204" pitchFamily="34" charset="0"/>
              <a:buChar char="•"/>
            </a:pPr>
            <a:r>
              <a:rPr lang="en-US" sz="2200" dirty="0"/>
              <a:t>Interviews</a:t>
            </a:r>
          </a:p>
          <a:p>
            <a:pPr marL="800100" lvl="1" indent="-342900">
              <a:buFont typeface="Arial" panose="020B0604020202020204" pitchFamily="34" charset="0"/>
              <a:buChar char="•"/>
            </a:pPr>
            <a:r>
              <a:rPr lang="en-US" sz="2200" dirty="0"/>
              <a:t>Focus groups</a:t>
            </a:r>
          </a:p>
          <a:p>
            <a:pPr marL="800100" lvl="1" indent="-342900">
              <a:buFont typeface="Arial" panose="020B0604020202020204" pitchFamily="34" charset="0"/>
              <a:buChar char="•"/>
            </a:pPr>
            <a:r>
              <a:rPr lang="en-US" sz="2200" dirty="0"/>
              <a:t>Contextual inquiries</a:t>
            </a:r>
          </a:p>
          <a:p>
            <a:pPr marL="800100" lvl="1" indent="-342900">
              <a:buFont typeface="Arial" panose="020B0604020202020204" pitchFamily="34" charset="0"/>
              <a:buChar char="•"/>
            </a:pPr>
            <a:r>
              <a:rPr lang="en-US" sz="2200" dirty="0"/>
              <a:t>Survey &amp; questionaries</a:t>
            </a:r>
          </a:p>
          <a:p>
            <a:pPr lvl="1"/>
            <a:endParaRPr lang="en-US" sz="2200" dirty="0"/>
          </a:p>
          <a:p>
            <a:pPr marL="342900" indent="-342900">
              <a:buFont typeface="Arial" panose="020B0604020202020204" pitchFamily="34" charset="0"/>
              <a:buChar char="•"/>
            </a:pPr>
            <a:r>
              <a:rPr lang="en-US" sz="2200" b="1" dirty="0">
                <a:solidFill>
                  <a:schemeClr val="bg2"/>
                </a:solidFill>
              </a:rPr>
              <a:t>Collaborative and Participatory method</a:t>
            </a:r>
          </a:p>
          <a:p>
            <a:pPr marL="800100" lvl="1" indent="-342900">
              <a:buFont typeface="Arial" panose="020B0604020202020204" pitchFamily="34" charset="0"/>
              <a:buChar char="•"/>
            </a:pPr>
            <a:r>
              <a:rPr lang="en-US" sz="2200" dirty="0">
                <a:solidFill>
                  <a:schemeClr val="bg2"/>
                </a:solidFill>
              </a:rPr>
              <a:t>Participatory design</a:t>
            </a:r>
          </a:p>
          <a:p>
            <a:pPr marL="800100" lvl="1" indent="-342900">
              <a:buFont typeface="Arial" panose="020B0604020202020204" pitchFamily="34" charset="0"/>
              <a:buChar char="•"/>
            </a:pPr>
            <a:r>
              <a:rPr lang="en-US" sz="2200" dirty="0">
                <a:solidFill>
                  <a:schemeClr val="bg2"/>
                </a:solidFill>
              </a:rPr>
              <a:t>JAD/JDP (Joint Application Development / Joint Design Planning</a:t>
            </a:r>
          </a:p>
          <a:p>
            <a:pPr marL="800100" lvl="1" indent="-342900">
              <a:buFont typeface="Arial" panose="020B0604020202020204" pitchFamily="34" charset="0"/>
              <a:buChar char="•"/>
            </a:pPr>
            <a:endParaRPr lang="en-US" dirty="0"/>
          </a:p>
          <a:p>
            <a:pPr marL="800100" lvl="1"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208497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title"/>
          </p:nvPr>
        </p:nvSpPr>
        <p:spPr>
          <a:xfrm>
            <a:off x="170658" y="2200952"/>
            <a:ext cx="11850657" cy="1304000"/>
          </a:xfrm>
          <a:prstGeom prst="rect">
            <a:avLst/>
          </a:prstGeom>
          <a:noFill/>
          <a:ln>
            <a:noFill/>
          </a:ln>
        </p:spPr>
        <p:txBody>
          <a:bodyPr spcFirstLastPara="1" vert="horz" wrap="square" lIns="121900" tIns="121900" rIns="121900" bIns="121900" rtlCol="0" anchor="ctr" anchorCtr="0">
            <a:noAutofit/>
          </a:bodyPr>
          <a:lstStyle/>
          <a:p>
            <a:r>
              <a:rPr lang="en-US" sz="6667" dirty="0">
                <a:solidFill>
                  <a:schemeClr val="bg1"/>
                </a:solidFill>
              </a:rPr>
              <a:t>Observation</a:t>
            </a:r>
            <a:endParaRPr sz="6667" dirty="0">
              <a:solidFill>
                <a:schemeClr val="bg1"/>
              </a:solidFill>
            </a:endParaRPr>
          </a:p>
        </p:txBody>
      </p:sp>
      <p:cxnSp>
        <p:nvCxnSpPr>
          <p:cNvPr id="67" name="Google Shape;67;p2"/>
          <p:cNvCxnSpPr/>
          <p:nvPr/>
        </p:nvCxnSpPr>
        <p:spPr>
          <a:xfrm>
            <a:off x="4271208" y="4005048"/>
            <a:ext cx="3649600" cy="0"/>
          </a:xfrm>
          <a:prstGeom prst="straightConnector1">
            <a:avLst/>
          </a:prstGeom>
          <a:noFill/>
          <a:ln w="9525" cap="flat" cmpd="sng">
            <a:solidFill>
              <a:schemeClr val="dk2"/>
            </a:solidFill>
            <a:prstDash val="solid"/>
            <a:round/>
            <a:headEnd type="none" w="sm" len="sm"/>
            <a:tailEnd type="none" w="sm" len="sm"/>
          </a:ln>
        </p:spPr>
      </p:cxnSp>
    </p:spTree>
    <p:extLst>
      <p:ext uri="{BB962C8B-B14F-4D97-AF65-F5344CB8AC3E}">
        <p14:creationId xmlns:p14="http://schemas.microsoft.com/office/powerpoint/2010/main" val="1401984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9" name="Google Shape;320;p41">
            <a:extLst>
              <a:ext uri="{FF2B5EF4-FFF2-40B4-BE49-F238E27FC236}">
                <a16:creationId xmlns:a16="http://schemas.microsoft.com/office/drawing/2014/main" id="{61C6A4BC-80F2-4D6C-8CF3-35BBF2F1AA84}"/>
              </a:ext>
            </a:extLst>
          </p:cNvPr>
          <p:cNvSpPr txBox="1">
            <a:spLocks/>
          </p:cNvSpPr>
          <p:nvPr/>
        </p:nvSpPr>
        <p:spPr>
          <a:xfrm>
            <a:off x="642918" y="1072110"/>
            <a:ext cx="3611029" cy="1862345"/>
          </a:xfrm>
          <a:prstGeom prst="rect">
            <a:avLst/>
          </a:prstGeom>
        </p:spPr>
        <p:txBody>
          <a:bodyPr spcFirstLastPara="1" vert="horz" lIns="109728" tIns="109728" rIns="109728" bIns="9144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Aft>
                <a:spcPts val="600"/>
              </a:spcAft>
              <a:buClr>
                <a:schemeClr val="dk1"/>
              </a:buClr>
              <a:buSzPct val="100000"/>
            </a:pPr>
            <a:r>
              <a:rPr lang="en-US" sz="3600" b="1" spc="150">
                <a:solidFill>
                  <a:schemeClr val="tx1">
                    <a:lumMod val="75000"/>
                    <a:lumOff val="25000"/>
                  </a:schemeClr>
                </a:solidFill>
              </a:rPr>
              <a:t>Observation</a:t>
            </a:r>
          </a:p>
        </p:txBody>
      </p:sp>
      <p:sp>
        <p:nvSpPr>
          <p:cNvPr id="5" name="Content Placeholder 4">
            <a:extLst>
              <a:ext uri="{FF2B5EF4-FFF2-40B4-BE49-F238E27FC236}">
                <a16:creationId xmlns:a16="http://schemas.microsoft.com/office/drawing/2014/main" id="{0682B2CE-54DD-44FB-B96E-0E13C2A4A814}"/>
              </a:ext>
            </a:extLst>
          </p:cNvPr>
          <p:cNvSpPr>
            <a:spLocks noGrp="1"/>
          </p:cNvSpPr>
          <p:nvPr>
            <p:ph idx="4294967295"/>
          </p:nvPr>
        </p:nvSpPr>
        <p:spPr>
          <a:xfrm>
            <a:off x="358219" y="2554665"/>
            <a:ext cx="5410984" cy="3219930"/>
          </a:xfrm>
        </p:spPr>
        <p:txBody>
          <a:bodyPr vert="horz" lIns="109728" tIns="109728" rIns="109728" bIns="91440" rtlCol="0" anchor="t">
            <a:normAutofit lnSpcReduction="10000"/>
          </a:bodyPr>
          <a:lstStyle/>
          <a:p>
            <a:pPr>
              <a:lnSpc>
                <a:spcPct val="130000"/>
              </a:lnSpc>
            </a:pPr>
            <a:r>
              <a:rPr lang="en-US" b="0" dirty="0"/>
              <a:t>Observation is a method in which a team member observes stakeholders’ behavior as they use a similar or competitor’s product. </a:t>
            </a:r>
          </a:p>
          <a:p>
            <a:pPr>
              <a:lnSpc>
                <a:spcPct val="130000"/>
              </a:lnSpc>
            </a:pPr>
            <a:endParaRPr lang="en-US" b="0" dirty="0"/>
          </a:p>
          <a:p>
            <a:pPr>
              <a:lnSpc>
                <a:spcPct val="130000"/>
              </a:lnSpc>
            </a:pPr>
            <a:r>
              <a:rPr lang="en-US" b="0" dirty="0"/>
              <a:t>This method is useful for identifying pain points and areas for improvement in the product.</a:t>
            </a:r>
            <a:endParaRPr lang="en-US" dirty="0"/>
          </a:p>
        </p:txBody>
      </p:sp>
      <p:pic>
        <p:nvPicPr>
          <p:cNvPr id="3" name="Picture 2" descr="A collage of a child feeding pigeons&#10;&#10;Description automatically generated">
            <a:extLst>
              <a:ext uri="{FF2B5EF4-FFF2-40B4-BE49-F238E27FC236}">
                <a16:creationId xmlns:a16="http://schemas.microsoft.com/office/drawing/2014/main" id="{EF1D786F-F3DF-4C6F-B362-3EEE00572ED0}"/>
              </a:ext>
            </a:extLst>
          </p:cNvPr>
          <p:cNvPicPr>
            <a:picLocks noChangeAspect="1"/>
          </p:cNvPicPr>
          <p:nvPr/>
        </p:nvPicPr>
        <p:blipFill rotWithShape="1">
          <a:blip r:embed="rId3"/>
          <a:srcRect t="16058" r="-1" b="16056"/>
          <a:stretch>
            <a:fillRect/>
          </a:stretch>
        </p:blipFill>
        <p:spPr>
          <a:xfrm>
            <a:off x="5769203" y="1072110"/>
            <a:ext cx="6426981" cy="5072454"/>
          </a:xfrm>
          <a:prstGeom prst="rect">
            <a:avLst/>
          </a:prstGeom>
        </p:spPr>
      </p:pic>
    </p:spTree>
    <p:extLst>
      <p:ext uri="{BB962C8B-B14F-4D97-AF65-F5344CB8AC3E}">
        <p14:creationId xmlns:p14="http://schemas.microsoft.com/office/powerpoint/2010/main" val="329701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4" name="Picture 3">
            <a:extLst>
              <a:ext uri="{FF2B5EF4-FFF2-40B4-BE49-F238E27FC236}">
                <a16:creationId xmlns:a16="http://schemas.microsoft.com/office/drawing/2014/main" id="{58EDEB03-489C-4247-AAB5-4CB2A54C2376}"/>
              </a:ext>
            </a:extLst>
          </p:cNvPr>
          <p:cNvPicPr>
            <a:picLocks noChangeAspect="1"/>
          </p:cNvPicPr>
          <p:nvPr/>
        </p:nvPicPr>
        <p:blipFill rotWithShape="1">
          <a:blip r:embed="rId3"/>
          <a:srcRect b="6671"/>
          <a:stretch>
            <a:fillRect/>
          </a:stretch>
        </p:blipFill>
        <p:spPr>
          <a:xfrm>
            <a:off x="20" y="1804072"/>
            <a:ext cx="4458058" cy="4349801"/>
          </a:xfrm>
          <a:prstGeom prst="rect">
            <a:avLst/>
          </a:prstGeom>
        </p:spPr>
      </p:pic>
      <p:sp>
        <p:nvSpPr>
          <p:cNvPr id="9" name="Google Shape;320;p41">
            <a:extLst>
              <a:ext uri="{FF2B5EF4-FFF2-40B4-BE49-F238E27FC236}">
                <a16:creationId xmlns:a16="http://schemas.microsoft.com/office/drawing/2014/main" id="{61C6A4BC-80F2-4D6C-8CF3-35BBF2F1AA84}"/>
              </a:ext>
            </a:extLst>
          </p:cNvPr>
          <p:cNvSpPr txBox="1">
            <a:spLocks/>
          </p:cNvSpPr>
          <p:nvPr/>
        </p:nvSpPr>
        <p:spPr>
          <a:xfrm>
            <a:off x="4794634" y="332450"/>
            <a:ext cx="6754447" cy="1471622"/>
          </a:xfrm>
          <a:prstGeom prst="rect">
            <a:avLst/>
          </a:prstGeom>
        </p:spPr>
        <p:txBody>
          <a:bodyPr spcFirstLastPara="1" vert="horz" lIns="109728" tIns="109728" rIns="109728" bIns="9144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Aft>
                <a:spcPts val="600"/>
              </a:spcAft>
              <a:buClr>
                <a:schemeClr val="dk1"/>
              </a:buClr>
              <a:buSzPct val="100000"/>
            </a:pPr>
            <a:r>
              <a:rPr lang="en-US" sz="3600" b="1" spc="150">
                <a:solidFill>
                  <a:schemeClr val="tx1">
                    <a:lumMod val="75000"/>
                    <a:lumOff val="25000"/>
                  </a:schemeClr>
                </a:solidFill>
              </a:rPr>
              <a:t>Participant Observation</a:t>
            </a:r>
          </a:p>
        </p:txBody>
      </p:sp>
      <p:sp>
        <p:nvSpPr>
          <p:cNvPr id="5" name="Content Placeholder 4">
            <a:extLst>
              <a:ext uri="{FF2B5EF4-FFF2-40B4-BE49-F238E27FC236}">
                <a16:creationId xmlns:a16="http://schemas.microsoft.com/office/drawing/2014/main" id="{0682B2CE-54DD-44FB-B96E-0E13C2A4A814}"/>
              </a:ext>
            </a:extLst>
          </p:cNvPr>
          <p:cNvSpPr>
            <a:spLocks noGrp="1"/>
          </p:cNvSpPr>
          <p:nvPr>
            <p:ph idx="1"/>
          </p:nvPr>
        </p:nvSpPr>
        <p:spPr>
          <a:xfrm>
            <a:off x="4794637" y="1940001"/>
            <a:ext cx="6754446" cy="3834594"/>
          </a:xfrm>
        </p:spPr>
        <p:txBody>
          <a:bodyPr vert="horz" lIns="109728" tIns="109728" rIns="109728" bIns="91440" rtlCol="0" anchor="t">
            <a:normAutofit/>
          </a:bodyPr>
          <a:lstStyle/>
          <a:p>
            <a:r>
              <a:rPr lang="en-US" b="0" dirty="0"/>
              <a:t>Involves the researcher observing the participants’ activity by entering the community (place) and by </a:t>
            </a:r>
            <a:r>
              <a:rPr lang="en-US" dirty="0">
                <a:solidFill>
                  <a:srgbClr val="C00000"/>
                </a:solidFill>
              </a:rPr>
              <a:t>actively taking part </a:t>
            </a:r>
            <a:r>
              <a:rPr lang="en-US" b="0" dirty="0"/>
              <a:t>into the observed activity. </a:t>
            </a:r>
          </a:p>
          <a:p>
            <a:endParaRPr lang="en-US" b="0" dirty="0"/>
          </a:p>
          <a:p>
            <a:r>
              <a:rPr lang="en-US" b="0" dirty="0"/>
              <a:t>Researchers use this method to understand a phenomenon by experiencing it themselves. </a:t>
            </a:r>
          </a:p>
        </p:txBody>
      </p:sp>
    </p:spTree>
    <p:extLst>
      <p:ext uri="{BB962C8B-B14F-4D97-AF65-F5344CB8AC3E}">
        <p14:creationId xmlns:p14="http://schemas.microsoft.com/office/powerpoint/2010/main" val="3701486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9" name="Google Shape;320;p41">
            <a:extLst>
              <a:ext uri="{FF2B5EF4-FFF2-40B4-BE49-F238E27FC236}">
                <a16:creationId xmlns:a16="http://schemas.microsoft.com/office/drawing/2014/main" id="{61C6A4BC-80F2-4D6C-8CF3-35BBF2F1AA84}"/>
              </a:ext>
            </a:extLst>
          </p:cNvPr>
          <p:cNvSpPr txBox="1">
            <a:spLocks/>
          </p:cNvSpPr>
          <p:nvPr/>
        </p:nvSpPr>
        <p:spPr>
          <a:xfrm>
            <a:off x="742411" y="280838"/>
            <a:ext cx="6002110" cy="1495425"/>
          </a:xfrm>
          <a:prstGeom prst="rect">
            <a:avLst/>
          </a:prstGeom>
        </p:spPr>
        <p:txBody>
          <a:bodyPr spcFirstLastPara="1"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buClr>
                <a:schemeClr val="dk1"/>
              </a:buClr>
              <a:buSzPct val="100000"/>
            </a:pPr>
            <a:r>
              <a:rPr lang="en-US" sz="4000" dirty="0"/>
              <a:t>Participant Observation</a:t>
            </a:r>
          </a:p>
        </p:txBody>
      </p:sp>
      <p:sp>
        <p:nvSpPr>
          <p:cNvPr id="6" name="Content Placeholder 4">
            <a:extLst>
              <a:ext uri="{FF2B5EF4-FFF2-40B4-BE49-F238E27FC236}">
                <a16:creationId xmlns:a16="http://schemas.microsoft.com/office/drawing/2014/main" id="{F9C7318D-1A75-42C4-9EF4-EC16BB4561E3}"/>
              </a:ext>
            </a:extLst>
          </p:cNvPr>
          <p:cNvSpPr txBox="1">
            <a:spLocks/>
          </p:cNvSpPr>
          <p:nvPr/>
        </p:nvSpPr>
        <p:spPr>
          <a:xfrm>
            <a:off x="820968" y="1493098"/>
            <a:ext cx="11000244" cy="37290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latin typeface="Times New Roman" panose="02020603050405020304" pitchFamily="18" charset="0"/>
                <a:cs typeface="Times New Roman" panose="02020603050405020304" pitchFamily="18" charset="0"/>
              </a:rPr>
              <a:t>Pros</a:t>
            </a:r>
          </a:p>
          <a:p>
            <a:r>
              <a:rPr lang="en-US" sz="2200" dirty="0">
                <a:latin typeface="Times New Roman" panose="02020603050405020304" pitchFamily="18" charset="0"/>
                <a:cs typeface="Times New Roman" panose="02020603050405020304" pitchFamily="18" charset="0"/>
              </a:rPr>
              <a:t>The researcher has hands-on experience and is able to get into the meanings, viewpoints, values, and problems of the observed phenomena</a:t>
            </a:r>
          </a:p>
          <a:p>
            <a:r>
              <a:rPr lang="en-US" sz="2200" dirty="0">
                <a:latin typeface="Times New Roman" panose="02020603050405020304" pitchFamily="18" charset="0"/>
                <a:cs typeface="Times New Roman" panose="02020603050405020304" pitchFamily="18" charset="0"/>
              </a:rPr>
              <a:t>Provide a provision to develop insights where questioning is ineffective</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Cons</a:t>
            </a:r>
          </a:p>
          <a:p>
            <a:r>
              <a:rPr lang="en-US" sz="2200" dirty="0">
                <a:latin typeface="Times New Roman" panose="02020603050405020304" pitchFamily="18" charset="0"/>
                <a:cs typeface="Times New Roman" panose="02020603050405020304" pitchFamily="18" charset="0"/>
              </a:rPr>
              <a:t>Being actively part of the activity researcher may develop empathy towards the observer, which may result in bias.</a:t>
            </a:r>
          </a:p>
          <a:p>
            <a:r>
              <a:rPr lang="en-US" sz="2200" dirty="0">
                <a:latin typeface="Times New Roman" panose="02020603050405020304" pitchFamily="18" charset="0"/>
                <a:cs typeface="Times New Roman" panose="02020603050405020304" pitchFamily="18" charset="0"/>
              </a:rPr>
              <a:t>May give rise to several ethical concerns.</a:t>
            </a:r>
          </a:p>
          <a:p>
            <a:r>
              <a:rPr lang="en-US" sz="2200" dirty="0">
                <a:latin typeface="Times New Roman" panose="02020603050405020304" pitchFamily="18" charset="0"/>
                <a:cs typeface="Times New Roman" panose="02020603050405020304" pitchFamily="18" charset="0"/>
              </a:rPr>
              <a:t>It is time-consuming. </a:t>
            </a:r>
          </a:p>
        </p:txBody>
      </p:sp>
    </p:spTree>
    <p:extLst>
      <p:ext uri="{BB962C8B-B14F-4D97-AF65-F5344CB8AC3E}">
        <p14:creationId xmlns:p14="http://schemas.microsoft.com/office/powerpoint/2010/main" val="1772511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 name="Picture 2">
            <a:extLst>
              <a:ext uri="{FF2B5EF4-FFF2-40B4-BE49-F238E27FC236}">
                <a16:creationId xmlns:a16="http://schemas.microsoft.com/office/drawing/2014/main" id="{4EF7D206-435E-4E32-B2E2-B0E0ECBEED3A}"/>
              </a:ext>
            </a:extLst>
          </p:cNvPr>
          <p:cNvPicPr>
            <a:picLocks noChangeAspect="1"/>
          </p:cNvPicPr>
          <p:nvPr/>
        </p:nvPicPr>
        <p:blipFill>
          <a:blip r:embed="rId3"/>
          <a:stretch>
            <a:fillRect/>
          </a:stretch>
        </p:blipFill>
        <p:spPr>
          <a:xfrm>
            <a:off x="564646" y="1634888"/>
            <a:ext cx="3328786" cy="3559394"/>
          </a:xfrm>
          <a:prstGeom prst="rect">
            <a:avLst/>
          </a:prstGeom>
        </p:spPr>
      </p:pic>
      <p:sp>
        <p:nvSpPr>
          <p:cNvPr id="9" name="Google Shape;320;p41">
            <a:extLst>
              <a:ext uri="{FF2B5EF4-FFF2-40B4-BE49-F238E27FC236}">
                <a16:creationId xmlns:a16="http://schemas.microsoft.com/office/drawing/2014/main" id="{61C6A4BC-80F2-4D6C-8CF3-35BBF2F1AA84}"/>
              </a:ext>
            </a:extLst>
          </p:cNvPr>
          <p:cNvSpPr txBox="1">
            <a:spLocks/>
          </p:cNvSpPr>
          <p:nvPr/>
        </p:nvSpPr>
        <p:spPr>
          <a:xfrm>
            <a:off x="4919472" y="1056362"/>
            <a:ext cx="6627226" cy="1154102"/>
          </a:xfrm>
          <a:prstGeom prst="rect">
            <a:avLst/>
          </a:prstGeom>
        </p:spPr>
        <p:txBody>
          <a:bodyPr spcFirstLastPara="1" vert="horz" lIns="109728" tIns="109728" rIns="109728" bIns="9144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40000"/>
              </a:lnSpc>
              <a:spcAft>
                <a:spcPts val="600"/>
              </a:spcAft>
              <a:buClr>
                <a:schemeClr val="dk1"/>
              </a:buClr>
              <a:buSzPct val="100000"/>
            </a:pPr>
            <a:r>
              <a:rPr lang="en-US" sz="2800" b="1" spc="150">
                <a:solidFill>
                  <a:schemeClr val="tx1">
                    <a:lumMod val="75000"/>
                    <a:lumOff val="25000"/>
                  </a:schemeClr>
                </a:solidFill>
              </a:rPr>
              <a:t>Non-Participant Observation</a:t>
            </a:r>
          </a:p>
        </p:txBody>
      </p:sp>
      <p:sp>
        <p:nvSpPr>
          <p:cNvPr id="5" name="Content Placeholder 4">
            <a:extLst>
              <a:ext uri="{FF2B5EF4-FFF2-40B4-BE49-F238E27FC236}">
                <a16:creationId xmlns:a16="http://schemas.microsoft.com/office/drawing/2014/main" id="{0682B2CE-54DD-44FB-B96E-0E13C2A4A814}"/>
              </a:ext>
            </a:extLst>
          </p:cNvPr>
          <p:cNvSpPr>
            <a:spLocks noGrp="1"/>
          </p:cNvSpPr>
          <p:nvPr>
            <p:ph idx="1"/>
          </p:nvPr>
        </p:nvSpPr>
        <p:spPr>
          <a:xfrm>
            <a:off x="4921857" y="2268656"/>
            <a:ext cx="6627226" cy="3505938"/>
          </a:xfrm>
        </p:spPr>
        <p:txBody>
          <a:bodyPr vert="horz" lIns="109728" tIns="109728" rIns="109728" bIns="91440" rtlCol="0" anchor="t">
            <a:normAutofit/>
          </a:bodyPr>
          <a:lstStyle/>
          <a:p>
            <a:r>
              <a:rPr lang="en-US" b="0" dirty="0"/>
              <a:t>Involves the researcher observing the participants’ activity by entering the community (place), however, being </a:t>
            </a:r>
            <a:r>
              <a:rPr lang="en-US" dirty="0"/>
              <a:t>completely separate </a:t>
            </a:r>
            <a:r>
              <a:rPr lang="en-US" b="0" dirty="0"/>
              <a:t>from the observed activity</a:t>
            </a:r>
          </a:p>
          <a:p>
            <a:endParaRPr lang="en-US" b="0" dirty="0"/>
          </a:p>
          <a:p>
            <a:r>
              <a:rPr lang="en-US" b="0" dirty="0"/>
              <a:t>Researchers use this method to understand a phenomenon by </a:t>
            </a:r>
            <a:r>
              <a:rPr lang="en-US" dirty="0"/>
              <a:t>viewing</a:t>
            </a:r>
            <a:r>
              <a:rPr lang="en-US" b="0" dirty="0"/>
              <a:t> what is going on with their own eyes</a:t>
            </a:r>
          </a:p>
        </p:txBody>
      </p:sp>
    </p:spTree>
    <p:extLst>
      <p:ext uri="{BB962C8B-B14F-4D97-AF65-F5344CB8AC3E}">
        <p14:creationId xmlns:p14="http://schemas.microsoft.com/office/powerpoint/2010/main" val="333827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9" name="Google Shape;320;p41">
            <a:extLst>
              <a:ext uri="{FF2B5EF4-FFF2-40B4-BE49-F238E27FC236}">
                <a16:creationId xmlns:a16="http://schemas.microsoft.com/office/drawing/2014/main" id="{61C6A4BC-80F2-4D6C-8CF3-35BBF2F1AA84}"/>
              </a:ext>
            </a:extLst>
          </p:cNvPr>
          <p:cNvSpPr txBox="1">
            <a:spLocks/>
          </p:cNvSpPr>
          <p:nvPr/>
        </p:nvSpPr>
        <p:spPr>
          <a:xfrm>
            <a:off x="304800" y="688387"/>
            <a:ext cx="7570474" cy="1495425"/>
          </a:xfrm>
          <a:prstGeom prst="rect">
            <a:avLst/>
          </a:prstGeom>
        </p:spPr>
        <p:txBody>
          <a:bodyPr spcFirstLastPara="1"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buClr>
                <a:schemeClr val="dk1"/>
              </a:buClr>
              <a:buSzPct val="100000"/>
            </a:pPr>
            <a:r>
              <a:rPr lang="en-US" sz="4000" dirty="0"/>
              <a:t>Non-Participant Observation</a:t>
            </a:r>
          </a:p>
        </p:txBody>
      </p:sp>
      <p:sp>
        <p:nvSpPr>
          <p:cNvPr id="6" name="Content Placeholder 4">
            <a:extLst>
              <a:ext uri="{FF2B5EF4-FFF2-40B4-BE49-F238E27FC236}">
                <a16:creationId xmlns:a16="http://schemas.microsoft.com/office/drawing/2014/main" id="{F9C7318D-1A75-42C4-9EF4-EC16BB4561E3}"/>
              </a:ext>
            </a:extLst>
          </p:cNvPr>
          <p:cNvSpPr txBox="1">
            <a:spLocks/>
          </p:cNvSpPr>
          <p:nvPr/>
        </p:nvSpPr>
        <p:spPr>
          <a:xfrm>
            <a:off x="405353" y="1864771"/>
            <a:ext cx="11481847" cy="37290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t>Pros</a:t>
            </a:r>
          </a:p>
          <a:p>
            <a:pPr lvl="1"/>
            <a:r>
              <a:rPr lang="en-US" sz="2200" dirty="0"/>
              <a:t>Allows the researchers to be more open-minded, as they are not being sympathetically involved into the observed phenomena.</a:t>
            </a:r>
          </a:p>
          <a:p>
            <a:pPr lvl="1"/>
            <a:endParaRPr lang="en-US" sz="2200" dirty="0"/>
          </a:p>
          <a:p>
            <a:pPr lvl="1"/>
            <a:r>
              <a:rPr lang="en-US" sz="2200" dirty="0"/>
              <a:t>Allows the researcher to make judgments and observe body language.</a:t>
            </a:r>
          </a:p>
          <a:p>
            <a:r>
              <a:rPr lang="en-US" sz="2200" b="1" dirty="0"/>
              <a:t>Cons</a:t>
            </a:r>
          </a:p>
          <a:p>
            <a:pPr lvl="1"/>
            <a:r>
              <a:rPr lang="en-US" sz="2200" dirty="0"/>
              <a:t>As researchers are not actively taking part in the observed phenomena, hence, there is a chance that the researchers may end up not getting accurate data for observing from a distance.</a:t>
            </a:r>
          </a:p>
          <a:p>
            <a:pPr marL="457200" lvl="1" indent="0">
              <a:buNone/>
            </a:pPr>
            <a:endParaRPr lang="en-US" sz="2200" dirty="0"/>
          </a:p>
          <a:p>
            <a:pPr lvl="1"/>
            <a:r>
              <a:rPr lang="en-US" sz="2200" dirty="0"/>
              <a:t>It is time-consuming.</a:t>
            </a:r>
          </a:p>
          <a:p>
            <a:pPr lvl="1"/>
            <a:endParaRPr lang="en-US" sz="2200" dirty="0"/>
          </a:p>
          <a:p>
            <a:pPr lvl="1"/>
            <a:r>
              <a:rPr lang="en-US" sz="2200" dirty="0"/>
              <a:t>People may change their behavior if they are informed being observed</a:t>
            </a:r>
          </a:p>
        </p:txBody>
      </p:sp>
    </p:spTree>
    <p:extLst>
      <p:ext uri="{BB962C8B-B14F-4D97-AF65-F5344CB8AC3E}">
        <p14:creationId xmlns:p14="http://schemas.microsoft.com/office/powerpoint/2010/main" val="1393299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C7EB14E1-3330-3471-E01A-CA969534A598}"/>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A3447DFC-D504-1697-EF0A-027AE360EE9B}"/>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Hawthrone Effect (Observer Effect)</a:t>
            </a:r>
            <a:endParaRPr sz="3200" dirty="0"/>
          </a:p>
        </p:txBody>
      </p:sp>
      <p:sp>
        <p:nvSpPr>
          <p:cNvPr id="568" name="Google Shape;568;p83">
            <a:extLst>
              <a:ext uri="{FF2B5EF4-FFF2-40B4-BE49-F238E27FC236}">
                <a16:creationId xmlns:a16="http://schemas.microsoft.com/office/drawing/2014/main" id="{4F929CBD-EEC2-CF26-C18A-0D04E3982E81}"/>
              </a:ext>
            </a:extLst>
          </p:cNvPr>
          <p:cNvSpPr txBox="1">
            <a:spLocks noGrp="1"/>
          </p:cNvSpPr>
          <p:nvPr>
            <p:ph type="body" idx="4294967295"/>
          </p:nvPr>
        </p:nvSpPr>
        <p:spPr>
          <a:xfrm>
            <a:off x="642879" y="1422919"/>
            <a:ext cx="7231614"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b="0" dirty="0"/>
              <a:t>Individuals modify an aspect of their behavior in response to their awareness of being observed </a:t>
            </a:r>
          </a:p>
          <a:p>
            <a:pPr marL="342900" lvl="0" indent="-342900">
              <a:lnSpc>
                <a:spcPct val="115000"/>
              </a:lnSpc>
              <a:spcBef>
                <a:spcPts val="0"/>
              </a:spcBef>
              <a:buClr>
                <a:schemeClr val="dk1"/>
              </a:buClr>
              <a:buSzPts val="1800"/>
              <a:buFont typeface="Arial" panose="020B0604020202020204" pitchFamily="34" charset="0"/>
              <a:buChar char="•"/>
            </a:pPr>
            <a:endParaRPr lang="en-US" b="0" dirty="0"/>
          </a:p>
          <a:p>
            <a:pPr marL="342900" lvl="0" indent="-342900">
              <a:lnSpc>
                <a:spcPct val="115000"/>
              </a:lnSpc>
              <a:spcBef>
                <a:spcPts val="0"/>
              </a:spcBef>
              <a:buClr>
                <a:schemeClr val="dk1"/>
              </a:buClr>
              <a:buSzPts val="1800"/>
              <a:buFont typeface="Arial" panose="020B0604020202020204" pitchFamily="34" charset="0"/>
              <a:buChar char="•"/>
            </a:pPr>
            <a:r>
              <a:rPr lang="en-US" b="0" dirty="0"/>
              <a:t>Named for experiments on the Hawthrone Works factories in the 1920s &amp; 1930s</a:t>
            </a:r>
          </a:p>
          <a:p>
            <a:pPr lvl="0">
              <a:lnSpc>
                <a:spcPct val="115000"/>
              </a:lnSpc>
              <a:spcBef>
                <a:spcPts val="0"/>
              </a:spcBef>
              <a:buClr>
                <a:schemeClr val="dk1"/>
              </a:buClr>
              <a:buSzPts val="1800"/>
            </a:pPr>
            <a:endParaRPr lang="en-US" b="0" dirty="0"/>
          </a:p>
          <a:p>
            <a:pPr lvl="0">
              <a:lnSpc>
                <a:spcPct val="115000"/>
              </a:lnSpc>
              <a:spcBef>
                <a:spcPts val="0"/>
              </a:spcBef>
              <a:buClr>
                <a:schemeClr val="dk1"/>
              </a:buClr>
              <a:buSzPts val="1800"/>
            </a:pPr>
            <a:endParaRPr lang="en-US" b="0" dirty="0"/>
          </a:p>
          <a:p>
            <a:pPr marL="342900" lvl="0" indent="-342900">
              <a:lnSpc>
                <a:spcPct val="115000"/>
              </a:lnSpc>
              <a:spcBef>
                <a:spcPts val="0"/>
              </a:spcBef>
              <a:buClr>
                <a:schemeClr val="dk1"/>
              </a:buClr>
              <a:buSzPts val="1800"/>
              <a:buFont typeface="Arial" panose="020B0604020202020204" pitchFamily="34" charset="0"/>
              <a:buChar char="•"/>
            </a:pPr>
            <a:r>
              <a:rPr lang="en-US" b="0" dirty="0"/>
              <a:t>How might you avoid the effect?</a:t>
            </a:r>
          </a:p>
          <a:p>
            <a:pPr lvl="2" indent="0">
              <a:lnSpc>
                <a:spcPct val="115000"/>
              </a:lnSpc>
              <a:spcBef>
                <a:spcPts val="0"/>
              </a:spcBef>
              <a:buClr>
                <a:schemeClr val="dk1"/>
              </a:buClr>
              <a:buSzPts val="1800"/>
              <a:buNone/>
            </a:pPr>
            <a:r>
              <a:rPr lang="en-US" dirty="0"/>
              <a:t>	- build rapport with the participants</a:t>
            </a:r>
          </a:p>
          <a:p>
            <a:pPr lvl="2" indent="0">
              <a:lnSpc>
                <a:spcPct val="115000"/>
              </a:lnSpc>
              <a:spcBef>
                <a:spcPts val="0"/>
              </a:spcBef>
              <a:buClr>
                <a:schemeClr val="dk1"/>
              </a:buClr>
              <a:buSzPts val="1800"/>
              <a:buNone/>
            </a:pPr>
            <a:r>
              <a:rPr lang="en-US" b="0" dirty="0"/>
              <a:t>	- normalizing the observation</a:t>
            </a:r>
          </a:p>
          <a:p>
            <a:pPr lvl="2" indent="0">
              <a:lnSpc>
                <a:spcPct val="115000"/>
              </a:lnSpc>
              <a:spcBef>
                <a:spcPts val="0"/>
              </a:spcBef>
              <a:buClr>
                <a:schemeClr val="dk1"/>
              </a:buClr>
              <a:buSzPts val="1800"/>
              <a:buNone/>
            </a:pPr>
            <a:r>
              <a:rPr lang="en-US" dirty="0"/>
              <a:t>	- use multiple methods</a:t>
            </a:r>
            <a:endParaRPr b="0" dirty="0"/>
          </a:p>
        </p:txBody>
      </p:sp>
      <p:sp>
        <p:nvSpPr>
          <p:cNvPr id="570" name="Google Shape;570;p83">
            <a:extLst>
              <a:ext uri="{FF2B5EF4-FFF2-40B4-BE49-F238E27FC236}">
                <a16:creationId xmlns:a16="http://schemas.microsoft.com/office/drawing/2014/main" id="{5CC22994-5D05-4E7F-6FFA-88EA56015386}"/>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pic>
        <p:nvPicPr>
          <p:cNvPr id="1026" name="Picture 2" descr="The Hawthorne Effect - The Decision Lab">
            <a:extLst>
              <a:ext uri="{FF2B5EF4-FFF2-40B4-BE49-F238E27FC236}">
                <a16:creationId xmlns:a16="http://schemas.microsoft.com/office/drawing/2014/main" id="{0495109D-9644-4543-5797-657343AC6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164" y="1839244"/>
            <a:ext cx="4251013" cy="3558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52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29567BBE-6DA0-CA5C-23B7-669B94FC3576}"/>
            </a:ext>
          </a:extLst>
        </p:cNvPr>
        <p:cNvGrpSpPr/>
        <p:nvPr/>
      </p:nvGrpSpPr>
      <p:grpSpPr>
        <a:xfrm>
          <a:off x="0" y="0"/>
          <a:ext cx="0" cy="0"/>
          <a:chOff x="0" y="0"/>
          <a:chExt cx="0" cy="0"/>
        </a:xfrm>
      </p:grpSpPr>
      <p:sp>
        <p:nvSpPr>
          <p:cNvPr id="66" name="Google Shape;66;p2">
            <a:extLst>
              <a:ext uri="{FF2B5EF4-FFF2-40B4-BE49-F238E27FC236}">
                <a16:creationId xmlns:a16="http://schemas.microsoft.com/office/drawing/2014/main" id="{EB2829B5-D0BE-FDCF-A36A-CEDFED3AF309}"/>
              </a:ext>
            </a:extLst>
          </p:cNvPr>
          <p:cNvSpPr txBox="1">
            <a:spLocks noGrp="1"/>
          </p:cNvSpPr>
          <p:nvPr>
            <p:ph type="title"/>
          </p:nvPr>
        </p:nvSpPr>
        <p:spPr>
          <a:xfrm>
            <a:off x="170658" y="2200952"/>
            <a:ext cx="11850657" cy="1304000"/>
          </a:xfrm>
          <a:prstGeom prst="rect">
            <a:avLst/>
          </a:prstGeom>
          <a:noFill/>
          <a:ln>
            <a:noFill/>
          </a:ln>
        </p:spPr>
        <p:txBody>
          <a:bodyPr spcFirstLastPara="1" vert="horz" wrap="square" lIns="121900" tIns="121900" rIns="121900" bIns="121900" rtlCol="0" anchor="ctr" anchorCtr="0">
            <a:noAutofit/>
          </a:bodyPr>
          <a:lstStyle/>
          <a:p>
            <a:r>
              <a:rPr lang="en-US" sz="6667" dirty="0">
                <a:solidFill>
                  <a:schemeClr val="bg1"/>
                </a:solidFill>
              </a:rPr>
              <a:t>Interviews</a:t>
            </a:r>
            <a:endParaRPr sz="6667" dirty="0">
              <a:solidFill>
                <a:schemeClr val="bg1"/>
              </a:solidFill>
            </a:endParaRPr>
          </a:p>
        </p:txBody>
      </p:sp>
      <p:cxnSp>
        <p:nvCxnSpPr>
          <p:cNvPr id="67" name="Google Shape;67;p2">
            <a:extLst>
              <a:ext uri="{FF2B5EF4-FFF2-40B4-BE49-F238E27FC236}">
                <a16:creationId xmlns:a16="http://schemas.microsoft.com/office/drawing/2014/main" id="{E5936460-8FED-E814-BC4D-3DDB3505E8EA}"/>
              </a:ext>
            </a:extLst>
          </p:cNvPr>
          <p:cNvCxnSpPr/>
          <p:nvPr/>
        </p:nvCxnSpPr>
        <p:spPr>
          <a:xfrm>
            <a:off x="4271208" y="4005048"/>
            <a:ext cx="3649600" cy="0"/>
          </a:xfrm>
          <a:prstGeom prst="straightConnector1">
            <a:avLst/>
          </a:prstGeom>
          <a:noFill/>
          <a:ln w="9525" cap="flat" cmpd="sng">
            <a:solidFill>
              <a:schemeClr val="dk2"/>
            </a:solidFill>
            <a:prstDash val="solid"/>
            <a:round/>
            <a:headEnd type="none" w="sm" len="sm"/>
            <a:tailEnd type="none" w="sm" len="sm"/>
          </a:ln>
        </p:spPr>
      </p:cxnSp>
    </p:spTree>
    <p:extLst>
      <p:ext uri="{BB962C8B-B14F-4D97-AF65-F5344CB8AC3E}">
        <p14:creationId xmlns:p14="http://schemas.microsoft.com/office/powerpoint/2010/main" val="3628316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graphicFrame>
        <p:nvGraphicFramePr>
          <p:cNvPr id="211" name="Google Shape;211;p29"/>
          <p:cNvGraphicFramePr/>
          <p:nvPr/>
        </p:nvGraphicFramePr>
        <p:xfrm>
          <a:off x="583434" y="1642533"/>
          <a:ext cx="11192966" cy="4528194"/>
        </p:xfrm>
        <a:graphic>
          <a:graphicData uri="http://schemas.openxmlformats.org/drawingml/2006/table">
            <a:tbl>
              <a:tblPr>
                <a:noFill/>
              </a:tblPr>
              <a:tblGrid>
                <a:gridCol w="852333">
                  <a:extLst>
                    <a:ext uri="{9D8B030D-6E8A-4147-A177-3AD203B41FA5}">
                      <a16:colId xmlns:a16="http://schemas.microsoft.com/office/drawing/2014/main" val="20000"/>
                    </a:ext>
                  </a:extLst>
                </a:gridCol>
                <a:gridCol w="3390433">
                  <a:extLst>
                    <a:ext uri="{9D8B030D-6E8A-4147-A177-3AD203B41FA5}">
                      <a16:colId xmlns:a16="http://schemas.microsoft.com/office/drawing/2014/main" val="20001"/>
                    </a:ext>
                  </a:extLst>
                </a:gridCol>
                <a:gridCol w="3610467">
                  <a:extLst>
                    <a:ext uri="{9D8B030D-6E8A-4147-A177-3AD203B41FA5}">
                      <a16:colId xmlns:a16="http://schemas.microsoft.com/office/drawing/2014/main" val="20002"/>
                    </a:ext>
                  </a:extLst>
                </a:gridCol>
                <a:gridCol w="3339733">
                  <a:extLst>
                    <a:ext uri="{9D8B030D-6E8A-4147-A177-3AD203B41FA5}">
                      <a16:colId xmlns:a16="http://schemas.microsoft.com/office/drawing/2014/main" val="20003"/>
                    </a:ext>
                  </a:extLst>
                </a:gridCol>
              </a:tblGrid>
              <a:tr h="448889">
                <a:tc rowSpan="2">
                  <a:txBody>
                    <a:bodyPr/>
                    <a:lstStyle/>
                    <a:p>
                      <a:pPr marL="0" lvl="0" indent="0" algn="l" rtl="0">
                        <a:spcBef>
                          <a:spcPts val="0"/>
                        </a:spcBef>
                        <a:spcAft>
                          <a:spcPts val="0"/>
                        </a:spcAft>
                        <a:buNone/>
                      </a:pPr>
                      <a:endParaRPr sz="2000" b="1">
                        <a:latin typeface="Calibri"/>
                        <a:ea typeface="Calibri"/>
                        <a:cs typeface="Calibri"/>
                        <a:sym typeface="Calibri"/>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2000" b="1">
                          <a:solidFill>
                            <a:srgbClr val="00B050"/>
                          </a:solidFill>
                          <a:latin typeface="Calibri"/>
                          <a:ea typeface="Calibri"/>
                          <a:cs typeface="Calibri"/>
                          <a:sym typeface="Calibri"/>
                        </a:rPr>
                        <a:t>Unstructured Interview</a:t>
                      </a:r>
                      <a:endParaRPr sz="2000" b="1">
                        <a:latin typeface="Calibri"/>
                        <a:ea typeface="Calibri"/>
                        <a:cs typeface="Calibri"/>
                        <a:sym typeface="Calibri"/>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solidFill>
                            <a:srgbClr val="00B050"/>
                          </a:solidFill>
                          <a:latin typeface="Calibri"/>
                          <a:ea typeface="Calibri"/>
                          <a:cs typeface="Calibri"/>
                          <a:sym typeface="Calibri"/>
                        </a:rPr>
                        <a:t>Semi-Structured Interview</a:t>
                      </a:r>
                      <a:endParaRPr sz="2000" b="1">
                        <a:solidFill>
                          <a:srgbClr val="00B050"/>
                        </a:solidFill>
                        <a:latin typeface="Calibri"/>
                        <a:ea typeface="Calibri"/>
                        <a:cs typeface="Calibri"/>
                        <a:sym typeface="Calibri"/>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000" b="1">
                          <a:solidFill>
                            <a:srgbClr val="00B050"/>
                          </a:solidFill>
                          <a:latin typeface="Calibri"/>
                          <a:ea typeface="Calibri"/>
                          <a:cs typeface="Calibri"/>
                          <a:sym typeface="Calibri"/>
                        </a:rPr>
                        <a:t>Structured Interview</a:t>
                      </a:r>
                      <a:endParaRPr sz="2000" b="1">
                        <a:latin typeface="Calibri"/>
                        <a:ea typeface="Calibri"/>
                        <a:cs typeface="Calibri"/>
                        <a:sym typeface="Calibri"/>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979594">
                <a:tc vMerge="1">
                  <a:txBody>
                    <a:bodyPr/>
                    <a:lstStyle/>
                    <a:p>
                      <a:endParaRPr lang="en-US"/>
                    </a:p>
                  </a:txBody>
                  <a:tcPr/>
                </a:tc>
                <a:tc>
                  <a:txBody>
                    <a:bodyPr/>
                    <a:lstStyle/>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little knowledge</a:t>
                      </a:r>
                      <a:r>
                        <a:rPr lang="en-US" sz="2000" dirty="0">
                          <a:latin typeface="Calibri"/>
                          <a:ea typeface="Calibri"/>
                          <a:cs typeface="Calibri"/>
                          <a:sym typeface="Calibri"/>
                        </a:rPr>
                        <a:t> about the interview topic </a:t>
                      </a:r>
                      <a:endParaRPr sz="2000" dirty="0">
                        <a:latin typeface="Calibri"/>
                        <a:ea typeface="Calibri"/>
                        <a:cs typeface="Calibri"/>
                        <a:sym typeface="Calibri"/>
                      </a:endParaRPr>
                    </a:p>
                    <a:p>
                      <a:pPr marL="457200" lvl="0" indent="0" algn="l" rtl="0">
                        <a:spcBef>
                          <a:spcPts val="0"/>
                        </a:spcBef>
                        <a:spcAft>
                          <a:spcPts val="0"/>
                        </a:spcAft>
                        <a:buNone/>
                      </a:pPr>
                      <a:endParaRPr sz="2000"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US" sz="2000" b="1" dirty="0">
                          <a:solidFill>
                            <a:schemeClr val="dk1"/>
                          </a:solidFill>
                          <a:latin typeface="Calibri"/>
                          <a:ea typeface="Calibri"/>
                          <a:cs typeface="Calibri"/>
                          <a:sym typeface="Calibri"/>
                        </a:rPr>
                        <a:t>no guide and exploratory in nature</a:t>
                      </a:r>
                      <a:r>
                        <a:rPr lang="en-US" sz="2000" dirty="0">
                          <a:solidFill>
                            <a:schemeClr val="dk1"/>
                          </a:solidFill>
                          <a:latin typeface="Calibri"/>
                          <a:ea typeface="Calibri"/>
                          <a:cs typeface="Calibri"/>
                          <a:sym typeface="Calibri"/>
                        </a:rPr>
                        <a:t> due to high flexibility, off the cuff</a:t>
                      </a:r>
                      <a:endParaRPr sz="2000" dirty="0">
                        <a:latin typeface="Calibri"/>
                        <a:ea typeface="Calibri"/>
                        <a:cs typeface="Calibri"/>
                        <a:sym typeface="Calibri"/>
                      </a:endParaRPr>
                    </a:p>
                    <a:p>
                      <a:pPr marL="0" lvl="0" indent="0" algn="l" rtl="0">
                        <a:spcBef>
                          <a:spcPts val="0"/>
                        </a:spcBef>
                        <a:spcAft>
                          <a:spcPts val="0"/>
                        </a:spcAft>
                        <a:buNone/>
                      </a:pPr>
                      <a:endParaRPr sz="2000"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go with the flow</a:t>
                      </a:r>
                      <a:r>
                        <a:rPr lang="en-US" sz="2000" dirty="0">
                          <a:latin typeface="Calibri"/>
                          <a:ea typeface="Calibri"/>
                          <a:cs typeface="Calibri"/>
                          <a:sym typeface="Calibri"/>
                        </a:rPr>
                        <a:t>, the interview becomes the apprentice / learner</a:t>
                      </a:r>
                      <a:endParaRPr sz="2000" dirty="0">
                        <a:latin typeface="Calibri"/>
                        <a:ea typeface="Calibri"/>
                        <a:cs typeface="Calibri"/>
                        <a:sym typeface="Calibri"/>
                      </a:endParaRPr>
                    </a:p>
                  </a:txBody>
                  <a:tcPr marL="121900" marR="121900" marT="121900" marB="121900">
                    <a:lnT w="9525" cap="flat" cmpd="sng">
                      <a:solidFill>
                        <a:srgbClr val="9E9E9E"/>
                      </a:solidFill>
                      <a:prstDash val="solid"/>
                      <a:round/>
                      <a:headEnd type="none" w="sm" len="sm"/>
                      <a:tailEnd type="none" w="sm" len="sm"/>
                    </a:lnT>
                  </a:tcPr>
                </a:tc>
                <a:tc>
                  <a:txBody>
                    <a:bodyPr/>
                    <a:lstStyle/>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some knowledge</a:t>
                      </a:r>
                      <a:r>
                        <a:rPr lang="en-US" sz="2000" dirty="0">
                          <a:latin typeface="Calibri"/>
                          <a:ea typeface="Calibri"/>
                          <a:cs typeface="Calibri"/>
                          <a:sym typeface="Calibri"/>
                        </a:rPr>
                        <a:t> about the interview topic</a:t>
                      </a:r>
                      <a:endParaRPr sz="2000" dirty="0">
                        <a:latin typeface="Calibri"/>
                        <a:ea typeface="Calibri"/>
                        <a:cs typeface="Calibri"/>
                        <a:sym typeface="Calibri"/>
                      </a:endParaRPr>
                    </a:p>
                    <a:p>
                      <a:pPr marL="457200" lvl="0" indent="0" algn="l" rtl="0">
                        <a:spcBef>
                          <a:spcPts val="0"/>
                        </a:spcBef>
                        <a:spcAft>
                          <a:spcPts val="0"/>
                        </a:spcAft>
                        <a:buNone/>
                      </a:pPr>
                      <a:endParaRPr sz="2000"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US" sz="2000" dirty="0">
                          <a:latin typeface="Calibri"/>
                          <a:ea typeface="Calibri"/>
                          <a:cs typeface="Calibri"/>
                          <a:sym typeface="Calibri"/>
                        </a:rPr>
                        <a:t>a </a:t>
                      </a:r>
                      <a:r>
                        <a:rPr lang="en-US" sz="2000" b="1" dirty="0">
                          <a:latin typeface="Calibri"/>
                          <a:ea typeface="Calibri"/>
                          <a:cs typeface="Calibri"/>
                          <a:sym typeface="Calibri"/>
                        </a:rPr>
                        <a:t>less strictly defined guide</a:t>
                      </a:r>
                      <a:r>
                        <a:rPr lang="en-US" sz="2000" dirty="0">
                          <a:latin typeface="Calibri"/>
                          <a:ea typeface="Calibri"/>
                          <a:cs typeface="Calibri"/>
                          <a:sym typeface="Calibri"/>
                        </a:rPr>
                        <a:t> with themes and questions you want to learn about</a:t>
                      </a:r>
                      <a:endParaRPr sz="2000" dirty="0">
                        <a:latin typeface="Calibri"/>
                        <a:ea typeface="Calibri"/>
                        <a:cs typeface="Calibri"/>
                        <a:sym typeface="Calibri"/>
                      </a:endParaRPr>
                    </a:p>
                    <a:p>
                      <a:pPr marL="457200" lvl="0" indent="0" algn="l" rtl="0">
                        <a:spcBef>
                          <a:spcPts val="0"/>
                        </a:spcBef>
                        <a:spcAft>
                          <a:spcPts val="0"/>
                        </a:spcAft>
                        <a:buNone/>
                      </a:pPr>
                      <a:endParaRPr sz="2000"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deviations are allowed</a:t>
                      </a:r>
                      <a:r>
                        <a:rPr lang="en-US" sz="2000" dirty="0">
                          <a:latin typeface="Calibri"/>
                          <a:ea typeface="Calibri"/>
                          <a:cs typeface="Calibri"/>
                          <a:sym typeface="Calibri"/>
                        </a:rPr>
                        <a:t> and encouraged → probing but staying on topic</a:t>
                      </a:r>
                      <a:endParaRPr sz="2000" dirty="0">
                        <a:latin typeface="Calibri"/>
                        <a:ea typeface="Calibri"/>
                        <a:cs typeface="Calibri"/>
                        <a:sym typeface="Calibri"/>
                      </a:endParaRPr>
                    </a:p>
                  </a:txBody>
                  <a:tcPr marL="121900" marR="121900" marT="121900" marB="121900">
                    <a:lnT w="9525" cap="flat" cmpd="sng">
                      <a:solidFill>
                        <a:srgbClr val="9E9E9E"/>
                      </a:solidFill>
                      <a:prstDash val="solid"/>
                      <a:round/>
                      <a:headEnd type="none" w="sm" len="sm"/>
                      <a:tailEnd type="none" w="sm" len="sm"/>
                    </a:lnT>
                  </a:tcPr>
                </a:tc>
                <a:tc>
                  <a:txBody>
                    <a:bodyPr/>
                    <a:lstStyle/>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lots of knowledge</a:t>
                      </a:r>
                      <a:r>
                        <a:rPr lang="en-US" sz="2000" dirty="0">
                          <a:latin typeface="Calibri"/>
                          <a:ea typeface="Calibri"/>
                          <a:cs typeface="Calibri"/>
                          <a:sym typeface="Calibri"/>
                        </a:rPr>
                        <a:t> about the interview topic</a:t>
                      </a:r>
                      <a:endParaRPr sz="2000" dirty="0">
                        <a:latin typeface="Calibri"/>
                        <a:ea typeface="Calibri"/>
                        <a:cs typeface="Calibri"/>
                        <a:sym typeface="Calibri"/>
                      </a:endParaRPr>
                    </a:p>
                    <a:p>
                      <a:pPr marL="457200" lvl="0" indent="0" algn="l" rtl="0">
                        <a:spcBef>
                          <a:spcPts val="0"/>
                        </a:spcBef>
                        <a:spcAft>
                          <a:spcPts val="0"/>
                        </a:spcAft>
                        <a:buNone/>
                      </a:pPr>
                      <a:endParaRPr sz="2000"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strictly defined</a:t>
                      </a:r>
                      <a:r>
                        <a:rPr lang="en-US" sz="2000" dirty="0">
                          <a:latin typeface="Calibri"/>
                          <a:ea typeface="Calibri"/>
                          <a:cs typeface="Calibri"/>
                          <a:sym typeface="Calibri"/>
                        </a:rPr>
                        <a:t> list of interview questions</a:t>
                      </a:r>
                      <a:endParaRPr sz="2000" dirty="0">
                        <a:latin typeface="Calibri"/>
                        <a:ea typeface="Calibri"/>
                        <a:cs typeface="Calibri"/>
                        <a:sym typeface="Calibri"/>
                      </a:endParaRPr>
                    </a:p>
                    <a:p>
                      <a:pPr marL="457200" lvl="0" indent="0" algn="l" rtl="0">
                        <a:spcBef>
                          <a:spcPts val="0"/>
                        </a:spcBef>
                        <a:spcAft>
                          <a:spcPts val="0"/>
                        </a:spcAft>
                        <a:buNone/>
                      </a:pPr>
                      <a:endParaRPr sz="2000"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US" sz="2000" b="1" dirty="0">
                          <a:latin typeface="Calibri"/>
                          <a:ea typeface="Calibri"/>
                          <a:cs typeface="Calibri"/>
                          <a:sym typeface="Calibri"/>
                        </a:rPr>
                        <a:t>no deviations are allowed </a:t>
                      </a:r>
                      <a:r>
                        <a:rPr lang="en-US" sz="2000" dirty="0">
                          <a:latin typeface="Calibri"/>
                          <a:ea typeface="Calibri"/>
                          <a:cs typeface="Calibri"/>
                          <a:sym typeface="Calibri"/>
                        </a:rPr>
                        <a:t>from topic or questions across interviews or participants</a:t>
                      </a:r>
                      <a:endParaRPr sz="2000" dirty="0">
                        <a:latin typeface="Calibri"/>
                        <a:ea typeface="Calibri"/>
                        <a:cs typeface="Calibri"/>
                        <a:sym typeface="Calibri"/>
                      </a:endParaRPr>
                    </a:p>
                  </a:txBody>
                  <a:tcPr marL="121900" marR="121900" marT="121900" marB="121900">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
        <p:nvSpPr>
          <p:cNvPr id="212" name="Google Shape;212;p29"/>
          <p:cNvSpPr txBox="1"/>
          <p:nvPr/>
        </p:nvSpPr>
        <p:spPr>
          <a:xfrm rot="-5400000">
            <a:off x="-1027567" y="3084567"/>
            <a:ext cx="3966000" cy="744000"/>
          </a:xfrm>
          <a:prstGeom prst="rect">
            <a:avLst/>
          </a:prstGeom>
          <a:noFill/>
          <a:ln>
            <a:noFill/>
          </a:ln>
        </p:spPr>
        <p:txBody>
          <a:bodyPr spcFirstLastPara="1" wrap="square" lIns="121900" tIns="121900" rIns="121900" bIns="121900" anchor="t" anchorCtr="0">
            <a:noAutofit/>
          </a:bodyPr>
          <a:lstStyle/>
          <a:p>
            <a:r>
              <a:rPr lang="en-US" sz="3333" b="1">
                <a:solidFill>
                  <a:schemeClr val="dk1"/>
                </a:solidFill>
                <a:latin typeface="Calibri"/>
                <a:ea typeface="Calibri"/>
                <a:cs typeface="Calibri"/>
                <a:sym typeface="Calibri"/>
              </a:rPr>
              <a:t>Interview Formats</a:t>
            </a:r>
            <a:endParaRPr sz="3333" b="1">
              <a:solidFill>
                <a:schemeClr val="dk1"/>
              </a:solidFill>
              <a:latin typeface="Calibri"/>
              <a:ea typeface="Calibri"/>
              <a:cs typeface="Calibri"/>
              <a:sym typeface="Calibri"/>
            </a:endParaRPr>
          </a:p>
        </p:txBody>
      </p:sp>
      <p:sp>
        <p:nvSpPr>
          <p:cNvPr id="213" name="Google Shape;213;p29"/>
          <p:cNvSpPr txBox="1"/>
          <p:nvPr/>
        </p:nvSpPr>
        <p:spPr>
          <a:xfrm>
            <a:off x="415600" y="593367"/>
            <a:ext cx="11360800" cy="763600"/>
          </a:xfrm>
          <a:prstGeom prst="rect">
            <a:avLst/>
          </a:prstGeom>
          <a:noFill/>
          <a:ln>
            <a:noFill/>
          </a:ln>
        </p:spPr>
        <p:txBody>
          <a:bodyPr spcFirstLastPara="1" wrap="square" lIns="121900" tIns="60933" rIns="121900" bIns="60933" anchor="ctr" anchorCtr="0">
            <a:noAutofit/>
          </a:bodyPr>
          <a:lstStyle/>
          <a:p>
            <a:r>
              <a:rPr lang="en-US" sz="3467" b="1">
                <a:solidFill>
                  <a:srgbClr val="595959"/>
                </a:solidFill>
                <a:latin typeface="Calibri"/>
                <a:ea typeface="Calibri"/>
                <a:cs typeface="Calibri"/>
                <a:sym typeface="Calibri"/>
              </a:rPr>
              <a:t>Interview Formats</a:t>
            </a:r>
            <a:endParaRPr sz="3467" b="1">
              <a:solidFill>
                <a:srgbClr val="595959"/>
              </a:solidFill>
              <a:latin typeface="Calibri"/>
              <a:ea typeface="Calibri"/>
              <a:cs typeface="Calibri"/>
              <a:sym typeface="Calibri"/>
            </a:endParaRPr>
          </a:p>
          <a:p>
            <a:r>
              <a:rPr lang="en-US" sz="1333">
                <a:solidFill>
                  <a:srgbClr val="595959"/>
                </a:solidFill>
                <a:latin typeface="Calibri"/>
                <a:ea typeface="Calibri"/>
                <a:cs typeface="Calibri"/>
                <a:sym typeface="Calibri"/>
              </a:rPr>
              <a:t>3 general interview types</a:t>
            </a:r>
            <a:endParaRPr sz="1333">
              <a:solidFill>
                <a:srgbClr val="595959"/>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p:nvPr/>
        </p:nvSpPr>
        <p:spPr>
          <a:xfrm>
            <a:off x="6672800" y="2022067"/>
            <a:ext cx="5103600" cy="3477600"/>
          </a:xfrm>
          <a:prstGeom prst="rect">
            <a:avLst/>
          </a:prstGeom>
          <a:noFill/>
          <a:ln>
            <a:noFill/>
          </a:ln>
        </p:spPr>
        <p:txBody>
          <a:bodyPr spcFirstLastPara="1" wrap="square" lIns="121900" tIns="60933" rIns="121900" bIns="60933" anchor="t" anchorCtr="0">
            <a:noAutofit/>
          </a:bodyPr>
          <a:lstStyle/>
          <a:p>
            <a:pPr>
              <a:lnSpc>
                <a:spcPct val="120000"/>
              </a:lnSpc>
              <a:spcBef>
                <a:spcPts val="800"/>
              </a:spcBef>
              <a:buClr>
                <a:schemeClr val="dk1"/>
              </a:buClr>
              <a:buSzPts val="1900"/>
            </a:pPr>
            <a:r>
              <a:rPr lang="en-US" sz="2533" b="1">
                <a:solidFill>
                  <a:schemeClr val="dk1"/>
                </a:solidFill>
              </a:rPr>
              <a:t>What do you think about this interview? </a:t>
            </a:r>
            <a:endParaRPr sz="2533" b="1">
              <a:solidFill>
                <a:schemeClr val="dk1"/>
              </a:solidFill>
            </a:endParaRPr>
          </a:p>
          <a:p>
            <a:pPr>
              <a:lnSpc>
                <a:spcPct val="120000"/>
              </a:lnSpc>
              <a:spcBef>
                <a:spcPts val="800"/>
              </a:spcBef>
              <a:buClr>
                <a:schemeClr val="dk1"/>
              </a:buClr>
              <a:buSzPts val="1900"/>
            </a:pPr>
            <a:endParaRPr sz="2533" b="1">
              <a:solidFill>
                <a:schemeClr val="dk1"/>
              </a:solidFill>
            </a:endParaRPr>
          </a:p>
          <a:p>
            <a:pPr>
              <a:lnSpc>
                <a:spcPct val="120000"/>
              </a:lnSpc>
              <a:spcBef>
                <a:spcPts val="800"/>
              </a:spcBef>
              <a:buClr>
                <a:schemeClr val="dk1"/>
              </a:buClr>
              <a:buSzPts val="1900"/>
            </a:pPr>
            <a:r>
              <a:rPr lang="en-US" sz="2533" b="1">
                <a:solidFill>
                  <a:schemeClr val="dk1"/>
                </a:solidFill>
              </a:rPr>
              <a:t>What did you like? </a:t>
            </a:r>
            <a:endParaRPr sz="2533" b="1">
              <a:solidFill>
                <a:schemeClr val="dk1"/>
              </a:solidFill>
            </a:endParaRPr>
          </a:p>
          <a:p>
            <a:pPr>
              <a:lnSpc>
                <a:spcPct val="120000"/>
              </a:lnSpc>
              <a:spcBef>
                <a:spcPts val="800"/>
              </a:spcBef>
              <a:buClr>
                <a:schemeClr val="dk1"/>
              </a:buClr>
              <a:buSzPts val="1900"/>
            </a:pPr>
            <a:endParaRPr sz="2533" b="1">
              <a:solidFill>
                <a:schemeClr val="dk1"/>
              </a:solidFill>
            </a:endParaRPr>
          </a:p>
          <a:p>
            <a:pPr>
              <a:lnSpc>
                <a:spcPct val="120000"/>
              </a:lnSpc>
              <a:spcBef>
                <a:spcPts val="800"/>
              </a:spcBef>
              <a:buClr>
                <a:schemeClr val="dk1"/>
              </a:buClr>
              <a:buSzPts val="1900"/>
            </a:pPr>
            <a:r>
              <a:rPr lang="en-US" sz="2533" b="1">
                <a:solidFill>
                  <a:schemeClr val="dk1"/>
                </a:solidFill>
              </a:rPr>
              <a:t>What could be better? </a:t>
            </a:r>
            <a:endParaRPr sz="2533" b="1">
              <a:solidFill>
                <a:schemeClr val="dk1"/>
              </a:solidFill>
            </a:endParaRPr>
          </a:p>
          <a:p>
            <a:pPr>
              <a:lnSpc>
                <a:spcPct val="120000"/>
              </a:lnSpc>
              <a:spcBef>
                <a:spcPts val="800"/>
              </a:spcBef>
              <a:buClr>
                <a:srgbClr val="000000"/>
              </a:buClr>
              <a:buSzPts val="1200"/>
            </a:pPr>
            <a:endParaRPr sz="2000" b="1">
              <a:latin typeface="Calibri"/>
              <a:ea typeface="Calibri"/>
              <a:cs typeface="Calibri"/>
              <a:sym typeface="Calibri"/>
            </a:endParaRPr>
          </a:p>
        </p:txBody>
      </p:sp>
      <p:sp>
        <p:nvSpPr>
          <p:cNvPr id="256" name="Google Shape;256;p35"/>
          <p:cNvSpPr txBox="1"/>
          <p:nvPr/>
        </p:nvSpPr>
        <p:spPr>
          <a:xfrm>
            <a:off x="415600" y="593367"/>
            <a:ext cx="11360800" cy="763600"/>
          </a:xfrm>
          <a:prstGeom prst="rect">
            <a:avLst/>
          </a:prstGeom>
          <a:noFill/>
          <a:ln>
            <a:noFill/>
          </a:ln>
        </p:spPr>
        <p:txBody>
          <a:bodyPr spcFirstLastPara="1" wrap="square" lIns="121900" tIns="60933" rIns="121900" bIns="60933" anchor="ctr" anchorCtr="0">
            <a:noAutofit/>
          </a:bodyPr>
          <a:lstStyle/>
          <a:p>
            <a:r>
              <a:rPr lang="en-US" sz="3467" b="1" dirty="0">
                <a:solidFill>
                  <a:srgbClr val="595959"/>
                </a:solidFill>
                <a:latin typeface="Calibri"/>
                <a:ea typeface="Calibri"/>
                <a:cs typeface="Calibri"/>
                <a:sym typeface="Calibri"/>
              </a:rPr>
              <a:t>Let’s look at an interview</a:t>
            </a:r>
            <a:endParaRPr sz="3467" b="1" dirty="0">
              <a:solidFill>
                <a:srgbClr val="595959"/>
              </a:solidFill>
              <a:latin typeface="Calibri"/>
              <a:ea typeface="Calibri"/>
              <a:cs typeface="Calibri"/>
              <a:sym typeface="Calibri"/>
            </a:endParaRPr>
          </a:p>
          <a:p>
            <a:r>
              <a:rPr lang="en-US" sz="1333" dirty="0">
                <a:solidFill>
                  <a:schemeClr val="dk2"/>
                </a:solidFill>
                <a:latin typeface="Calibri"/>
                <a:ea typeface="Calibri"/>
                <a:cs typeface="Calibri"/>
                <a:sym typeface="Calibri"/>
              </a:rPr>
              <a:t> </a:t>
            </a:r>
            <a:endParaRPr sz="3467" b="1" dirty="0">
              <a:solidFill>
                <a:srgbClr val="595959"/>
              </a:solidFill>
              <a:latin typeface="Calibri"/>
              <a:ea typeface="Calibri"/>
              <a:cs typeface="Calibri"/>
              <a:sym typeface="Calibri"/>
            </a:endParaRPr>
          </a:p>
          <a:p>
            <a:endParaRPr sz="1333" b="1" dirty="0">
              <a:solidFill>
                <a:srgbClr val="595959"/>
              </a:solidFill>
              <a:latin typeface="Calibri"/>
              <a:ea typeface="Calibri"/>
              <a:cs typeface="Calibri"/>
              <a:sym typeface="Calibri"/>
            </a:endParaRPr>
          </a:p>
        </p:txBody>
      </p:sp>
      <p:pic>
        <p:nvPicPr>
          <p:cNvPr id="257" name="Google Shape;257;p35" descr="Can you spot at least 10 mistakes made by this interviewer?  Then watch her do the same interview again, correctly, in the next video and notice she gets different (and much more useful) answers.  https://www.youtube.com/watch?v=eNMTJTnrTQQ&amp;t=400s&#10;Learn more about interviewing skills https://www.qualitativemind.com/new-to-qmr/&#10;See the transcript of the interview https://www.qualitativemind.com/eliciting-skills-for-interviews-and-groups/&#10;&#10;Interview from I-TECH www.go2tech.org - an amazing organisation that trains healthcare workers for resource poor countries." title="Demo qualitative interview with mistakes">
            <a:hlinkClick r:id="rId3"/>
          </p:cNvPr>
          <p:cNvPicPr preferRelativeResize="0"/>
          <p:nvPr/>
        </p:nvPicPr>
        <p:blipFill>
          <a:blip r:embed="rId4">
            <a:alphaModFix/>
          </a:blip>
          <a:stretch>
            <a:fillRect/>
          </a:stretch>
        </p:blipFill>
        <p:spPr>
          <a:xfrm>
            <a:off x="415600" y="2022067"/>
            <a:ext cx="6002433" cy="3376361"/>
          </a:xfrm>
          <a:prstGeom prst="rect">
            <a:avLst/>
          </a:prstGeom>
          <a:noFill/>
          <a:ln w="19050" cap="flat" cmpd="sng">
            <a:solidFill>
              <a:schemeClr val="dk2"/>
            </a:solidFill>
            <a:prstDash val="solid"/>
            <a:round/>
            <a:headEnd type="none" w="sm" len="sm"/>
            <a:tailEnd type="none" w="sm" len="sm"/>
          </a:ln>
        </p:spPr>
      </p:pic>
      <p:sp>
        <p:nvSpPr>
          <p:cNvPr id="6" name="TextBox 5">
            <a:extLst>
              <a:ext uri="{FF2B5EF4-FFF2-40B4-BE49-F238E27FC236}">
                <a16:creationId xmlns:a16="http://schemas.microsoft.com/office/drawing/2014/main" id="{71E8385A-9D5D-4E6A-93F9-7FD0DB2BF651}"/>
              </a:ext>
            </a:extLst>
          </p:cNvPr>
          <p:cNvSpPr txBox="1"/>
          <p:nvPr/>
        </p:nvSpPr>
        <p:spPr>
          <a:xfrm>
            <a:off x="415600" y="6079967"/>
            <a:ext cx="6098874" cy="369332"/>
          </a:xfrm>
          <a:prstGeom prst="rect">
            <a:avLst/>
          </a:prstGeom>
          <a:noFill/>
        </p:spPr>
        <p:txBody>
          <a:bodyPr wrap="square">
            <a:spAutoFit/>
          </a:bodyPr>
          <a:lstStyle/>
          <a:p>
            <a:r>
              <a:rPr lang="en-US" dirty="0">
                <a:hlinkClick r:id="rId3"/>
              </a:rPr>
              <a:t>http://www.youtube.com/watch?v=U4UKwd0KExc</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97F71014-226F-A961-6121-2ACBC1EBA728}"/>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30F3FAE7-A763-E5FE-5DFE-38044E0EFC4F}"/>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   Interview Tips</a:t>
            </a:r>
            <a:endParaRPr sz="3200" dirty="0"/>
          </a:p>
        </p:txBody>
      </p:sp>
      <p:sp>
        <p:nvSpPr>
          <p:cNvPr id="568" name="Google Shape;568;p83">
            <a:extLst>
              <a:ext uri="{FF2B5EF4-FFF2-40B4-BE49-F238E27FC236}">
                <a16:creationId xmlns:a16="http://schemas.microsoft.com/office/drawing/2014/main" id="{FC02AB0E-F6BB-9DF7-2D74-658FD94FFD1F}"/>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b="0" dirty="0"/>
              <a:t>Aim for participants to be comfortable </a:t>
            </a:r>
          </a:p>
          <a:p>
            <a:pPr marL="342900" lvl="0" indent="-342900">
              <a:lnSpc>
                <a:spcPct val="115000"/>
              </a:lnSpc>
              <a:spcBef>
                <a:spcPts val="0"/>
              </a:spcBef>
              <a:buClr>
                <a:schemeClr val="dk1"/>
              </a:buClr>
              <a:buSzPts val="1800"/>
              <a:buFont typeface="Arial" panose="020B0604020202020204" pitchFamily="34" charset="0"/>
              <a:buChar char="•"/>
            </a:pPr>
            <a:endParaRPr lang="en-US" b="0" dirty="0"/>
          </a:p>
          <a:p>
            <a:pPr marL="342900" lvl="0" indent="-342900">
              <a:lnSpc>
                <a:spcPct val="115000"/>
              </a:lnSpc>
              <a:spcBef>
                <a:spcPts val="0"/>
              </a:spcBef>
              <a:buClr>
                <a:schemeClr val="dk1"/>
              </a:buClr>
              <a:buSzPts val="1800"/>
              <a:buFont typeface="Arial" panose="020B0604020202020204" pitchFamily="34" charset="0"/>
              <a:buChar char="•"/>
            </a:pPr>
            <a:r>
              <a:rPr lang="en-US" b="0" dirty="0"/>
              <a:t>Let participants finish their thoughts </a:t>
            </a:r>
          </a:p>
          <a:p>
            <a:pPr marL="342900" lvl="0" indent="-342900">
              <a:lnSpc>
                <a:spcPct val="115000"/>
              </a:lnSpc>
              <a:spcBef>
                <a:spcPts val="0"/>
              </a:spcBef>
              <a:buClr>
                <a:schemeClr val="dk1"/>
              </a:buClr>
              <a:buSzPts val="1800"/>
              <a:buFont typeface="Arial" panose="020B0604020202020204" pitchFamily="34" charset="0"/>
              <a:buChar char="•"/>
            </a:pPr>
            <a:endParaRPr lang="en-US" b="0" dirty="0"/>
          </a:p>
          <a:p>
            <a:pPr marL="342900" lvl="0" indent="-342900">
              <a:lnSpc>
                <a:spcPct val="115000"/>
              </a:lnSpc>
              <a:spcBef>
                <a:spcPts val="0"/>
              </a:spcBef>
              <a:buClr>
                <a:schemeClr val="dk1"/>
              </a:buClr>
              <a:buSzPts val="1800"/>
              <a:buFont typeface="Arial" panose="020B0604020202020204" pitchFamily="34" charset="0"/>
              <a:buChar char="•"/>
            </a:pPr>
            <a:r>
              <a:rPr lang="en-US" b="0" dirty="0"/>
              <a:t>Make them feel heard </a:t>
            </a:r>
          </a:p>
          <a:p>
            <a:pPr lvl="1">
              <a:lnSpc>
                <a:spcPct val="115000"/>
              </a:lnSpc>
              <a:spcBef>
                <a:spcPts val="0"/>
              </a:spcBef>
              <a:buClr>
                <a:schemeClr val="dk1"/>
              </a:buClr>
              <a:buSzPts val="1800"/>
            </a:pPr>
            <a:r>
              <a:rPr lang="en-US" dirty="0"/>
              <a:t>	-</a:t>
            </a:r>
            <a:r>
              <a:rPr lang="en-US" b="0" dirty="0"/>
              <a:t>take notes, give eye contact, offer acknowledgments like “I see” or repeating them • </a:t>
            </a:r>
          </a:p>
          <a:p>
            <a:pPr marL="285750" lvl="1" indent="-285750">
              <a:lnSpc>
                <a:spcPct val="115000"/>
              </a:lnSpc>
              <a:spcBef>
                <a:spcPts val="0"/>
              </a:spcBef>
              <a:buClr>
                <a:schemeClr val="dk1"/>
              </a:buClr>
              <a:buSzPts val="1800"/>
              <a:buFont typeface="Arial" panose="020B0604020202020204" pitchFamily="34" charset="0"/>
              <a:buChar char="•"/>
            </a:pPr>
            <a:endParaRPr lang="en-US" sz="1800" dirty="0"/>
          </a:p>
          <a:p>
            <a:pPr marL="285750" lvl="1" indent="-285750">
              <a:lnSpc>
                <a:spcPct val="115000"/>
              </a:lnSpc>
              <a:spcBef>
                <a:spcPts val="0"/>
              </a:spcBef>
              <a:buClr>
                <a:schemeClr val="dk1"/>
              </a:buClr>
              <a:buSzPts val="1800"/>
              <a:buFont typeface="Arial" panose="020B0604020202020204" pitchFamily="34" charset="0"/>
              <a:buChar char="•"/>
            </a:pPr>
            <a:r>
              <a:rPr lang="en-US" sz="1800" b="0" dirty="0"/>
              <a:t>Show empathy (but be genuine) • </a:t>
            </a:r>
          </a:p>
          <a:p>
            <a:pPr lvl="1">
              <a:lnSpc>
                <a:spcPct val="115000"/>
              </a:lnSpc>
              <a:spcBef>
                <a:spcPts val="0"/>
              </a:spcBef>
              <a:buClr>
                <a:schemeClr val="dk1"/>
              </a:buClr>
              <a:buSzPts val="1800"/>
            </a:pPr>
            <a:r>
              <a:rPr lang="en-US" sz="1800" b="0" dirty="0"/>
              <a:t>	-“That must have been frustrating”, “I’m sorry that happened to you”</a:t>
            </a:r>
            <a:endParaRPr sz="1800" b="0" dirty="0"/>
          </a:p>
        </p:txBody>
      </p:sp>
      <p:sp>
        <p:nvSpPr>
          <p:cNvPr id="570" name="Google Shape;570;p83">
            <a:extLst>
              <a:ext uri="{FF2B5EF4-FFF2-40B4-BE49-F238E27FC236}">
                <a16:creationId xmlns:a16="http://schemas.microsoft.com/office/drawing/2014/main" id="{6B9805D3-2A15-3663-B79B-46FBE63585C6}"/>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60021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890CD134-D5B6-7B25-0FD8-A9F2363C58E6}"/>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9DAF6003-68EC-D4AC-228B-1F6059654569}"/>
              </a:ext>
            </a:extLst>
          </p:cNvPr>
          <p:cNvSpPr txBox="1">
            <a:spLocks noGrp="1"/>
          </p:cNvSpPr>
          <p:nvPr>
            <p:ph type="title" idx="4294967295"/>
          </p:nvPr>
        </p:nvSpPr>
        <p:spPr>
          <a:xfrm>
            <a:off x="166080" y="244734"/>
            <a:ext cx="6676008"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Interview Tips</a:t>
            </a:r>
            <a:endParaRPr sz="3200" dirty="0"/>
          </a:p>
        </p:txBody>
      </p:sp>
      <p:sp>
        <p:nvSpPr>
          <p:cNvPr id="568" name="Google Shape;568;p83">
            <a:extLst>
              <a:ext uri="{FF2B5EF4-FFF2-40B4-BE49-F238E27FC236}">
                <a16:creationId xmlns:a16="http://schemas.microsoft.com/office/drawing/2014/main" id="{7F5567ED-8103-BE0F-555D-211724E05105}"/>
              </a:ext>
            </a:extLst>
          </p:cNvPr>
          <p:cNvSpPr txBox="1">
            <a:spLocks noGrp="1"/>
          </p:cNvSpPr>
          <p:nvPr>
            <p:ph type="body" idx="4294967295"/>
          </p:nvPr>
        </p:nvSpPr>
        <p:spPr>
          <a:xfrm>
            <a:off x="642879" y="1422919"/>
            <a:ext cx="572241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b="0" dirty="0"/>
              <a:t>Have questions prepared ahead of time (a guide) </a:t>
            </a:r>
          </a:p>
          <a:p>
            <a:pPr lvl="0">
              <a:lnSpc>
                <a:spcPct val="115000"/>
              </a:lnSpc>
              <a:spcBef>
                <a:spcPts val="0"/>
              </a:spcBef>
              <a:buClr>
                <a:schemeClr val="dk1"/>
              </a:buClr>
              <a:buSzPts val="1800"/>
            </a:pPr>
            <a:r>
              <a:rPr lang="en-US" b="0" dirty="0"/>
              <a:t>	-But allow yourself to go off-script if appropriate </a:t>
            </a:r>
          </a:p>
          <a:p>
            <a:pPr marL="342900" lvl="0" indent="-342900">
              <a:lnSpc>
                <a:spcPct val="115000"/>
              </a:lnSpc>
              <a:spcBef>
                <a:spcPts val="0"/>
              </a:spcBef>
              <a:buClr>
                <a:schemeClr val="dk1"/>
              </a:buClr>
              <a:buSzPts val="1800"/>
              <a:buFont typeface="Arial" panose="020B0604020202020204" pitchFamily="34" charset="0"/>
              <a:buChar char="•"/>
            </a:pPr>
            <a:endParaRPr lang="en-US" b="0" dirty="0"/>
          </a:p>
          <a:p>
            <a:pPr marL="342900" lvl="0" indent="-342900">
              <a:lnSpc>
                <a:spcPct val="115000"/>
              </a:lnSpc>
              <a:spcBef>
                <a:spcPts val="0"/>
              </a:spcBef>
              <a:buClr>
                <a:schemeClr val="dk1"/>
              </a:buClr>
              <a:buSzPts val="1800"/>
              <a:buFont typeface="Arial" panose="020B0604020202020204" pitchFamily="34" charset="0"/>
              <a:buChar char="•"/>
            </a:pPr>
            <a:r>
              <a:rPr lang="en-US" b="0" dirty="0"/>
              <a:t>Anticipate different responses </a:t>
            </a:r>
          </a:p>
          <a:p>
            <a:pPr lvl="0">
              <a:lnSpc>
                <a:spcPct val="115000"/>
              </a:lnSpc>
              <a:spcBef>
                <a:spcPts val="0"/>
              </a:spcBef>
              <a:buClr>
                <a:schemeClr val="dk1"/>
              </a:buClr>
              <a:buSzPts val="1800"/>
            </a:pPr>
            <a:r>
              <a:rPr lang="en-US" b="0" dirty="0"/>
              <a:t>	-If a participant has or has not experienced something, used a technology, etc.</a:t>
            </a:r>
            <a:endParaRPr sz="1800" b="0" dirty="0"/>
          </a:p>
        </p:txBody>
      </p:sp>
      <p:sp>
        <p:nvSpPr>
          <p:cNvPr id="570" name="Google Shape;570;p83">
            <a:extLst>
              <a:ext uri="{FF2B5EF4-FFF2-40B4-BE49-F238E27FC236}">
                <a16:creationId xmlns:a16="http://schemas.microsoft.com/office/drawing/2014/main" id="{844B2B6A-1767-07AB-7B30-EF23BDB46981}"/>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216602B8-0D4F-825B-6F74-798F0426FC53}"/>
              </a:ext>
            </a:extLst>
          </p:cNvPr>
          <p:cNvSpPr txBox="1"/>
          <p:nvPr/>
        </p:nvSpPr>
        <p:spPr>
          <a:xfrm>
            <a:off x="86557" y="6310383"/>
            <a:ext cx="6156664" cy="369332"/>
          </a:xfrm>
          <a:prstGeom prst="rect">
            <a:avLst/>
          </a:prstGeom>
          <a:noFill/>
        </p:spPr>
        <p:txBody>
          <a:bodyPr wrap="square">
            <a:spAutoFit/>
          </a:bodyPr>
          <a:lstStyle/>
          <a:p>
            <a:r>
              <a:rPr lang="en-US" u="sng" dirty="0">
                <a:solidFill>
                  <a:srgbClr val="0070C0"/>
                </a:solidFill>
              </a:rPr>
              <a:t>https://www.nngroup.com/articles/user-interviews/</a:t>
            </a:r>
          </a:p>
        </p:txBody>
      </p:sp>
      <p:pic>
        <p:nvPicPr>
          <p:cNvPr id="9" name="Picture 8">
            <a:extLst>
              <a:ext uri="{FF2B5EF4-FFF2-40B4-BE49-F238E27FC236}">
                <a16:creationId xmlns:a16="http://schemas.microsoft.com/office/drawing/2014/main" id="{83694AA1-A974-11FB-834A-08F7E4D3AA67}"/>
              </a:ext>
            </a:extLst>
          </p:cNvPr>
          <p:cNvPicPr>
            <a:picLocks noChangeAspect="1"/>
          </p:cNvPicPr>
          <p:nvPr/>
        </p:nvPicPr>
        <p:blipFill>
          <a:blip r:embed="rId3"/>
          <a:stretch>
            <a:fillRect/>
          </a:stretch>
        </p:blipFill>
        <p:spPr>
          <a:xfrm>
            <a:off x="7830105" y="102171"/>
            <a:ext cx="4172424" cy="6653658"/>
          </a:xfrm>
          <a:prstGeom prst="rect">
            <a:avLst/>
          </a:prstGeom>
        </p:spPr>
      </p:pic>
    </p:spTree>
    <p:extLst>
      <p:ext uri="{BB962C8B-B14F-4D97-AF65-F5344CB8AC3E}">
        <p14:creationId xmlns:p14="http://schemas.microsoft.com/office/powerpoint/2010/main" val="2117658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9460CAB6-23C4-4E26-DE58-E29C3E1C6259}"/>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9117C6CC-2A9A-3F74-2AAB-6809E0F44659}"/>
              </a:ext>
            </a:extLst>
          </p:cNvPr>
          <p:cNvSpPr txBox="1">
            <a:spLocks noGrp="1"/>
          </p:cNvSpPr>
          <p:nvPr>
            <p:ph type="title" idx="4294967295"/>
          </p:nvPr>
        </p:nvSpPr>
        <p:spPr>
          <a:xfrm>
            <a:off x="166080" y="244734"/>
            <a:ext cx="6676008"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Interview Tips</a:t>
            </a:r>
            <a:endParaRPr sz="3200" dirty="0"/>
          </a:p>
        </p:txBody>
      </p:sp>
      <p:sp>
        <p:nvSpPr>
          <p:cNvPr id="568" name="Google Shape;568;p83">
            <a:extLst>
              <a:ext uri="{FF2B5EF4-FFF2-40B4-BE49-F238E27FC236}">
                <a16:creationId xmlns:a16="http://schemas.microsoft.com/office/drawing/2014/main" id="{F833B527-CC52-4AAD-5DAC-6ADF9655F2DE}"/>
              </a:ext>
            </a:extLst>
          </p:cNvPr>
          <p:cNvSpPr txBox="1">
            <a:spLocks noGrp="1"/>
          </p:cNvSpPr>
          <p:nvPr>
            <p:ph type="body" idx="4294967295"/>
          </p:nvPr>
        </p:nvSpPr>
        <p:spPr>
          <a:xfrm>
            <a:off x="642878" y="1422919"/>
            <a:ext cx="9992571"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b="0" dirty="0"/>
              <a:t>Avoid leading questions </a:t>
            </a:r>
          </a:p>
          <a:p>
            <a:pPr lvl="0">
              <a:lnSpc>
                <a:spcPct val="115000"/>
              </a:lnSpc>
              <a:spcBef>
                <a:spcPts val="0"/>
              </a:spcBef>
              <a:buClr>
                <a:schemeClr val="dk1"/>
              </a:buClr>
              <a:buSzPts val="1800"/>
            </a:pPr>
            <a:r>
              <a:rPr lang="en-US" b="0" dirty="0"/>
              <a:t>	-Bad: “Why do you enjoy using the Acme product so much?” </a:t>
            </a:r>
          </a:p>
          <a:p>
            <a:pPr lvl="0">
              <a:lnSpc>
                <a:spcPct val="115000"/>
              </a:lnSpc>
              <a:spcBef>
                <a:spcPts val="0"/>
              </a:spcBef>
              <a:buClr>
                <a:schemeClr val="dk1"/>
              </a:buClr>
              <a:buSzPts val="1800"/>
            </a:pPr>
            <a:r>
              <a:rPr lang="en-US" b="0" dirty="0"/>
              <a:t>	-Better: “Why do you use the Acme product?” </a:t>
            </a:r>
          </a:p>
          <a:p>
            <a:pPr>
              <a:lnSpc>
                <a:spcPct val="115000"/>
              </a:lnSpc>
              <a:spcBef>
                <a:spcPts val="0"/>
              </a:spcBef>
              <a:buClr>
                <a:schemeClr val="dk1"/>
              </a:buClr>
              <a:buSzPts val="1800"/>
            </a:pPr>
            <a:r>
              <a:rPr lang="en-US" b="0" dirty="0"/>
              <a:t>	-Bad: “What do you like about X?” </a:t>
            </a:r>
          </a:p>
          <a:p>
            <a:pPr>
              <a:lnSpc>
                <a:spcPct val="115000"/>
              </a:lnSpc>
              <a:spcBef>
                <a:spcPts val="0"/>
              </a:spcBef>
              <a:buClr>
                <a:schemeClr val="dk1"/>
              </a:buClr>
              <a:buSzPts val="1800"/>
            </a:pPr>
            <a:r>
              <a:rPr lang="en-US" b="0" dirty="0"/>
              <a:t>	-Better: “What do you think about X?” </a:t>
            </a:r>
          </a:p>
          <a:p>
            <a:pPr lvl="0">
              <a:lnSpc>
                <a:spcPct val="115000"/>
              </a:lnSpc>
              <a:spcBef>
                <a:spcPts val="0"/>
              </a:spcBef>
              <a:buClr>
                <a:schemeClr val="dk1"/>
              </a:buClr>
              <a:buSzPts val="1800"/>
            </a:pPr>
            <a:endParaRPr lang="en-US" b="0" dirty="0"/>
          </a:p>
          <a:p>
            <a:pPr marL="285750" lvl="0" indent="-285750">
              <a:lnSpc>
                <a:spcPct val="115000"/>
              </a:lnSpc>
              <a:spcBef>
                <a:spcPts val="0"/>
              </a:spcBef>
              <a:buClr>
                <a:schemeClr val="dk1"/>
              </a:buClr>
              <a:buSzPts val="1800"/>
              <a:buFont typeface="Arial" panose="020B0604020202020204" pitchFamily="34" charset="0"/>
              <a:buChar char="•"/>
            </a:pPr>
            <a:r>
              <a:rPr lang="en-US" b="0" dirty="0"/>
              <a:t>Avoid closed questions </a:t>
            </a:r>
          </a:p>
          <a:p>
            <a:pPr lvl="0">
              <a:lnSpc>
                <a:spcPct val="115000"/>
              </a:lnSpc>
              <a:spcBef>
                <a:spcPts val="0"/>
              </a:spcBef>
              <a:buClr>
                <a:schemeClr val="dk1"/>
              </a:buClr>
              <a:buSzPts val="1800"/>
            </a:pPr>
            <a:r>
              <a:rPr lang="en-US" b="0" dirty="0"/>
              <a:t>	-Bad: “So, you use the Acme product every morning?” </a:t>
            </a:r>
          </a:p>
          <a:p>
            <a:pPr lvl="0">
              <a:lnSpc>
                <a:spcPct val="115000"/>
              </a:lnSpc>
              <a:spcBef>
                <a:spcPts val="0"/>
              </a:spcBef>
              <a:buClr>
                <a:schemeClr val="dk1"/>
              </a:buClr>
              <a:buSzPts val="1800"/>
            </a:pPr>
            <a:r>
              <a:rPr lang="en-US" b="0" dirty="0"/>
              <a:t>	-Better: “Can you tell me about how you use Acme?”</a:t>
            </a:r>
          </a:p>
          <a:p>
            <a:pPr marL="285750" lvl="0" indent="-285750">
              <a:lnSpc>
                <a:spcPct val="115000"/>
              </a:lnSpc>
              <a:spcBef>
                <a:spcPts val="0"/>
              </a:spcBef>
              <a:buClr>
                <a:schemeClr val="dk1"/>
              </a:buClr>
              <a:buSzPts val="1800"/>
              <a:buFont typeface="Arial" panose="020B0604020202020204" pitchFamily="34" charset="0"/>
              <a:buChar char="•"/>
            </a:pPr>
            <a:endParaRPr lang="en-US" sz="1800" b="0" dirty="0"/>
          </a:p>
          <a:p>
            <a:pPr marL="285750" lvl="0" indent="-285750">
              <a:lnSpc>
                <a:spcPct val="115000"/>
              </a:lnSpc>
              <a:spcBef>
                <a:spcPts val="0"/>
              </a:spcBef>
              <a:buClr>
                <a:schemeClr val="dk1"/>
              </a:buClr>
              <a:buSzPts val="1800"/>
              <a:buFont typeface="Arial" panose="020B0604020202020204" pitchFamily="34" charset="0"/>
              <a:buChar char="•"/>
            </a:pPr>
            <a:r>
              <a:rPr lang="en-US" b="0" dirty="0"/>
              <a:t>Practice follow-up questions</a:t>
            </a:r>
          </a:p>
          <a:p>
            <a:pPr lvl="0">
              <a:lnSpc>
                <a:spcPct val="115000"/>
              </a:lnSpc>
              <a:spcBef>
                <a:spcPts val="0"/>
              </a:spcBef>
              <a:buClr>
                <a:schemeClr val="dk1"/>
              </a:buClr>
              <a:buSzPts val="1800"/>
            </a:pPr>
            <a:endParaRPr lang="en-US" b="0" dirty="0"/>
          </a:p>
          <a:p>
            <a:pPr marL="285750" lvl="0" indent="-285750">
              <a:lnSpc>
                <a:spcPct val="115000"/>
              </a:lnSpc>
              <a:spcBef>
                <a:spcPts val="0"/>
              </a:spcBef>
              <a:buClr>
                <a:schemeClr val="dk1"/>
              </a:buClr>
              <a:buSzPts val="1800"/>
              <a:buFont typeface="Arial" panose="020B0604020202020204" pitchFamily="34" charset="0"/>
              <a:buChar char="•"/>
            </a:pPr>
            <a:r>
              <a:rPr lang="en-US" b="0" dirty="0"/>
              <a:t>Prompts are good ways to get participants to say more </a:t>
            </a:r>
          </a:p>
          <a:p>
            <a:pPr lvl="1">
              <a:lnSpc>
                <a:spcPct val="115000"/>
              </a:lnSpc>
              <a:spcBef>
                <a:spcPts val="0"/>
              </a:spcBef>
              <a:buClr>
                <a:schemeClr val="dk1"/>
              </a:buClr>
              <a:buSzPts val="1800"/>
            </a:pPr>
            <a:r>
              <a:rPr lang="en-US" dirty="0"/>
              <a:t>	- </a:t>
            </a:r>
            <a:r>
              <a:rPr lang="en-US" b="0" dirty="0"/>
              <a:t>Silent, echo, agreeing, tell me more, clarifying</a:t>
            </a:r>
            <a:endParaRPr b="0" dirty="0"/>
          </a:p>
        </p:txBody>
      </p:sp>
      <p:sp>
        <p:nvSpPr>
          <p:cNvPr id="570" name="Google Shape;570;p83">
            <a:extLst>
              <a:ext uri="{FF2B5EF4-FFF2-40B4-BE49-F238E27FC236}">
                <a16:creationId xmlns:a16="http://schemas.microsoft.com/office/drawing/2014/main" id="{BA84503B-9BF5-A1A7-0842-9CB20DDF040A}"/>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AEAF09FD-CC44-ABD3-2086-9F18BD125A4C}"/>
              </a:ext>
            </a:extLst>
          </p:cNvPr>
          <p:cNvSpPr txBox="1"/>
          <p:nvPr/>
        </p:nvSpPr>
        <p:spPr>
          <a:xfrm>
            <a:off x="86557" y="6310383"/>
            <a:ext cx="6156664" cy="369332"/>
          </a:xfrm>
          <a:prstGeom prst="rect">
            <a:avLst/>
          </a:prstGeom>
          <a:noFill/>
        </p:spPr>
        <p:txBody>
          <a:bodyPr wrap="square">
            <a:spAutoFit/>
          </a:bodyPr>
          <a:lstStyle/>
          <a:p>
            <a:r>
              <a:rPr lang="en-US" u="sng" dirty="0">
                <a:solidFill>
                  <a:srgbClr val="0070C0"/>
                </a:solidFill>
              </a:rPr>
              <a:t>https://www.nngroup.com/articles/user-interviews/</a:t>
            </a:r>
          </a:p>
        </p:txBody>
      </p:sp>
      <p:pic>
        <p:nvPicPr>
          <p:cNvPr id="3" name="Picture 2">
            <a:extLst>
              <a:ext uri="{FF2B5EF4-FFF2-40B4-BE49-F238E27FC236}">
                <a16:creationId xmlns:a16="http://schemas.microsoft.com/office/drawing/2014/main" id="{94B828EE-30D2-280E-81AC-D4FE183896DF}"/>
              </a:ext>
            </a:extLst>
          </p:cNvPr>
          <p:cNvPicPr>
            <a:picLocks noChangeAspect="1"/>
          </p:cNvPicPr>
          <p:nvPr/>
        </p:nvPicPr>
        <p:blipFill>
          <a:blip r:embed="rId3"/>
          <a:stretch>
            <a:fillRect/>
          </a:stretch>
        </p:blipFill>
        <p:spPr>
          <a:xfrm>
            <a:off x="8371643" y="4752320"/>
            <a:ext cx="3622983" cy="1365521"/>
          </a:xfrm>
          <a:prstGeom prst="rect">
            <a:avLst/>
          </a:prstGeom>
        </p:spPr>
      </p:pic>
    </p:spTree>
    <p:extLst>
      <p:ext uri="{BB962C8B-B14F-4D97-AF65-F5344CB8AC3E}">
        <p14:creationId xmlns:p14="http://schemas.microsoft.com/office/powerpoint/2010/main" val="792243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5"/>
          <p:cNvSpPr txBox="1">
            <a:spLocks noGrp="1"/>
          </p:cNvSpPr>
          <p:nvPr>
            <p:ph type="title" idx="4294967295"/>
          </p:nvPr>
        </p:nvSpPr>
        <p:spPr>
          <a:xfrm>
            <a:off x="0" y="0"/>
            <a:ext cx="11360150" cy="763588"/>
          </a:xfrm>
          <a:prstGeom prst="rect">
            <a:avLst/>
          </a:prstGeom>
          <a:noFill/>
          <a:ln>
            <a:noFill/>
          </a:ln>
        </p:spPr>
        <p:txBody>
          <a:bodyPr spcFirstLastPara="1" vert="horz" wrap="square" lIns="121900" tIns="121900" rIns="121900" bIns="121900" rtlCol="0" anchor="t" anchorCtr="0">
            <a:noAutofit/>
          </a:bodyPr>
          <a:lstStyle/>
          <a:p>
            <a:r>
              <a:rPr lang="en-US" sz="3467" b="1" dirty="0">
                <a:solidFill>
                  <a:srgbClr val="595959"/>
                </a:solidFill>
                <a:latin typeface="Calibri"/>
                <a:ea typeface="Calibri"/>
                <a:cs typeface="Calibri"/>
                <a:sym typeface="Calibri"/>
              </a:rPr>
              <a:t>Interview Stages | Preparation </a:t>
            </a:r>
            <a:endParaRPr sz="3200" b="1" dirty="0">
              <a:latin typeface="Arial"/>
              <a:ea typeface="Arial"/>
              <a:cs typeface="Arial"/>
              <a:sym typeface="Arial"/>
            </a:endParaRPr>
          </a:p>
        </p:txBody>
      </p:sp>
      <p:sp>
        <p:nvSpPr>
          <p:cNvPr id="328" name="Google Shape;328;p45"/>
          <p:cNvSpPr txBox="1">
            <a:spLocks noGrp="1"/>
          </p:cNvSpPr>
          <p:nvPr>
            <p:ph type="body" idx="4294967295"/>
          </p:nvPr>
        </p:nvSpPr>
        <p:spPr>
          <a:xfrm>
            <a:off x="142043" y="830202"/>
            <a:ext cx="11218107" cy="4391025"/>
          </a:xfrm>
          <a:prstGeom prst="rect">
            <a:avLst/>
          </a:prstGeom>
          <a:noFill/>
          <a:ln>
            <a:noFill/>
          </a:ln>
        </p:spPr>
        <p:txBody>
          <a:bodyPr spcFirstLastPara="1" vert="horz" wrap="square" lIns="121900" tIns="121900" rIns="121900" bIns="121900" rtlCol="0" anchor="t" anchorCtr="0">
            <a:noAutofit/>
          </a:bodyPr>
          <a:lstStyle/>
          <a:p>
            <a:pPr marL="186262" indent="0">
              <a:buNone/>
            </a:pPr>
            <a:r>
              <a:rPr lang="en-US" b="0" dirty="0">
                <a:solidFill>
                  <a:schemeClr val="dk1"/>
                </a:solidFill>
                <a:latin typeface="Calibri"/>
                <a:ea typeface="Calibri"/>
                <a:cs typeface="Calibri"/>
                <a:sym typeface="Calibri"/>
              </a:rPr>
              <a:t>1. </a:t>
            </a:r>
            <a:r>
              <a:rPr lang="en-US" b="0" dirty="0">
                <a:solidFill>
                  <a:schemeClr val="dk1"/>
                </a:solidFill>
                <a:highlight>
                  <a:srgbClr val="FFFF00"/>
                </a:highlight>
                <a:latin typeface="Calibri"/>
                <a:ea typeface="Calibri"/>
                <a:cs typeface="Calibri"/>
                <a:sym typeface="Calibri"/>
              </a:rPr>
              <a:t>Research </a:t>
            </a:r>
            <a:r>
              <a:rPr lang="en-US" b="0" dirty="0">
                <a:solidFill>
                  <a:schemeClr val="dk1"/>
                </a:solidFill>
                <a:latin typeface="Calibri"/>
                <a:ea typeface="Calibri"/>
                <a:cs typeface="Calibri"/>
                <a:sym typeface="Calibri"/>
              </a:rPr>
              <a:t>your study participant</a:t>
            </a:r>
            <a:endParaRPr sz="1600" b="0" dirty="0">
              <a:solidFill>
                <a:schemeClr val="dk1"/>
              </a:solidFill>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You have to come in with lots of knowledge about the person and the topic.</a:t>
            </a:r>
            <a:endParaRPr sz="1600" b="0" dirty="0">
              <a:solidFill>
                <a:schemeClr val="dk1"/>
              </a:solidFill>
              <a:latin typeface="Calibri"/>
              <a:ea typeface="Calibri"/>
              <a:cs typeface="Calibri"/>
              <a:sym typeface="Calibri"/>
            </a:endParaRPr>
          </a:p>
          <a:p>
            <a:pPr marL="186262" indent="0">
              <a:buNone/>
            </a:pPr>
            <a:r>
              <a:rPr lang="en-US" b="0" dirty="0">
                <a:solidFill>
                  <a:schemeClr val="dk1"/>
                </a:solidFill>
                <a:latin typeface="Calibri"/>
                <a:ea typeface="Calibri"/>
                <a:cs typeface="Calibri"/>
                <a:sym typeface="Calibri"/>
              </a:rPr>
              <a:t>2. Prepare a set of </a:t>
            </a:r>
            <a:r>
              <a:rPr lang="en-US" b="0" dirty="0">
                <a:solidFill>
                  <a:schemeClr val="dk1"/>
                </a:solidFill>
                <a:highlight>
                  <a:srgbClr val="FFFF00"/>
                </a:highlight>
                <a:latin typeface="Calibri"/>
                <a:ea typeface="Calibri"/>
                <a:cs typeface="Calibri"/>
                <a:sym typeface="Calibri"/>
              </a:rPr>
              <a:t>themes </a:t>
            </a:r>
            <a:r>
              <a:rPr lang="en-US" b="0" dirty="0">
                <a:solidFill>
                  <a:schemeClr val="dk1"/>
                </a:solidFill>
                <a:latin typeface="Calibri"/>
                <a:ea typeface="Calibri"/>
                <a:cs typeface="Calibri"/>
                <a:sym typeface="Calibri"/>
              </a:rPr>
              <a:t>to explore, </a:t>
            </a:r>
            <a:r>
              <a:rPr lang="en-US" b="0" dirty="0">
                <a:solidFill>
                  <a:schemeClr val="dk1"/>
                </a:solidFill>
                <a:highlight>
                  <a:srgbClr val="FFFF00"/>
                </a:highlight>
                <a:latin typeface="Calibri"/>
                <a:ea typeface="Calibri"/>
                <a:cs typeface="Calibri"/>
                <a:sym typeface="Calibri"/>
              </a:rPr>
              <a:t>draft an interview protocol</a:t>
            </a:r>
            <a:endParaRPr sz="1600" b="0" dirty="0">
              <a:solidFill>
                <a:schemeClr val="dk1"/>
              </a:solidFill>
              <a:highlight>
                <a:srgbClr val="FFFF00"/>
              </a:highlight>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Determine the order that would allow the conversation to flow most naturally.</a:t>
            </a:r>
            <a:endParaRPr sz="1600" b="0" dirty="0">
              <a:solidFill>
                <a:schemeClr val="dk1"/>
              </a:solidFill>
              <a:latin typeface="Calibri"/>
              <a:ea typeface="Calibri"/>
              <a:cs typeface="Calibri"/>
              <a:sym typeface="Calibri"/>
            </a:endParaRPr>
          </a:p>
          <a:p>
            <a:pPr marL="186262" indent="0">
              <a:buNone/>
            </a:pPr>
            <a:r>
              <a:rPr lang="en-US" b="0" dirty="0">
                <a:solidFill>
                  <a:schemeClr val="dk1"/>
                </a:solidFill>
                <a:latin typeface="Calibri"/>
                <a:ea typeface="Calibri"/>
                <a:cs typeface="Calibri"/>
                <a:sym typeface="Calibri"/>
              </a:rPr>
              <a:t>3. Be </a:t>
            </a:r>
            <a:r>
              <a:rPr lang="en-US" b="0" dirty="0">
                <a:solidFill>
                  <a:schemeClr val="dk1"/>
                </a:solidFill>
                <a:highlight>
                  <a:srgbClr val="FFFF00"/>
                </a:highlight>
                <a:latin typeface="Calibri"/>
                <a:ea typeface="Calibri"/>
                <a:cs typeface="Calibri"/>
                <a:sym typeface="Calibri"/>
              </a:rPr>
              <a:t>participant-centered</a:t>
            </a:r>
            <a:endParaRPr sz="1600" b="0" dirty="0">
              <a:solidFill>
                <a:schemeClr val="dk1"/>
              </a:solidFill>
              <a:highlight>
                <a:srgbClr val="FFFF00"/>
              </a:highlight>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Ask what day, time, and location works for the individual you would like to interview.</a:t>
            </a:r>
            <a:endParaRPr sz="1600" b="0" dirty="0">
              <a:solidFill>
                <a:schemeClr val="dk1"/>
              </a:solidFill>
              <a:latin typeface="Calibri"/>
              <a:ea typeface="Calibri"/>
              <a:cs typeface="Calibri"/>
              <a:sym typeface="Calibri"/>
            </a:endParaRPr>
          </a:p>
          <a:p>
            <a:pPr marL="186262" indent="0">
              <a:buNone/>
            </a:pPr>
            <a:r>
              <a:rPr lang="en-US" b="0" dirty="0">
                <a:solidFill>
                  <a:schemeClr val="dk1"/>
                </a:solidFill>
                <a:latin typeface="Calibri"/>
                <a:ea typeface="Calibri"/>
                <a:cs typeface="Calibri"/>
                <a:sym typeface="Calibri"/>
              </a:rPr>
              <a:t>4. </a:t>
            </a:r>
            <a:r>
              <a:rPr lang="en-US" b="0" dirty="0">
                <a:solidFill>
                  <a:schemeClr val="dk1"/>
                </a:solidFill>
                <a:highlight>
                  <a:srgbClr val="FFFF00"/>
                </a:highlight>
                <a:latin typeface="Calibri"/>
                <a:ea typeface="Calibri"/>
                <a:cs typeface="Calibri"/>
                <a:sym typeface="Calibri"/>
              </a:rPr>
              <a:t>Be early, be prepared</a:t>
            </a:r>
            <a:endParaRPr sz="1600" b="0" dirty="0">
              <a:solidFill>
                <a:schemeClr val="dk1"/>
              </a:solidFill>
              <a:highlight>
                <a:srgbClr val="FFFF00"/>
              </a:highlight>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Make sure you know where you are going and be 10 minutes early. You want to make a good impression. </a:t>
            </a:r>
            <a:endParaRPr sz="1600" b="0" dirty="0">
              <a:solidFill>
                <a:schemeClr val="dk1"/>
              </a:solidFill>
              <a:latin typeface="Calibri"/>
              <a:ea typeface="Calibri"/>
              <a:cs typeface="Calibri"/>
              <a:sym typeface="Calibri"/>
            </a:endParaRPr>
          </a:p>
          <a:p>
            <a:pPr marL="186262" indent="0">
              <a:buNone/>
            </a:pPr>
            <a:r>
              <a:rPr lang="en-US" b="0" dirty="0">
                <a:solidFill>
                  <a:schemeClr val="dk1"/>
                </a:solidFill>
                <a:latin typeface="Calibri"/>
                <a:ea typeface="Calibri"/>
                <a:cs typeface="Calibri"/>
                <a:sym typeface="Calibri"/>
              </a:rPr>
              <a:t>5. </a:t>
            </a:r>
            <a:r>
              <a:rPr lang="en-US" b="0" dirty="0">
                <a:solidFill>
                  <a:schemeClr val="dk1"/>
                </a:solidFill>
                <a:highlight>
                  <a:srgbClr val="FFFF00"/>
                </a:highlight>
                <a:latin typeface="Calibri"/>
                <a:ea typeface="Calibri"/>
                <a:cs typeface="Calibri"/>
                <a:sym typeface="Calibri"/>
              </a:rPr>
              <a:t>Define roles beforehand</a:t>
            </a:r>
            <a:endParaRPr sz="1600" b="0" dirty="0">
              <a:solidFill>
                <a:schemeClr val="dk1"/>
              </a:solidFill>
              <a:highlight>
                <a:srgbClr val="FFFF00"/>
              </a:highlight>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Ideally two team members participate in the session: one leads the interview (ask questions), while the other takes notes and photographs (if appropriate). </a:t>
            </a:r>
            <a:r>
              <a:rPr lang="en-US" sz="1600" b="0" i="1" dirty="0">
                <a:solidFill>
                  <a:schemeClr val="dk1"/>
                </a:solidFill>
                <a:latin typeface="Calibri"/>
                <a:ea typeface="Calibri"/>
                <a:cs typeface="Calibri"/>
                <a:sym typeface="Calibri"/>
              </a:rPr>
              <a:t>Ask for permission to audio record the interview</a:t>
            </a:r>
            <a:r>
              <a:rPr lang="en-US" sz="1600" b="0" dirty="0">
                <a:solidFill>
                  <a:schemeClr val="dk1"/>
                </a:solidFill>
                <a:latin typeface="Calibri"/>
                <a:ea typeface="Calibri"/>
                <a:cs typeface="Calibri"/>
                <a:sym typeface="Calibri"/>
              </a:rPr>
              <a:t>.</a:t>
            </a:r>
            <a:endParaRPr sz="1600" b="0" dirty="0">
              <a:solidFill>
                <a:schemeClr val="dk1"/>
              </a:solidFill>
              <a:latin typeface="Calibri"/>
              <a:ea typeface="Calibri"/>
              <a:cs typeface="Calibri"/>
              <a:sym typeface="Calibri"/>
            </a:endParaRPr>
          </a:p>
          <a:p>
            <a:pPr marL="0" indent="0">
              <a:spcBef>
                <a:spcPts val="2133"/>
              </a:spcBef>
              <a:buSzPts val="1800"/>
              <a:buNone/>
            </a:pPr>
            <a:endParaRPr b="0" dirty="0">
              <a:solidFill>
                <a:schemeClr val="dk1"/>
              </a:solidFill>
              <a:latin typeface="Calibri"/>
              <a:ea typeface="Calibri"/>
              <a:cs typeface="Calibri"/>
              <a:sym typeface="Calibri"/>
            </a:endParaRPr>
          </a:p>
          <a:p>
            <a:pPr marL="0" indent="0">
              <a:spcBef>
                <a:spcPts val="2133"/>
              </a:spcBef>
              <a:buNone/>
            </a:pPr>
            <a:endParaRPr sz="1600" b="0" dirty="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6"/>
          <p:cNvSpPr txBox="1">
            <a:spLocks noGrp="1"/>
          </p:cNvSpPr>
          <p:nvPr>
            <p:ph type="title" idx="4294967295"/>
          </p:nvPr>
        </p:nvSpPr>
        <p:spPr>
          <a:xfrm>
            <a:off x="0" y="187324"/>
            <a:ext cx="11360150" cy="763588"/>
          </a:xfrm>
          <a:prstGeom prst="rect">
            <a:avLst/>
          </a:prstGeom>
          <a:noFill/>
          <a:ln>
            <a:noFill/>
          </a:ln>
        </p:spPr>
        <p:txBody>
          <a:bodyPr spcFirstLastPara="1" vert="horz" wrap="square" lIns="121900" tIns="121900" rIns="121900" bIns="121900" rtlCol="0" anchor="t" anchorCtr="0">
            <a:noAutofit/>
          </a:bodyPr>
          <a:lstStyle/>
          <a:p>
            <a:pPr>
              <a:buClr>
                <a:schemeClr val="dk1"/>
              </a:buClr>
            </a:pPr>
            <a:r>
              <a:rPr lang="en-US" sz="3467" b="1" dirty="0">
                <a:solidFill>
                  <a:schemeClr val="dk2"/>
                </a:solidFill>
                <a:latin typeface="Calibri"/>
                <a:ea typeface="Calibri"/>
                <a:cs typeface="Calibri"/>
                <a:sym typeface="Calibri"/>
              </a:rPr>
              <a:t>Interview Stages | Execution </a:t>
            </a:r>
            <a:endParaRPr sz="3467" b="1" dirty="0">
              <a:solidFill>
                <a:srgbClr val="595959"/>
              </a:solidFill>
              <a:latin typeface="Calibri"/>
              <a:ea typeface="Calibri"/>
              <a:cs typeface="Calibri"/>
              <a:sym typeface="Calibri"/>
            </a:endParaRPr>
          </a:p>
        </p:txBody>
      </p:sp>
      <p:sp>
        <p:nvSpPr>
          <p:cNvPr id="336" name="Google Shape;336;p46"/>
          <p:cNvSpPr txBox="1">
            <a:spLocks noGrp="1"/>
          </p:cNvSpPr>
          <p:nvPr>
            <p:ph type="body" idx="4294967295"/>
          </p:nvPr>
        </p:nvSpPr>
        <p:spPr>
          <a:xfrm>
            <a:off x="0" y="1011764"/>
            <a:ext cx="11771790" cy="4206874"/>
          </a:xfrm>
          <a:prstGeom prst="rect">
            <a:avLst/>
          </a:prstGeom>
          <a:noFill/>
          <a:ln>
            <a:noFill/>
          </a:ln>
        </p:spPr>
        <p:txBody>
          <a:bodyPr spcFirstLastPara="1" vert="horz" wrap="square" lIns="121900" tIns="121900" rIns="121900" bIns="121900" rtlCol="0" anchor="t" anchorCtr="0">
            <a:noAutofit/>
          </a:bodyPr>
          <a:lstStyle/>
          <a:p>
            <a:pPr marL="186262" indent="0">
              <a:buNone/>
            </a:pPr>
            <a:r>
              <a:rPr lang="en-US" sz="1600" b="0" dirty="0">
                <a:solidFill>
                  <a:schemeClr val="dk1"/>
                </a:solidFill>
                <a:latin typeface="Calibri"/>
                <a:ea typeface="Calibri"/>
                <a:cs typeface="Calibri"/>
                <a:sym typeface="Calibri"/>
              </a:rPr>
              <a:t>1. </a:t>
            </a:r>
            <a:r>
              <a:rPr lang="en-US" sz="1600" b="0" dirty="0">
                <a:solidFill>
                  <a:schemeClr val="dk1"/>
                </a:solidFill>
                <a:highlight>
                  <a:srgbClr val="FFFF00"/>
                </a:highlight>
                <a:latin typeface="Calibri"/>
                <a:ea typeface="Calibri"/>
                <a:cs typeface="Calibri"/>
                <a:sym typeface="Calibri"/>
              </a:rPr>
              <a:t>Introduce </a:t>
            </a:r>
            <a:r>
              <a:rPr lang="en-US" sz="1600" b="0" dirty="0">
                <a:solidFill>
                  <a:schemeClr val="dk1"/>
                </a:solidFill>
                <a:latin typeface="Calibri"/>
                <a:ea typeface="Calibri"/>
                <a:cs typeface="Calibri"/>
                <a:sym typeface="Calibri"/>
              </a:rPr>
              <a:t>the project and yourselves</a:t>
            </a:r>
            <a:endParaRPr sz="1600" b="0" dirty="0">
              <a:solidFill>
                <a:schemeClr val="dk1"/>
              </a:solidFill>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A good interview is a friendly conversation. Briefly describe your research and the goals of the interview. </a:t>
            </a:r>
            <a:endParaRPr sz="1600" b="0" dirty="0">
              <a:solidFill>
                <a:schemeClr val="dk1"/>
              </a:solidFill>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2. </a:t>
            </a:r>
            <a:r>
              <a:rPr lang="en-US" sz="1600" b="0" dirty="0">
                <a:solidFill>
                  <a:schemeClr val="dk1"/>
                </a:solidFill>
                <a:highlight>
                  <a:srgbClr val="FFFF00"/>
                </a:highlight>
                <a:latin typeface="Calibri"/>
                <a:ea typeface="Calibri"/>
                <a:cs typeface="Calibri"/>
                <a:sym typeface="Calibri"/>
              </a:rPr>
              <a:t>Dig for stories, feelings, and emotion</a:t>
            </a:r>
            <a:endParaRPr sz="1600" b="0" dirty="0">
              <a:solidFill>
                <a:schemeClr val="dk1"/>
              </a:solidFill>
              <a:highlight>
                <a:srgbClr val="FFFF00"/>
              </a:highlight>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Even when you think you know the answer, ask people </a:t>
            </a:r>
            <a:r>
              <a:rPr lang="en-US" sz="1600" b="0" u="sng" dirty="0">
                <a:solidFill>
                  <a:schemeClr val="dk1"/>
                </a:solidFill>
                <a:latin typeface="Calibri"/>
                <a:ea typeface="Calibri"/>
                <a:cs typeface="Calibri"/>
                <a:sym typeface="Calibri"/>
              </a:rPr>
              <a:t>why</a:t>
            </a:r>
            <a:r>
              <a:rPr lang="en-US" sz="1600" b="0" dirty="0">
                <a:solidFill>
                  <a:schemeClr val="dk1"/>
                </a:solidFill>
                <a:latin typeface="Calibri"/>
                <a:ea typeface="Calibri"/>
                <a:cs typeface="Calibri"/>
                <a:sym typeface="Calibri"/>
              </a:rPr>
              <a:t> they do or say things. Ask </a:t>
            </a:r>
            <a:r>
              <a:rPr lang="en-US" sz="1600" b="0" u="sng" dirty="0">
                <a:solidFill>
                  <a:schemeClr val="dk1"/>
                </a:solidFill>
                <a:latin typeface="Calibri"/>
                <a:ea typeface="Calibri"/>
                <a:cs typeface="Calibri"/>
                <a:sym typeface="Calibri"/>
              </a:rPr>
              <a:t>open-ended </a:t>
            </a:r>
            <a:r>
              <a:rPr lang="en-US" sz="1600" b="0" dirty="0">
                <a:solidFill>
                  <a:schemeClr val="dk1"/>
                </a:solidFill>
                <a:latin typeface="Calibri"/>
                <a:ea typeface="Calibri"/>
                <a:cs typeface="Calibri"/>
                <a:sym typeface="Calibri"/>
              </a:rPr>
              <a:t>questions, and continually ask the participant to provide concrete </a:t>
            </a:r>
            <a:r>
              <a:rPr lang="en-US" sz="1600" b="0" u="sng" dirty="0">
                <a:solidFill>
                  <a:schemeClr val="dk1"/>
                </a:solidFill>
                <a:latin typeface="Calibri"/>
                <a:ea typeface="Calibri"/>
                <a:cs typeface="Calibri"/>
                <a:sym typeface="Calibri"/>
              </a:rPr>
              <a:t>examples</a:t>
            </a:r>
            <a:r>
              <a:rPr lang="en-US" sz="1600" b="0" dirty="0">
                <a:solidFill>
                  <a:schemeClr val="dk1"/>
                </a:solidFill>
                <a:latin typeface="Calibri"/>
                <a:ea typeface="Calibri"/>
                <a:cs typeface="Calibri"/>
                <a:sym typeface="Calibri"/>
              </a:rPr>
              <a:t>. Try not to say </a:t>
            </a:r>
            <a:r>
              <a:rPr lang="en-US" sz="1600" b="0" i="1" dirty="0">
                <a:solidFill>
                  <a:schemeClr val="dk1"/>
                </a:solidFill>
                <a:latin typeface="Calibri"/>
                <a:ea typeface="Calibri"/>
                <a:cs typeface="Calibri"/>
                <a:sym typeface="Calibri"/>
              </a:rPr>
              <a:t>usually</a:t>
            </a:r>
            <a:r>
              <a:rPr lang="en-US" sz="1600" b="0" dirty="0">
                <a:solidFill>
                  <a:schemeClr val="dk1"/>
                </a:solidFill>
                <a:latin typeface="Calibri"/>
                <a:ea typeface="Calibri"/>
                <a:cs typeface="Calibri"/>
                <a:sym typeface="Calibri"/>
              </a:rPr>
              <a:t> when asking a question. Instead, ask about a </a:t>
            </a:r>
            <a:r>
              <a:rPr lang="en-US" sz="1600" b="0" u="sng" dirty="0">
                <a:solidFill>
                  <a:schemeClr val="dk1"/>
                </a:solidFill>
                <a:latin typeface="Calibri"/>
                <a:ea typeface="Calibri"/>
                <a:cs typeface="Calibri"/>
                <a:sym typeface="Calibri"/>
              </a:rPr>
              <a:t>specific instance </a:t>
            </a:r>
            <a:r>
              <a:rPr lang="en-US" sz="1600" b="0" dirty="0">
                <a:solidFill>
                  <a:schemeClr val="dk1"/>
                </a:solidFill>
                <a:latin typeface="Calibri"/>
                <a:ea typeface="Calibri"/>
                <a:cs typeface="Calibri"/>
                <a:sym typeface="Calibri"/>
              </a:rPr>
              <a:t>or occurrence. </a:t>
            </a:r>
            <a:endParaRPr sz="1600" b="0" dirty="0">
              <a:solidFill>
                <a:schemeClr val="dk1"/>
              </a:solidFill>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3. </a:t>
            </a:r>
            <a:r>
              <a:rPr lang="en-US" sz="1600" b="0" dirty="0">
                <a:solidFill>
                  <a:schemeClr val="dk1"/>
                </a:solidFill>
                <a:highlight>
                  <a:srgbClr val="FFFF00"/>
                </a:highlight>
                <a:latin typeface="Calibri"/>
                <a:ea typeface="Calibri"/>
                <a:cs typeface="Calibri"/>
                <a:sym typeface="Calibri"/>
              </a:rPr>
              <a:t>Notice inconsistencies</a:t>
            </a:r>
            <a:r>
              <a:rPr lang="en-US" sz="1600" b="0" dirty="0">
                <a:solidFill>
                  <a:schemeClr val="dk1"/>
                </a:solidFill>
                <a:latin typeface="Calibri"/>
                <a:ea typeface="Calibri"/>
                <a:cs typeface="Calibri"/>
                <a:sym typeface="Calibri"/>
              </a:rPr>
              <a:t> but don’t correct them</a:t>
            </a:r>
            <a:endParaRPr sz="1600" b="0" dirty="0">
              <a:solidFill>
                <a:schemeClr val="dk1"/>
              </a:solidFill>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Sometimes what people say and what they do are different.</a:t>
            </a:r>
            <a:endParaRPr sz="1600" b="0" dirty="0">
              <a:solidFill>
                <a:schemeClr val="dk1"/>
              </a:solidFill>
              <a:latin typeface="Calibri"/>
              <a:ea typeface="Calibri"/>
              <a:cs typeface="Calibri"/>
              <a:sym typeface="Calibri"/>
            </a:endParaRPr>
          </a:p>
          <a:p>
            <a:pPr marL="186262" indent="0">
              <a:buClr>
                <a:schemeClr val="dk1"/>
              </a:buClr>
              <a:buNone/>
            </a:pPr>
            <a:r>
              <a:rPr lang="en-US" sz="1600" b="0" dirty="0">
                <a:solidFill>
                  <a:schemeClr val="dk1"/>
                </a:solidFill>
                <a:latin typeface="Calibri"/>
                <a:ea typeface="Calibri"/>
                <a:cs typeface="Calibri"/>
                <a:sym typeface="Calibri"/>
              </a:rPr>
              <a:t>4. Pay attention to </a:t>
            </a:r>
            <a:r>
              <a:rPr lang="en-US" sz="1600" b="0" dirty="0">
                <a:solidFill>
                  <a:schemeClr val="dk1"/>
                </a:solidFill>
                <a:highlight>
                  <a:srgbClr val="FFFF00"/>
                </a:highlight>
                <a:latin typeface="Calibri"/>
                <a:ea typeface="Calibri"/>
                <a:cs typeface="Calibri"/>
                <a:sym typeface="Calibri"/>
              </a:rPr>
              <a:t>nonverbal cues</a:t>
            </a:r>
            <a:r>
              <a:rPr lang="en-US" sz="1600" b="0" dirty="0">
                <a:solidFill>
                  <a:schemeClr val="dk1"/>
                </a:solidFill>
                <a:latin typeface="Calibri"/>
                <a:ea typeface="Calibri"/>
                <a:cs typeface="Calibri"/>
                <a:sym typeface="Calibri"/>
              </a:rPr>
              <a:t> </a:t>
            </a:r>
            <a:endParaRPr sz="1600" b="0" dirty="0">
              <a:solidFill>
                <a:schemeClr val="dk1"/>
              </a:solidFill>
              <a:latin typeface="Calibri"/>
              <a:ea typeface="Calibri"/>
              <a:cs typeface="Calibri"/>
              <a:sym typeface="Calibri"/>
            </a:endParaRPr>
          </a:p>
          <a:p>
            <a:pPr marL="186262" indent="0">
              <a:buClr>
                <a:schemeClr val="dk1"/>
              </a:buClr>
              <a:buNone/>
            </a:pPr>
            <a:r>
              <a:rPr lang="en-US" sz="1600" b="0" dirty="0">
                <a:solidFill>
                  <a:schemeClr val="dk1"/>
                </a:solidFill>
                <a:latin typeface="Calibri"/>
                <a:ea typeface="Calibri"/>
                <a:cs typeface="Calibri"/>
                <a:sym typeface="Calibri"/>
              </a:rPr>
              <a:t>Take notes of what they say and </a:t>
            </a:r>
            <a:r>
              <a:rPr lang="en-US" sz="1600" b="0" u="sng" dirty="0">
                <a:solidFill>
                  <a:schemeClr val="dk1"/>
                </a:solidFill>
                <a:latin typeface="Calibri"/>
                <a:ea typeface="Calibri"/>
                <a:cs typeface="Calibri"/>
                <a:sym typeface="Calibri"/>
              </a:rPr>
              <a:t>what they don’t say</a:t>
            </a:r>
            <a:r>
              <a:rPr lang="en-US" sz="1600" b="0" dirty="0">
                <a:solidFill>
                  <a:schemeClr val="dk1"/>
                </a:solidFill>
                <a:latin typeface="Calibri"/>
                <a:ea typeface="Calibri"/>
                <a:cs typeface="Calibri"/>
                <a:sym typeface="Calibri"/>
              </a:rPr>
              <a:t>. Be aware of body language and emotions.</a:t>
            </a:r>
            <a:endParaRPr sz="1600" b="0" dirty="0">
              <a:solidFill>
                <a:schemeClr val="dk1"/>
              </a:solidFill>
              <a:latin typeface="Calibri"/>
              <a:ea typeface="Calibri"/>
              <a:cs typeface="Calibri"/>
              <a:sym typeface="Calibri"/>
            </a:endParaRPr>
          </a:p>
          <a:p>
            <a:pPr marL="186262" indent="0">
              <a:buNone/>
            </a:pPr>
            <a:r>
              <a:rPr lang="en-US" sz="1600" b="0" dirty="0">
                <a:solidFill>
                  <a:schemeClr val="dk1"/>
                </a:solidFill>
                <a:latin typeface="Calibri"/>
                <a:ea typeface="Calibri"/>
                <a:cs typeface="Calibri"/>
                <a:sym typeface="Calibri"/>
              </a:rPr>
              <a:t> </a:t>
            </a:r>
            <a:endParaRPr sz="1600" b="0" dirty="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6"/>
          <p:cNvSpPr txBox="1">
            <a:spLocks noGrp="1"/>
          </p:cNvSpPr>
          <p:nvPr>
            <p:ph type="title" idx="4294967295"/>
          </p:nvPr>
        </p:nvSpPr>
        <p:spPr>
          <a:xfrm>
            <a:off x="0" y="158719"/>
            <a:ext cx="12091386" cy="763588"/>
          </a:xfrm>
          <a:prstGeom prst="rect">
            <a:avLst/>
          </a:prstGeom>
          <a:noFill/>
          <a:ln>
            <a:noFill/>
          </a:ln>
        </p:spPr>
        <p:txBody>
          <a:bodyPr spcFirstLastPara="1" vert="horz" wrap="square" lIns="121900" tIns="121900" rIns="121900" bIns="121900" rtlCol="0" anchor="t" anchorCtr="0">
            <a:noAutofit/>
          </a:bodyPr>
          <a:lstStyle/>
          <a:p>
            <a:r>
              <a:rPr lang="en-US" sz="3467" b="1" dirty="0">
                <a:solidFill>
                  <a:schemeClr val="dk2"/>
                </a:solidFill>
                <a:latin typeface="Calibri"/>
                <a:ea typeface="Calibri"/>
                <a:cs typeface="Calibri"/>
                <a:sym typeface="Calibri"/>
              </a:rPr>
              <a:t>Interview Stages | Execution</a:t>
            </a:r>
            <a:r>
              <a:rPr lang="en-US" sz="3200" b="1" dirty="0">
                <a:latin typeface="Calibri"/>
                <a:ea typeface="Calibri"/>
                <a:cs typeface="Calibri"/>
                <a:sym typeface="Calibri"/>
              </a:rPr>
              <a:t> </a:t>
            </a:r>
            <a:r>
              <a:rPr lang="en-US" sz="2400" b="1" dirty="0">
                <a:solidFill>
                  <a:srgbClr val="FF0000"/>
                </a:solidFill>
                <a:latin typeface="Calibri"/>
                <a:ea typeface="Calibri"/>
                <a:cs typeface="Calibri"/>
                <a:sym typeface="Calibri"/>
              </a:rPr>
              <a:t>Common mistakes!</a:t>
            </a:r>
            <a:r>
              <a:rPr lang="en-US" sz="2400" b="1" i="1" dirty="0">
                <a:solidFill>
                  <a:srgbClr val="FF0000"/>
                </a:solidFill>
                <a:latin typeface="Calibri"/>
                <a:ea typeface="Calibri"/>
                <a:cs typeface="Calibri"/>
                <a:sym typeface="Calibri"/>
              </a:rPr>
              <a:t> [Don’t do these]</a:t>
            </a:r>
            <a:endParaRPr sz="2400" b="1" i="1" dirty="0">
              <a:solidFill>
                <a:srgbClr val="FF0000"/>
              </a:solidFill>
              <a:latin typeface="Calibri"/>
              <a:ea typeface="Calibri"/>
              <a:cs typeface="Calibri"/>
              <a:sym typeface="Calibri"/>
            </a:endParaRPr>
          </a:p>
        </p:txBody>
      </p:sp>
      <p:sp>
        <p:nvSpPr>
          <p:cNvPr id="416" name="Google Shape;416;p56"/>
          <p:cNvSpPr txBox="1">
            <a:spLocks noGrp="1"/>
          </p:cNvSpPr>
          <p:nvPr>
            <p:ph type="body" idx="4294967295"/>
          </p:nvPr>
        </p:nvSpPr>
        <p:spPr>
          <a:xfrm>
            <a:off x="106531" y="1096532"/>
            <a:ext cx="11709647" cy="4391025"/>
          </a:xfrm>
          <a:prstGeom prst="rect">
            <a:avLst/>
          </a:prstGeom>
          <a:noFill/>
          <a:ln>
            <a:noFill/>
          </a:ln>
        </p:spPr>
        <p:txBody>
          <a:bodyPr spcFirstLastPara="1" vert="horz" wrap="square" lIns="121900" tIns="121900" rIns="121900" bIns="121900" rtlCol="0" anchor="t" anchorCtr="0">
            <a:noAutofit/>
          </a:bodyPr>
          <a:lstStyle/>
          <a:p>
            <a:pPr indent="-419090">
              <a:spcBef>
                <a:spcPts val="600"/>
              </a:spcBef>
              <a:buSzPts val="1350"/>
              <a:buFont typeface="Arial" panose="020B0604020202020204" pitchFamily="34" charset="0"/>
              <a:buChar char="•"/>
            </a:pPr>
            <a:r>
              <a:rPr lang="en-US" sz="1800" b="0" dirty="0">
                <a:solidFill>
                  <a:schemeClr val="dk1"/>
                </a:solidFill>
                <a:highlight>
                  <a:srgbClr val="FF0000"/>
                </a:highlight>
                <a:latin typeface="Calibri"/>
                <a:ea typeface="Calibri"/>
                <a:cs typeface="Calibri"/>
                <a:sym typeface="Calibri"/>
              </a:rPr>
              <a:t>Avoid compound questions</a:t>
            </a:r>
            <a:r>
              <a:rPr lang="en-US" sz="1800" b="0" dirty="0">
                <a:solidFill>
                  <a:schemeClr val="dk1"/>
                </a:solidFill>
                <a:latin typeface="Calibri"/>
                <a:ea typeface="Calibri"/>
                <a:cs typeface="Calibri"/>
                <a:sym typeface="Calibri"/>
              </a:rPr>
              <a:t>. </a:t>
            </a:r>
            <a:r>
              <a:rPr lang="en-US" sz="1800" b="0" i="1" dirty="0">
                <a:solidFill>
                  <a:schemeClr val="dk1"/>
                </a:solidFill>
                <a:latin typeface="Calibri"/>
                <a:ea typeface="Calibri"/>
                <a:cs typeface="Calibri"/>
                <a:sym typeface="Calibri"/>
              </a:rPr>
              <a:t>E.g. </a:t>
            </a:r>
            <a:r>
              <a:rPr lang="en-US" sz="1800" b="0" i="1" dirty="0">
                <a:solidFill>
                  <a:srgbClr val="000000"/>
                </a:solidFill>
                <a:latin typeface="Calibri"/>
                <a:ea typeface="Calibri"/>
                <a:cs typeface="Calibri"/>
                <a:sym typeface="Calibri"/>
              </a:rPr>
              <a:t>How often do you check </a:t>
            </a:r>
            <a:r>
              <a:rPr lang="en-US" sz="1800" b="0" i="1" dirty="0">
                <a:solidFill>
                  <a:schemeClr val="dk1"/>
                </a:solidFill>
                <a:latin typeface="Calibri"/>
                <a:ea typeface="Calibri"/>
                <a:cs typeface="Calibri"/>
                <a:sym typeface="Calibri"/>
              </a:rPr>
              <a:t>Snapchat </a:t>
            </a:r>
            <a:r>
              <a:rPr lang="en-US" sz="1800" b="0" i="1" dirty="0">
                <a:solidFill>
                  <a:srgbClr val="000000"/>
                </a:solidFill>
                <a:latin typeface="Calibri"/>
                <a:ea typeface="Calibri"/>
                <a:cs typeface="Calibri"/>
                <a:sym typeface="Calibri"/>
              </a:rPr>
              <a:t>and what is the reason? Also, tell me how do you gather information and who do you ask for help?</a:t>
            </a:r>
            <a:endParaRPr sz="1800" b="0" i="1" dirty="0">
              <a:solidFill>
                <a:srgbClr val="666666"/>
              </a:solidFill>
              <a:latin typeface="Calibri"/>
              <a:ea typeface="Calibri"/>
              <a:cs typeface="Calibri"/>
              <a:sym typeface="Calibri"/>
            </a:endParaRPr>
          </a:p>
          <a:p>
            <a:pPr indent="-419090">
              <a:spcBef>
                <a:spcPts val="1400"/>
              </a:spcBef>
              <a:buSzPts val="1350"/>
              <a:buFont typeface="Arial" panose="020B0604020202020204" pitchFamily="34" charset="0"/>
              <a:buChar char="•"/>
            </a:pPr>
            <a:r>
              <a:rPr lang="en-US" sz="1800" b="0" dirty="0">
                <a:solidFill>
                  <a:schemeClr val="dk1"/>
                </a:solidFill>
                <a:highlight>
                  <a:srgbClr val="FF0000"/>
                </a:highlight>
                <a:latin typeface="Calibri"/>
                <a:ea typeface="Calibri"/>
                <a:cs typeface="Calibri"/>
                <a:sym typeface="Calibri"/>
              </a:rPr>
              <a:t>Avoid leading/directive questions/ binary questions</a:t>
            </a:r>
            <a:r>
              <a:rPr lang="en-US" sz="1800" b="0" dirty="0">
                <a:solidFill>
                  <a:schemeClr val="dk1"/>
                </a:solidFill>
                <a:latin typeface="Calibri"/>
                <a:ea typeface="Calibri"/>
                <a:cs typeface="Calibri"/>
                <a:sym typeface="Calibri"/>
              </a:rPr>
              <a:t>. These questions may </a:t>
            </a:r>
            <a:r>
              <a:rPr lang="en-US" sz="1800" b="0" dirty="0">
                <a:solidFill>
                  <a:srgbClr val="000000"/>
                </a:solidFill>
                <a:latin typeface="Calibri"/>
                <a:ea typeface="Calibri"/>
                <a:cs typeface="Calibri"/>
                <a:sym typeface="Calibri"/>
              </a:rPr>
              <a:t>imply that there is a right answer or lead respondents to answer in a particular way. </a:t>
            </a:r>
            <a:r>
              <a:rPr lang="en-US" sz="1800" b="0" i="1" dirty="0">
                <a:solidFill>
                  <a:srgbClr val="000000"/>
                </a:solidFill>
                <a:latin typeface="Calibri"/>
                <a:ea typeface="Calibri"/>
                <a:cs typeface="Calibri"/>
                <a:sym typeface="Calibri"/>
              </a:rPr>
              <a:t>E.g. Besides this website, what are other trusted sources? Friends? </a:t>
            </a:r>
            <a:endParaRPr sz="1800" b="0" i="1" dirty="0">
              <a:solidFill>
                <a:srgbClr val="666666"/>
              </a:solidFill>
              <a:latin typeface="Calibri"/>
              <a:ea typeface="Calibri"/>
              <a:cs typeface="Calibri"/>
              <a:sym typeface="Calibri"/>
            </a:endParaRPr>
          </a:p>
          <a:p>
            <a:pPr indent="-419090">
              <a:spcBef>
                <a:spcPts val="1400"/>
              </a:spcBef>
              <a:buSzPts val="1350"/>
              <a:buFont typeface="Arial" panose="020B0604020202020204" pitchFamily="34" charset="0"/>
              <a:buChar char="•"/>
            </a:pPr>
            <a:r>
              <a:rPr lang="en-US" sz="1800" b="0" dirty="0">
                <a:solidFill>
                  <a:schemeClr val="dk1"/>
                </a:solidFill>
                <a:highlight>
                  <a:srgbClr val="FF0000"/>
                </a:highlight>
                <a:latin typeface="Calibri"/>
                <a:ea typeface="Calibri"/>
                <a:cs typeface="Calibri"/>
                <a:sym typeface="Calibri"/>
              </a:rPr>
              <a:t>Don’t fall into trap of leading expressions</a:t>
            </a:r>
            <a:r>
              <a:rPr lang="en-US" sz="1800" b="0" dirty="0">
                <a:solidFill>
                  <a:schemeClr val="dk1"/>
                </a:solidFill>
                <a:latin typeface="Calibri"/>
                <a:ea typeface="Calibri"/>
                <a:cs typeface="Calibri"/>
                <a:sym typeface="Calibri"/>
              </a:rPr>
              <a:t>. </a:t>
            </a:r>
            <a:r>
              <a:rPr lang="en-US" sz="1800" b="0" i="1" dirty="0">
                <a:solidFill>
                  <a:srgbClr val="000000"/>
                </a:solidFill>
                <a:latin typeface="Calibri"/>
                <a:ea typeface="Calibri"/>
                <a:cs typeface="Calibri"/>
                <a:sym typeface="Calibri"/>
              </a:rPr>
              <a:t>E.g. nodding, saying aha, that’s great, interesting, yeah, I see, etc.</a:t>
            </a:r>
            <a:r>
              <a:rPr lang="en-US" sz="1800" b="0" dirty="0">
                <a:solidFill>
                  <a:srgbClr val="000000"/>
                </a:solidFill>
                <a:latin typeface="Calibri"/>
                <a:ea typeface="Calibri"/>
                <a:cs typeface="Calibri"/>
                <a:sym typeface="Calibri"/>
              </a:rPr>
              <a:t> Yet you have to balance with not being deadpan.</a:t>
            </a:r>
            <a:endParaRPr sz="1800" b="0" dirty="0">
              <a:latin typeface="Calibri"/>
              <a:ea typeface="Calibri"/>
              <a:cs typeface="Calibri"/>
              <a:sym typeface="Calibri"/>
            </a:endParaRPr>
          </a:p>
          <a:p>
            <a:pPr indent="-419090">
              <a:spcBef>
                <a:spcPts val="1400"/>
              </a:spcBef>
              <a:buSzPts val="1350"/>
              <a:buFont typeface="Arial" panose="020B0604020202020204" pitchFamily="34" charset="0"/>
              <a:buChar char="•"/>
            </a:pPr>
            <a:r>
              <a:rPr lang="en-US" sz="1800" b="0" dirty="0">
                <a:solidFill>
                  <a:schemeClr val="dk1"/>
                </a:solidFill>
                <a:highlight>
                  <a:srgbClr val="FF0000"/>
                </a:highlight>
                <a:latin typeface="Calibri"/>
                <a:ea typeface="Calibri"/>
                <a:cs typeface="Calibri"/>
                <a:sym typeface="Calibri"/>
              </a:rPr>
              <a:t>Don’t suggest answers to your questions</a:t>
            </a:r>
            <a:r>
              <a:rPr lang="en-US" sz="1800" b="0" dirty="0">
                <a:solidFill>
                  <a:schemeClr val="dk1"/>
                </a:solidFill>
                <a:latin typeface="Calibri"/>
                <a:ea typeface="Calibri"/>
                <a:cs typeface="Calibri"/>
                <a:sym typeface="Calibri"/>
              </a:rPr>
              <a:t>. </a:t>
            </a:r>
            <a:r>
              <a:rPr lang="en-US" sz="1800" b="0" dirty="0">
                <a:solidFill>
                  <a:srgbClr val="000000"/>
                </a:solidFill>
                <a:latin typeface="Calibri"/>
                <a:ea typeface="Calibri"/>
                <a:cs typeface="Calibri"/>
                <a:sym typeface="Calibri"/>
              </a:rPr>
              <a:t>Even if they pause before answering, don’t help them by suggesting an answer.</a:t>
            </a:r>
            <a:endParaRPr sz="1800" b="0" dirty="0">
              <a:latin typeface="Calibri"/>
              <a:ea typeface="Calibri"/>
              <a:cs typeface="Calibri"/>
              <a:sym typeface="Calibri"/>
            </a:endParaRPr>
          </a:p>
          <a:p>
            <a:pPr indent="-419090">
              <a:spcBef>
                <a:spcPts val="1400"/>
              </a:spcBef>
              <a:buSzPts val="1350"/>
              <a:buFont typeface="Arial" panose="020B0604020202020204" pitchFamily="34" charset="0"/>
              <a:buChar char="•"/>
            </a:pPr>
            <a:r>
              <a:rPr lang="en-US" sz="1800" b="0" dirty="0">
                <a:solidFill>
                  <a:schemeClr val="dk1"/>
                </a:solidFill>
                <a:highlight>
                  <a:srgbClr val="FF0000"/>
                </a:highlight>
                <a:latin typeface="Calibri"/>
                <a:ea typeface="Calibri"/>
                <a:cs typeface="Calibri"/>
                <a:sym typeface="Calibri"/>
              </a:rPr>
              <a:t>Don’t be afraid of silence</a:t>
            </a:r>
            <a:r>
              <a:rPr lang="en-US" sz="1800" b="0" dirty="0">
                <a:solidFill>
                  <a:schemeClr val="dk1"/>
                </a:solidFill>
                <a:latin typeface="Calibri"/>
                <a:ea typeface="Calibri"/>
                <a:cs typeface="Calibri"/>
                <a:sym typeface="Calibri"/>
              </a:rPr>
              <a:t>. </a:t>
            </a:r>
            <a:r>
              <a:rPr lang="en-US" sz="1800" b="0" dirty="0">
                <a:solidFill>
                  <a:srgbClr val="000000"/>
                </a:solidFill>
                <a:latin typeface="Calibri"/>
                <a:ea typeface="Calibri"/>
                <a:cs typeface="Calibri"/>
                <a:sym typeface="Calibri"/>
              </a:rPr>
              <a:t>Allow for silence, they may reflect on what was just said and reveal something deeper. </a:t>
            </a:r>
            <a:endParaRPr sz="1800" b="0" dirty="0">
              <a:latin typeface="Calibri"/>
              <a:ea typeface="Calibri"/>
              <a:cs typeface="Calibri"/>
              <a:sym typeface="Calibri"/>
            </a:endParaRPr>
          </a:p>
          <a:p>
            <a:pPr marL="285750" indent="-285750">
              <a:spcBef>
                <a:spcPts val="2933"/>
              </a:spcBef>
              <a:buSzPts val="1800"/>
              <a:buFont typeface="Arial" panose="020B0604020202020204" pitchFamily="34" charset="0"/>
              <a:buChar char="•"/>
            </a:pPr>
            <a:endParaRPr sz="1800" b="0" dirty="0">
              <a:latin typeface="Calibri"/>
              <a:ea typeface="Calibri"/>
              <a:cs typeface="Calibri"/>
              <a:sym typeface="Calibri"/>
            </a:endParaRPr>
          </a:p>
          <a:p>
            <a:pPr marL="285750" indent="-285750">
              <a:spcBef>
                <a:spcPts val="2133"/>
              </a:spcBef>
              <a:buFont typeface="Arial" panose="020B0604020202020204" pitchFamily="34" charset="0"/>
              <a:buChar char="•"/>
            </a:pPr>
            <a:endParaRPr sz="1800" b="0"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8"/>
          <p:cNvSpPr txBox="1"/>
          <p:nvPr/>
        </p:nvSpPr>
        <p:spPr>
          <a:xfrm>
            <a:off x="415600" y="593367"/>
            <a:ext cx="11360800" cy="763600"/>
          </a:xfrm>
          <a:prstGeom prst="rect">
            <a:avLst/>
          </a:prstGeom>
          <a:noFill/>
          <a:ln>
            <a:noFill/>
          </a:ln>
        </p:spPr>
        <p:txBody>
          <a:bodyPr spcFirstLastPara="1" wrap="square" lIns="121900" tIns="60933" rIns="121900" bIns="60933" anchor="ctr" anchorCtr="0">
            <a:noAutofit/>
          </a:bodyPr>
          <a:lstStyle/>
          <a:p>
            <a:r>
              <a:rPr lang="en-US" sz="3467" b="1">
                <a:solidFill>
                  <a:srgbClr val="595959"/>
                </a:solidFill>
                <a:latin typeface="Calibri"/>
                <a:ea typeface="Calibri"/>
                <a:cs typeface="Calibri"/>
                <a:sym typeface="Calibri"/>
              </a:rPr>
              <a:t>Let’s look at an interview … again</a:t>
            </a:r>
            <a:endParaRPr sz="3467" b="1">
              <a:solidFill>
                <a:srgbClr val="595959"/>
              </a:solidFill>
              <a:latin typeface="Calibri"/>
              <a:ea typeface="Calibri"/>
              <a:cs typeface="Calibri"/>
              <a:sym typeface="Calibri"/>
            </a:endParaRPr>
          </a:p>
          <a:p>
            <a:r>
              <a:rPr lang="en-US" sz="1333">
                <a:solidFill>
                  <a:srgbClr val="595959"/>
                </a:solidFill>
                <a:latin typeface="Calibri"/>
                <a:ea typeface="Calibri"/>
                <a:cs typeface="Calibri"/>
                <a:sym typeface="Calibri"/>
              </a:rPr>
              <a:t>How to do an Interview </a:t>
            </a:r>
            <a:endParaRPr sz="1333">
              <a:solidFill>
                <a:srgbClr val="595959"/>
              </a:solidFill>
              <a:latin typeface="Calibri"/>
              <a:ea typeface="Calibri"/>
              <a:cs typeface="Calibri"/>
              <a:sym typeface="Calibri"/>
            </a:endParaRPr>
          </a:p>
          <a:p>
            <a:endParaRPr sz="1333" b="1">
              <a:solidFill>
                <a:srgbClr val="595959"/>
              </a:solidFill>
              <a:latin typeface="Calibri"/>
              <a:ea typeface="Calibri"/>
              <a:cs typeface="Calibri"/>
              <a:sym typeface="Calibri"/>
            </a:endParaRPr>
          </a:p>
        </p:txBody>
      </p:sp>
      <p:sp>
        <p:nvSpPr>
          <p:cNvPr id="430" name="Google Shape;430;p58"/>
          <p:cNvSpPr txBox="1"/>
          <p:nvPr/>
        </p:nvSpPr>
        <p:spPr>
          <a:xfrm>
            <a:off x="6672800" y="1818867"/>
            <a:ext cx="5103600" cy="3477600"/>
          </a:xfrm>
          <a:prstGeom prst="rect">
            <a:avLst/>
          </a:prstGeom>
          <a:noFill/>
          <a:ln>
            <a:noFill/>
          </a:ln>
        </p:spPr>
        <p:txBody>
          <a:bodyPr spcFirstLastPara="1" wrap="square" lIns="121900" tIns="60933" rIns="121900" bIns="60933" anchor="t" anchorCtr="0">
            <a:noAutofit/>
          </a:bodyPr>
          <a:lstStyle/>
          <a:p>
            <a:pPr>
              <a:lnSpc>
                <a:spcPct val="120000"/>
              </a:lnSpc>
              <a:spcBef>
                <a:spcPts val="800"/>
              </a:spcBef>
              <a:buClr>
                <a:schemeClr val="dk1"/>
              </a:buClr>
              <a:buSzPts val="1900"/>
            </a:pPr>
            <a:endParaRPr sz="2533" b="1" dirty="0">
              <a:solidFill>
                <a:schemeClr val="dk1"/>
              </a:solidFill>
            </a:endParaRPr>
          </a:p>
          <a:p>
            <a:pPr>
              <a:lnSpc>
                <a:spcPct val="120000"/>
              </a:lnSpc>
              <a:spcBef>
                <a:spcPts val="800"/>
              </a:spcBef>
              <a:buClr>
                <a:schemeClr val="dk1"/>
              </a:buClr>
              <a:buSzPts val="1900"/>
            </a:pPr>
            <a:r>
              <a:rPr lang="en-US" sz="2533" b="1" dirty="0">
                <a:solidFill>
                  <a:schemeClr val="dk1"/>
                </a:solidFill>
              </a:rPr>
              <a:t>What was different in this interview in comparison to the first interview you saw?</a:t>
            </a:r>
            <a:endParaRPr sz="2533" b="1" dirty="0">
              <a:solidFill>
                <a:schemeClr val="dk1"/>
              </a:solidFill>
            </a:endParaRPr>
          </a:p>
          <a:p>
            <a:pPr>
              <a:lnSpc>
                <a:spcPct val="120000"/>
              </a:lnSpc>
              <a:spcBef>
                <a:spcPts val="800"/>
              </a:spcBef>
              <a:buClr>
                <a:srgbClr val="000000"/>
              </a:buClr>
              <a:buSzPts val="1200"/>
            </a:pPr>
            <a:endParaRPr sz="2000" b="1" dirty="0">
              <a:latin typeface="Calibri"/>
              <a:ea typeface="Calibri"/>
              <a:cs typeface="Calibri"/>
              <a:sym typeface="Calibri"/>
            </a:endParaRPr>
          </a:p>
        </p:txBody>
      </p:sp>
      <p:pic>
        <p:nvPicPr>
          <p:cNvPr id="431" name="Google Shape;431;p58" descr="Interviewer shows good quality of attention and listening, uses open questions and shows she values the answers, is aware respondent might be sensitive about admitting her needs, and guides her gently into offering realistic suggestions.  Used with permission www.go2itech.org." title="Demonstration Qualitative Interview - how it should be done">
            <a:hlinkClick r:id="rId3"/>
          </p:cNvPr>
          <p:cNvPicPr preferRelativeResize="0"/>
          <p:nvPr/>
        </p:nvPicPr>
        <p:blipFill>
          <a:blip r:embed="rId4">
            <a:alphaModFix/>
          </a:blip>
          <a:stretch>
            <a:fillRect/>
          </a:stretch>
        </p:blipFill>
        <p:spPr>
          <a:xfrm>
            <a:off x="415600" y="2022067"/>
            <a:ext cx="6002371" cy="3376333"/>
          </a:xfrm>
          <a:prstGeom prst="rect">
            <a:avLst/>
          </a:prstGeom>
          <a:noFill/>
          <a:ln w="19050" cap="flat" cmpd="sng">
            <a:solidFill>
              <a:schemeClr val="dk2"/>
            </a:solidFill>
            <a:prstDash val="solid"/>
            <a:round/>
            <a:headEnd type="none" w="sm" len="sm"/>
            <a:tailEnd type="none" w="sm" len="sm"/>
          </a:ln>
        </p:spPr>
      </p:pic>
      <p:sp>
        <p:nvSpPr>
          <p:cNvPr id="6" name="TextBox 5">
            <a:extLst>
              <a:ext uri="{FF2B5EF4-FFF2-40B4-BE49-F238E27FC236}">
                <a16:creationId xmlns:a16="http://schemas.microsoft.com/office/drawing/2014/main" id="{C39DEA7A-EA8F-4ED5-A322-F957FABB533B}"/>
              </a:ext>
            </a:extLst>
          </p:cNvPr>
          <p:cNvSpPr txBox="1"/>
          <p:nvPr/>
        </p:nvSpPr>
        <p:spPr>
          <a:xfrm>
            <a:off x="319097" y="6264633"/>
            <a:ext cx="6098874" cy="369332"/>
          </a:xfrm>
          <a:prstGeom prst="rect">
            <a:avLst/>
          </a:prstGeom>
          <a:noFill/>
        </p:spPr>
        <p:txBody>
          <a:bodyPr wrap="square">
            <a:spAutoFit/>
          </a:bodyPr>
          <a:lstStyle/>
          <a:p>
            <a:r>
              <a:rPr lang="en-US" dirty="0">
                <a:hlinkClick r:id="rId3"/>
              </a:rPr>
              <a:t>http://www.youtube.com/watch?v=eNMTJTnrTQQ</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C29AC9C1-B051-F04B-38F7-A32229D31074}"/>
            </a:ext>
          </a:extLst>
        </p:cNvPr>
        <p:cNvGrpSpPr/>
        <p:nvPr/>
      </p:nvGrpSpPr>
      <p:grpSpPr>
        <a:xfrm>
          <a:off x="0" y="0"/>
          <a:ext cx="0" cy="0"/>
          <a:chOff x="0" y="0"/>
          <a:chExt cx="0" cy="0"/>
        </a:xfrm>
      </p:grpSpPr>
      <p:sp>
        <p:nvSpPr>
          <p:cNvPr id="66" name="Google Shape;66;p2">
            <a:extLst>
              <a:ext uri="{FF2B5EF4-FFF2-40B4-BE49-F238E27FC236}">
                <a16:creationId xmlns:a16="http://schemas.microsoft.com/office/drawing/2014/main" id="{2E916ECB-87F5-DA85-D2D4-B907B76A4846}"/>
              </a:ext>
            </a:extLst>
          </p:cNvPr>
          <p:cNvSpPr txBox="1">
            <a:spLocks noGrp="1"/>
          </p:cNvSpPr>
          <p:nvPr>
            <p:ph type="title"/>
          </p:nvPr>
        </p:nvSpPr>
        <p:spPr>
          <a:xfrm>
            <a:off x="170658" y="2200952"/>
            <a:ext cx="11850657" cy="1304000"/>
          </a:xfrm>
          <a:prstGeom prst="rect">
            <a:avLst/>
          </a:prstGeom>
          <a:noFill/>
          <a:ln>
            <a:noFill/>
          </a:ln>
        </p:spPr>
        <p:txBody>
          <a:bodyPr spcFirstLastPara="1" vert="horz" wrap="square" lIns="121900" tIns="121900" rIns="121900" bIns="121900" rtlCol="0" anchor="ctr" anchorCtr="0">
            <a:noAutofit/>
          </a:bodyPr>
          <a:lstStyle/>
          <a:p>
            <a:r>
              <a:rPr lang="en-US" sz="6667" dirty="0">
                <a:solidFill>
                  <a:schemeClr val="bg1"/>
                </a:solidFill>
              </a:rPr>
              <a:t>Focus Groups</a:t>
            </a:r>
            <a:endParaRPr sz="6667" dirty="0">
              <a:solidFill>
                <a:schemeClr val="bg1"/>
              </a:solidFill>
            </a:endParaRPr>
          </a:p>
        </p:txBody>
      </p:sp>
      <p:cxnSp>
        <p:nvCxnSpPr>
          <p:cNvPr id="67" name="Google Shape;67;p2">
            <a:extLst>
              <a:ext uri="{FF2B5EF4-FFF2-40B4-BE49-F238E27FC236}">
                <a16:creationId xmlns:a16="http://schemas.microsoft.com/office/drawing/2014/main" id="{28BC1DDE-771A-367C-717D-03248A877757}"/>
              </a:ext>
            </a:extLst>
          </p:cNvPr>
          <p:cNvCxnSpPr/>
          <p:nvPr/>
        </p:nvCxnSpPr>
        <p:spPr>
          <a:xfrm>
            <a:off x="4271208" y="4005048"/>
            <a:ext cx="3649600" cy="0"/>
          </a:xfrm>
          <a:prstGeom prst="straightConnector1">
            <a:avLst/>
          </a:prstGeom>
          <a:noFill/>
          <a:ln w="9525" cap="flat" cmpd="sng">
            <a:solidFill>
              <a:schemeClr val="dk2"/>
            </a:solidFill>
            <a:prstDash val="solid"/>
            <a:round/>
            <a:headEnd type="none" w="sm" len="sm"/>
            <a:tailEnd type="none" w="sm" len="sm"/>
          </a:ln>
        </p:spPr>
      </p:cxnSp>
    </p:spTree>
    <p:extLst>
      <p:ext uri="{BB962C8B-B14F-4D97-AF65-F5344CB8AC3E}">
        <p14:creationId xmlns:p14="http://schemas.microsoft.com/office/powerpoint/2010/main" val="3479632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138F4D7A-1086-6FAA-1110-62F423234535}"/>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5A4A0F88-5477-F1B6-98AA-EB4D80E1016E}"/>
              </a:ext>
            </a:extLst>
          </p:cNvPr>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lvl="0">
              <a:lnSpc>
                <a:spcPct val="140000"/>
              </a:lnSpc>
              <a:spcBef>
                <a:spcPct val="0"/>
              </a:spcBef>
              <a:buClr>
                <a:schemeClr val="dk1"/>
              </a:buClr>
              <a:buSzPts val="2400"/>
            </a:pPr>
            <a:r>
              <a:rPr lang="en-US" sz="2500" dirty="0"/>
              <a:t>Focus groups: Benefits</a:t>
            </a:r>
          </a:p>
        </p:txBody>
      </p:sp>
      <p:sp>
        <p:nvSpPr>
          <p:cNvPr id="5" name="TextBox 4">
            <a:extLst>
              <a:ext uri="{FF2B5EF4-FFF2-40B4-BE49-F238E27FC236}">
                <a16:creationId xmlns:a16="http://schemas.microsoft.com/office/drawing/2014/main" id="{BCF7F128-BF90-584D-20EC-E75400BB088D}"/>
              </a:ext>
            </a:extLst>
          </p:cNvPr>
          <p:cNvSpPr txBox="1"/>
          <p:nvPr/>
        </p:nvSpPr>
        <p:spPr>
          <a:xfrm>
            <a:off x="5004136" y="834228"/>
            <a:ext cx="6762919" cy="4154984"/>
          </a:xfrm>
          <a:prstGeom prst="rect">
            <a:avLst/>
          </a:prstGeom>
          <a:noFill/>
        </p:spPr>
        <p:txBody>
          <a:bodyPr wrap="square">
            <a:spAutoFit/>
          </a:bodyPr>
          <a:lstStyle/>
          <a:p>
            <a:pPr marL="342900" indent="-342900">
              <a:buFont typeface="Arial" panose="020B0604020202020204" pitchFamily="34" charset="0"/>
              <a:buChar char="•"/>
            </a:pPr>
            <a:r>
              <a:rPr lang="en-US" sz="2200" dirty="0"/>
              <a:t>Participants with similar goals or perspectives can build on each other’s responses or recall experiences in greater detail</a:t>
            </a:r>
          </a:p>
          <a:p>
            <a:endParaRPr lang="en-US" sz="2200" dirty="0"/>
          </a:p>
          <a:p>
            <a:pPr marL="342900" indent="-342900">
              <a:buFont typeface="Arial" panose="020B0604020202020204" pitchFamily="34" charset="0"/>
              <a:buChar char="•"/>
            </a:pPr>
            <a:r>
              <a:rPr lang="en-US" sz="2200" dirty="0"/>
              <a:t>They can help teams clarify users’ mental models and language (vocabulary)</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They are a time-efficient method for the researcher</a:t>
            </a:r>
          </a:p>
          <a:p>
            <a:endParaRPr lang="en-US" sz="2200" dirty="0"/>
          </a:p>
          <a:p>
            <a:pPr marL="342900" indent="-342900">
              <a:buFont typeface="Arial" panose="020B0604020202020204" pitchFamily="34" charset="0"/>
              <a:buChar char="•"/>
            </a:pPr>
            <a:r>
              <a:rPr lang="en-US" sz="2200" dirty="0"/>
              <a:t>When run properly, they can yield rich qualitative insights</a:t>
            </a:r>
          </a:p>
        </p:txBody>
      </p:sp>
      <p:pic>
        <p:nvPicPr>
          <p:cNvPr id="3074" name="Picture 2" descr="Conducting Focus Groups — Sage Research Methods Community">
            <a:extLst>
              <a:ext uri="{FF2B5EF4-FFF2-40B4-BE49-F238E27FC236}">
                <a16:creationId xmlns:a16="http://schemas.microsoft.com/office/drawing/2014/main" id="{40B70312-ABA5-D28F-66FF-F7F76461BC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31" y="2188306"/>
            <a:ext cx="4054935" cy="270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968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F1054B94-1602-DDD5-C91C-C210406DB5A8}"/>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65CEA608-823F-A89E-1775-FE40D61130E3}"/>
              </a:ext>
            </a:extLst>
          </p:cNvPr>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lvl="0">
              <a:lnSpc>
                <a:spcPct val="140000"/>
              </a:lnSpc>
              <a:spcBef>
                <a:spcPct val="0"/>
              </a:spcBef>
              <a:buClr>
                <a:schemeClr val="dk1"/>
              </a:buClr>
              <a:buSzPts val="2400"/>
            </a:pPr>
            <a:r>
              <a:rPr lang="en-US" sz="2500" dirty="0"/>
              <a:t>Focus groups</a:t>
            </a:r>
          </a:p>
        </p:txBody>
      </p:sp>
      <p:sp>
        <p:nvSpPr>
          <p:cNvPr id="5" name="TextBox 4">
            <a:extLst>
              <a:ext uri="{FF2B5EF4-FFF2-40B4-BE49-F238E27FC236}">
                <a16:creationId xmlns:a16="http://schemas.microsoft.com/office/drawing/2014/main" id="{C42DBEA4-51EE-7E5F-E275-20A3448EA784}"/>
              </a:ext>
            </a:extLst>
          </p:cNvPr>
          <p:cNvSpPr txBox="1"/>
          <p:nvPr/>
        </p:nvSpPr>
        <p:spPr>
          <a:xfrm>
            <a:off x="5004136" y="834228"/>
            <a:ext cx="6762919" cy="4154984"/>
          </a:xfrm>
          <a:prstGeom prst="rect">
            <a:avLst/>
          </a:prstGeom>
          <a:noFill/>
        </p:spPr>
        <p:txBody>
          <a:bodyPr wrap="square">
            <a:spAutoFit/>
          </a:bodyPr>
          <a:lstStyle/>
          <a:p>
            <a:pPr marL="342900" indent="-342900">
              <a:buFont typeface="Arial" panose="020B0604020202020204" pitchFamily="34" charset="0"/>
              <a:buChar char="•"/>
            </a:pPr>
            <a:r>
              <a:rPr lang="en-US" sz="2200" dirty="0"/>
              <a:t>A focus group is a qualitative research method in which </a:t>
            </a:r>
          </a:p>
          <a:p>
            <a:pPr marL="800100" lvl="1" indent="-342900">
              <a:buFont typeface="Arial" panose="020B0604020202020204" pitchFamily="34" charset="0"/>
              <a:buChar char="•"/>
            </a:pPr>
            <a:r>
              <a:rPr lang="en-US" sz="2200" dirty="0"/>
              <a:t>a facilitator conducts a meeting or workshop (typically about 1–2 hours long) with a group of 6–9 people </a:t>
            </a:r>
          </a:p>
          <a:p>
            <a:pPr lvl="1"/>
            <a:endParaRPr lang="en-US" sz="2200" dirty="0"/>
          </a:p>
          <a:p>
            <a:pPr marL="800100" lvl="1" indent="-342900">
              <a:buFont typeface="Arial" panose="020B0604020202020204" pitchFamily="34" charset="0"/>
              <a:buChar char="•"/>
            </a:pPr>
            <a:r>
              <a:rPr lang="en-US" sz="2200" dirty="0"/>
              <a:t>discuss issues and concerns about their experiences with a product or service</a:t>
            </a:r>
          </a:p>
          <a:p>
            <a:pPr lvl="1"/>
            <a:endParaRPr lang="en-US" sz="2200" dirty="0"/>
          </a:p>
          <a:p>
            <a:pPr marL="800100" lvl="1" indent="-342900">
              <a:buFont typeface="Arial" panose="020B0604020202020204" pitchFamily="34" charset="0"/>
              <a:buChar char="•"/>
            </a:pPr>
            <a:r>
              <a:rPr lang="en-US" sz="2200" dirty="0"/>
              <a:t>The term “focus” relates to the role of the facilitator, who maintains the group’s focus on certain topics during discussions.</a:t>
            </a:r>
          </a:p>
        </p:txBody>
      </p:sp>
      <p:pic>
        <p:nvPicPr>
          <p:cNvPr id="3074" name="Picture 2" descr="Conducting Focus Groups — Sage Research Methods Community">
            <a:extLst>
              <a:ext uri="{FF2B5EF4-FFF2-40B4-BE49-F238E27FC236}">
                <a16:creationId xmlns:a16="http://schemas.microsoft.com/office/drawing/2014/main" id="{68F2D834-DCFB-0A5A-E795-56B1FB808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31" y="2188306"/>
            <a:ext cx="4201359" cy="2800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636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2451113A-AC47-7D8F-AC3E-FDE380763337}"/>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5DB36182-5D52-25A8-2113-153074B08EFE}"/>
              </a:ext>
            </a:extLst>
          </p:cNvPr>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lvl="0">
              <a:lnSpc>
                <a:spcPct val="140000"/>
              </a:lnSpc>
              <a:spcBef>
                <a:spcPct val="0"/>
              </a:spcBef>
              <a:buClr>
                <a:schemeClr val="dk1"/>
              </a:buClr>
              <a:buSzPts val="2400"/>
            </a:pPr>
            <a:r>
              <a:rPr lang="en-US" sz="2500" dirty="0"/>
              <a:t>Focus groups: Risks</a:t>
            </a:r>
          </a:p>
        </p:txBody>
      </p:sp>
      <p:sp>
        <p:nvSpPr>
          <p:cNvPr id="5" name="TextBox 4">
            <a:extLst>
              <a:ext uri="{FF2B5EF4-FFF2-40B4-BE49-F238E27FC236}">
                <a16:creationId xmlns:a16="http://schemas.microsoft.com/office/drawing/2014/main" id="{AF933418-BBC6-4C8E-FEDB-B824F338B38C}"/>
              </a:ext>
            </a:extLst>
          </p:cNvPr>
          <p:cNvSpPr txBox="1"/>
          <p:nvPr/>
        </p:nvSpPr>
        <p:spPr>
          <a:xfrm>
            <a:off x="5004136" y="834228"/>
            <a:ext cx="6762919" cy="1107996"/>
          </a:xfrm>
          <a:prstGeom prst="rect">
            <a:avLst/>
          </a:prstGeom>
          <a:noFill/>
        </p:spPr>
        <p:txBody>
          <a:bodyPr wrap="square">
            <a:spAutoFit/>
          </a:bodyPr>
          <a:lstStyle/>
          <a:p>
            <a:pPr marL="342900" indent="-342900">
              <a:buFont typeface="Arial" panose="020B0604020202020204" pitchFamily="34" charset="0"/>
              <a:buChar char="•"/>
            </a:pPr>
            <a:r>
              <a:rPr lang="en-US" sz="2200" dirty="0"/>
              <a:t>Group dynamics may impact how much (or how little) people share</a:t>
            </a:r>
          </a:p>
          <a:p>
            <a:endParaRPr lang="en-US" sz="2200" dirty="0"/>
          </a:p>
        </p:txBody>
      </p:sp>
      <p:pic>
        <p:nvPicPr>
          <p:cNvPr id="3074" name="Picture 2" descr="Conducting Focus Groups — Sage Research Methods Community">
            <a:extLst>
              <a:ext uri="{FF2B5EF4-FFF2-40B4-BE49-F238E27FC236}">
                <a16:creationId xmlns:a16="http://schemas.microsoft.com/office/drawing/2014/main" id="{A7690320-BAEC-D78D-5F43-5CE162436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31" y="2188306"/>
            <a:ext cx="4201359" cy="2800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982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ABAC8F5E-6BDE-50DF-D09A-CE92A2EE8259}"/>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B545A70A-38FC-C205-814A-BB69981F3B4A}"/>
              </a:ext>
            </a:extLst>
          </p:cNvPr>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lvl="0">
              <a:lnSpc>
                <a:spcPct val="140000"/>
              </a:lnSpc>
              <a:spcBef>
                <a:spcPct val="0"/>
              </a:spcBef>
              <a:buClr>
                <a:schemeClr val="dk1"/>
              </a:buClr>
              <a:buSzPts val="2400"/>
            </a:pPr>
            <a:r>
              <a:rPr lang="en-US" sz="2500" dirty="0"/>
              <a:t>Focus groups</a:t>
            </a:r>
          </a:p>
        </p:txBody>
      </p:sp>
      <p:sp>
        <p:nvSpPr>
          <p:cNvPr id="5" name="TextBox 4">
            <a:extLst>
              <a:ext uri="{FF2B5EF4-FFF2-40B4-BE49-F238E27FC236}">
                <a16:creationId xmlns:a16="http://schemas.microsoft.com/office/drawing/2014/main" id="{377BE997-1A2B-DDD6-EC47-332390B96D2D}"/>
              </a:ext>
            </a:extLst>
          </p:cNvPr>
          <p:cNvSpPr txBox="1"/>
          <p:nvPr/>
        </p:nvSpPr>
        <p:spPr>
          <a:xfrm>
            <a:off x="5004136" y="834228"/>
            <a:ext cx="6762919" cy="4493538"/>
          </a:xfrm>
          <a:prstGeom prst="rect">
            <a:avLst/>
          </a:prstGeom>
          <a:noFill/>
        </p:spPr>
        <p:txBody>
          <a:bodyPr wrap="square">
            <a:spAutoFit/>
          </a:bodyPr>
          <a:lstStyle/>
          <a:p>
            <a:r>
              <a:rPr lang="en-US" sz="2200" dirty="0"/>
              <a:t>You can run an effective focus group by</a:t>
            </a:r>
          </a:p>
          <a:p>
            <a:endParaRPr lang="en-US" sz="2200" dirty="0"/>
          </a:p>
          <a:p>
            <a:pPr marL="342900" indent="-342900">
              <a:buFont typeface="Arial" panose="020B0604020202020204" pitchFamily="34" charset="0"/>
              <a:buChar char="•"/>
            </a:pPr>
            <a:r>
              <a:rPr lang="en-US" sz="2200" dirty="0"/>
              <a:t>recruiting participants that are representative of your target audience(s)</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Treat your focus group like a workshop. Make participants comfortable with participating, verbally or nonverbally</a:t>
            </a:r>
          </a:p>
          <a:p>
            <a:pPr marL="800100" lvl="1" indent="-342900">
              <a:buFont typeface="Arial" panose="020B0604020202020204" pitchFamily="34" charset="0"/>
              <a:buChar char="•"/>
            </a:pPr>
            <a:r>
              <a:rPr lang="en-US" sz="2200" dirty="0"/>
              <a:t>Easy warmup activity </a:t>
            </a:r>
          </a:p>
          <a:p>
            <a:pPr marL="800100" lvl="1" indent="-342900">
              <a:buFont typeface="Arial" panose="020B0604020202020204" pitchFamily="34" charset="0"/>
              <a:buChar char="•"/>
            </a:pPr>
            <a:r>
              <a:rPr lang="en-US" sz="2200" dirty="0"/>
              <a:t>Both written and verbal participation opportunities</a:t>
            </a:r>
          </a:p>
          <a:p>
            <a:pPr lvl="1"/>
            <a:endParaRPr lang="en-US" sz="2200" dirty="0"/>
          </a:p>
          <a:p>
            <a:pPr marL="342900" indent="-342900">
              <a:buFont typeface="Arial" panose="020B0604020202020204" pitchFamily="34" charset="0"/>
              <a:buChar char="•"/>
            </a:pPr>
            <a:r>
              <a:rPr lang="en-US" sz="2200" dirty="0"/>
              <a:t>Have a (written) plan and guide</a:t>
            </a:r>
          </a:p>
        </p:txBody>
      </p:sp>
      <p:pic>
        <p:nvPicPr>
          <p:cNvPr id="3074" name="Picture 2" descr="Conducting Focus Groups — Sage Research Methods Community">
            <a:extLst>
              <a:ext uri="{FF2B5EF4-FFF2-40B4-BE49-F238E27FC236}">
                <a16:creationId xmlns:a16="http://schemas.microsoft.com/office/drawing/2014/main" id="{FC6268B4-9915-CCED-4A83-65FDBC620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31" y="2188306"/>
            <a:ext cx="4201359" cy="2800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435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4DBFE626-DBA9-8FA6-E9E3-9D40A4C99AD7}"/>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4D82A3D7-0B6C-AB94-8D38-67B7FA59B6F3}"/>
              </a:ext>
            </a:extLst>
          </p:cNvPr>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lvl="0">
              <a:lnSpc>
                <a:spcPct val="140000"/>
              </a:lnSpc>
              <a:spcBef>
                <a:spcPct val="0"/>
              </a:spcBef>
              <a:buClr>
                <a:schemeClr val="dk1"/>
              </a:buClr>
              <a:buSzPts val="2400"/>
            </a:pPr>
            <a:r>
              <a:rPr lang="en-US" sz="2500" dirty="0"/>
              <a:t>Focus groups</a:t>
            </a:r>
          </a:p>
        </p:txBody>
      </p:sp>
      <p:sp>
        <p:nvSpPr>
          <p:cNvPr id="5" name="TextBox 4">
            <a:extLst>
              <a:ext uri="{FF2B5EF4-FFF2-40B4-BE49-F238E27FC236}">
                <a16:creationId xmlns:a16="http://schemas.microsoft.com/office/drawing/2014/main" id="{1A8A3622-ED95-EF7C-3A62-A16BF93748BE}"/>
              </a:ext>
            </a:extLst>
          </p:cNvPr>
          <p:cNvSpPr txBox="1"/>
          <p:nvPr/>
        </p:nvSpPr>
        <p:spPr>
          <a:xfrm>
            <a:off x="5004136" y="834228"/>
            <a:ext cx="6762919" cy="769441"/>
          </a:xfrm>
          <a:prstGeom prst="rect">
            <a:avLst/>
          </a:prstGeom>
          <a:noFill/>
        </p:spPr>
        <p:txBody>
          <a:bodyPr wrap="square">
            <a:spAutoFit/>
          </a:bodyPr>
          <a:lstStyle/>
          <a:p>
            <a:r>
              <a:rPr lang="en-US" sz="2200" dirty="0"/>
              <a:t>Link: </a:t>
            </a:r>
            <a:r>
              <a:rPr lang="en-US" sz="2200" dirty="0">
                <a:hlinkClick r:id="rId3"/>
              </a:rPr>
              <a:t>https://youtu.be/e9nZRMN49J0</a:t>
            </a:r>
            <a:endParaRPr lang="en-US" sz="2200" dirty="0"/>
          </a:p>
          <a:p>
            <a:endParaRPr lang="en-US" sz="2200" dirty="0"/>
          </a:p>
        </p:txBody>
      </p:sp>
      <p:pic>
        <p:nvPicPr>
          <p:cNvPr id="3074" name="Picture 2" descr="Conducting Focus Groups — Sage Research Methods Community">
            <a:extLst>
              <a:ext uri="{FF2B5EF4-FFF2-40B4-BE49-F238E27FC236}">
                <a16:creationId xmlns:a16="http://schemas.microsoft.com/office/drawing/2014/main" id="{05D6519D-6AF9-E428-5C47-ACB201BFE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031" y="2188306"/>
            <a:ext cx="4201359" cy="2800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39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62DECE9E-C48B-8092-FF37-769B75AF61AA}"/>
            </a:ext>
          </a:extLst>
        </p:cNvPr>
        <p:cNvGrpSpPr/>
        <p:nvPr/>
      </p:nvGrpSpPr>
      <p:grpSpPr>
        <a:xfrm>
          <a:off x="0" y="0"/>
          <a:ext cx="0" cy="0"/>
          <a:chOff x="0" y="0"/>
          <a:chExt cx="0" cy="0"/>
        </a:xfrm>
      </p:grpSpPr>
      <p:sp>
        <p:nvSpPr>
          <p:cNvPr id="66" name="Google Shape;66;p2">
            <a:extLst>
              <a:ext uri="{FF2B5EF4-FFF2-40B4-BE49-F238E27FC236}">
                <a16:creationId xmlns:a16="http://schemas.microsoft.com/office/drawing/2014/main" id="{645039BF-4DAF-B7E1-2D8E-92464CDF40BF}"/>
              </a:ext>
            </a:extLst>
          </p:cNvPr>
          <p:cNvSpPr txBox="1">
            <a:spLocks noGrp="1"/>
          </p:cNvSpPr>
          <p:nvPr>
            <p:ph type="title"/>
          </p:nvPr>
        </p:nvSpPr>
        <p:spPr>
          <a:xfrm>
            <a:off x="170658" y="2200952"/>
            <a:ext cx="11850657" cy="1304000"/>
          </a:xfrm>
          <a:prstGeom prst="rect">
            <a:avLst/>
          </a:prstGeom>
          <a:noFill/>
          <a:ln>
            <a:noFill/>
          </a:ln>
        </p:spPr>
        <p:txBody>
          <a:bodyPr spcFirstLastPara="1" vert="horz" wrap="square" lIns="121900" tIns="121900" rIns="121900" bIns="121900" rtlCol="0" anchor="ctr" anchorCtr="0">
            <a:noAutofit/>
          </a:bodyPr>
          <a:lstStyle/>
          <a:p>
            <a:r>
              <a:rPr lang="en-US" sz="6667" dirty="0">
                <a:solidFill>
                  <a:schemeClr val="bg1"/>
                </a:solidFill>
              </a:rPr>
              <a:t>Contextual Inquiry</a:t>
            </a:r>
            <a:endParaRPr sz="6667" dirty="0">
              <a:solidFill>
                <a:schemeClr val="bg1"/>
              </a:solidFill>
            </a:endParaRPr>
          </a:p>
        </p:txBody>
      </p:sp>
      <p:cxnSp>
        <p:nvCxnSpPr>
          <p:cNvPr id="67" name="Google Shape;67;p2">
            <a:extLst>
              <a:ext uri="{FF2B5EF4-FFF2-40B4-BE49-F238E27FC236}">
                <a16:creationId xmlns:a16="http://schemas.microsoft.com/office/drawing/2014/main" id="{7B147AD7-91CD-AE7F-F8DF-83FFFEB3B3EF}"/>
              </a:ext>
            </a:extLst>
          </p:cNvPr>
          <p:cNvCxnSpPr/>
          <p:nvPr/>
        </p:nvCxnSpPr>
        <p:spPr>
          <a:xfrm>
            <a:off x="4271208" y="4005048"/>
            <a:ext cx="3649600" cy="0"/>
          </a:xfrm>
          <a:prstGeom prst="straightConnector1">
            <a:avLst/>
          </a:prstGeom>
          <a:noFill/>
          <a:ln w="9525" cap="flat" cmpd="sng">
            <a:solidFill>
              <a:schemeClr val="dk2"/>
            </a:solidFill>
            <a:prstDash val="solid"/>
            <a:round/>
            <a:headEnd type="none" w="sm" len="sm"/>
            <a:tailEnd type="none" w="sm" len="sm"/>
          </a:ln>
        </p:spPr>
      </p:cxnSp>
    </p:spTree>
    <p:extLst>
      <p:ext uri="{BB962C8B-B14F-4D97-AF65-F5344CB8AC3E}">
        <p14:creationId xmlns:p14="http://schemas.microsoft.com/office/powerpoint/2010/main" val="1287474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84"/>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marL="0" lvl="0" indent="0">
              <a:lnSpc>
                <a:spcPct val="140000"/>
              </a:lnSpc>
              <a:spcBef>
                <a:spcPct val="0"/>
              </a:spcBef>
              <a:spcAft>
                <a:spcPts val="0"/>
              </a:spcAft>
              <a:buClr>
                <a:schemeClr val="dk1"/>
              </a:buClr>
              <a:buSzPts val="2400"/>
            </a:pPr>
            <a:r>
              <a:rPr lang="en-US" sz="2500" dirty="0"/>
              <a:t>Contextual Inquiry (CI)</a:t>
            </a:r>
          </a:p>
        </p:txBody>
      </p:sp>
      <p:sp>
        <p:nvSpPr>
          <p:cNvPr id="5" name="TextBox 4">
            <a:extLst>
              <a:ext uri="{FF2B5EF4-FFF2-40B4-BE49-F238E27FC236}">
                <a16:creationId xmlns:a16="http://schemas.microsoft.com/office/drawing/2014/main" id="{500042CE-0149-FF5D-E9C5-6A5AC14615C2}"/>
              </a:ext>
            </a:extLst>
          </p:cNvPr>
          <p:cNvSpPr txBox="1"/>
          <p:nvPr/>
        </p:nvSpPr>
        <p:spPr>
          <a:xfrm>
            <a:off x="5004136" y="834228"/>
            <a:ext cx="6762919" cy="5262979"/>
          </a:xfrm>
          <a:prstGeom prst="rect">
            <a:avLst/>
          </a:prstGeom>
          <a:noFill/>
        </p:spPr>
        <p:txBody>
          <a:bodyPr wrap="square">
            <a:spAutoFit/>
          </a:bodyPr>
          <a:lstStyle/>
          <a:p>
            <a:pPr marL="342900" indent="-342900">
              <a:buFont typeface="Arial" panose="020B0604020202020204" pitchFamily="34" charset="0"/>
              <a:buChar char="•"/>
            </a:pPr>
            <a:r>
              <a:rPr lang="en-US" sz="2400" dirty="0"/>
              <a:t>Can be thought of as </a:t>
            </a:r>
            <a:r>
              <a:rPr lang="en-US" sz="2400" b="1" dirty="0"/>
              <a:t>applied design ethnography</a:t>
            </a:r>
          </a:p>
          <a:p>
            <a:endParaRPr lang="en-US" sz="2400" b="1" dirty="0"/>
          </a:p>
          <a:p>
            <a:pPr marL="342900" indent="-342900">
              <a:buFont typeface="Arial" panose="020B0604020202020204" pitchFamily="34" charset="0"/>
              <a:buChar char="•"/>
            </a:pPr>
            <a:r>
              <a:rPr lang="en-US" sz="2400" dirty="0"/>
              <a:t>“The core premise of contextual inquiry is very simple: </a:t>
            </a:r>
          </a:p>
          <a:p>
            <a:pPr marL="800100" lvl="1" indent="-342900">
              <a:buFontTx/>
              <a:buChar char="-"/>
            </a:pPr>
            <a:r>
              <a:rPr lang="en-US" sz="2400" dirty="0"/>
              <a:t>go where the customer works, </a:t>
            </a:r>
          </a:p>
          <a:p>
            <a:pPr marL="800100" lvl="1" indent="-342900">
              <a:buFontTx/>
              <a:buChar char="-"/>
            </a:pPr>
            <a:r>
              <a:rPr lang="en-US" sz="2400" dirty="0"/>
              <a:t>observe the customer as he or she works, and </a:t>
            </a:r>
          </a:p>
          <a:p>
            <a:pPr marL="800100" lvl="1" indent="-342900">
              <a:buFontTx/>
              <a:buChar char="-"/>
            </a:pPr>
            <a:r>
              <a:rPr lang="en-US" sz="2400" dirty="0"/>
              <a:t>talk to the customer about the work. </a:t>
            </a:r>
          </a:p>
          <a:p>
            <a:pPr marL="800100" lvl="1" indent="-342900">
              <a:buFontTx/>
              <a:buChar char="-"/>
            </a:pPr>
            <a:r>
              <a:rPr lang="en-US" sz="2400" dirty="0"/>
              <a:t>Do that, and you can’t help but gain a better understanding of your customer.”</a:t>
            </a:r>
          </a:p>
          <a:p>
            <a:pPr lvl="1"/>
            <a:endParaRPr lang="en-US" sz="2400" dirty="0"/>
          </a:p>
          <a:p>
            <a:r>
              <a:rPr lang="en-US" sz="2400" dirty="0"/>
              <a:t>• Effectively, observation + interview</a:t>
            </a:r>
          </a:p>
        </p:txBody>
      </p:sp>
      <p:pic>
        <p:nvPicPr>
          <p:cNvPr id="2" name="Google Shape;75;g2064b3d91da_0_9">
            <a:extLst>
              <a:ext uri="{FF2B5EF4-FFF2-40B4-BE49-F238E27FC236}">
                <a16:creationId xmlns:a16="http://schemas.microsoft.com/office/drawing/2014/main" id="{3DC5C415-F789-C70D-6A61-2BDFF023CDE3}"/>
              </a:ext>
            </a:extLst>
          </p:cNvPr>
          <p:cNvPicPr preferRelativeResize="0"/>
          <p:nvPr/>
        </p:nvPicPr>
        <p:blipFill>
          <a:blip r:embed="rId3">
            <a:alphaModFix/>
          </a:blip>
          <a:stretch>
            <a:fillRect/>
          </a:stretch>
        </p:blipFill>
        <p:spPr>
          <a:xfrm>
            <a:off x="359031" y="2128282"/>
            <a:ext cx="3836182" cy="385044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BD31243B-8624-9D32-B421-4C9C9125C21A}"/>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65C32F88-0D6A-ADA5-46FD-A5CFDED966E0}"/>
              </a:ext>
            </a:extLst>
          </p:cNvPr>
          <p:cNvSpPr txBox="1">
            <a:spLocks noGrp="1"/>
          </p:cNvSpPr>
          <p:nvPr>
            <p:ph type="title"/>
          </p:nvPr>
        </p:nvSpPr>
        <p:spPr>
          <a:xfrm>
            <a:off x="642918" y="1072110"/>
            <a:ext cx="3611029" cy="1862345"/>
          </a:xfrm>
          <a:prstGeom prst="rect">
            <a:avLst/>
          </a:prstGeom>
        </p:spPr>
        <p:txBody>
          <a:bodyPr spcFirstLastPara="1" vert="horz" lIns="109728" tIns="109728" rIns="109728" bIns="91440" rtlCol="0" anchor="ctr" anchorCtr="0">
            <a:normAutofit/>
          </a:bodyPr>
          <a:lstStyle/>
          <a:p>
            <a:pPr marL="0" lvl="0" indent="0">
              <a:lnSpc>
                <a:spcPct val="140000"/>
              </a:lnSpc>
              <a:spcBef>
                <a:spcPct val="0"/>
              </a:spcBef>
              <a:spcAft>
                <a:spcPts val="0"/>
              </a:spcAft>
              <a:buClr>
                <a:schemeClr val="dk1"/>
              </a:buClr>
              <a:buSzPts val="2400"/>
            </a:pPr>
            <a:r>
              <a:rPr lang="en-US" sz="2500" dirty="0"/>
              <a:t>Contextual Inquiry (CI): Four principles</a:t>
            </a:r>
          </a:p>
        </p:txBody>
      </p:sp>
      <p:sp>
        <p:nvSpPr>
          <p:cNvPr id="5" name="TextBox 4">
            <a:extLst>
              <a:ext uri="{FF2B5EF4-FFF2-40B4-BE49-F238E27FC236}">
                <a16:creationId xmlns:a16="http://schemas.microsoft.com/office/drawing/2014/main" id="{E7E802F7-D331-2903-8C41-05E8D393E9C5}"/>
              </a:ext>
            </a:extLst>
          </p:cNvPr>
          <p:cNvSpPr txBox="1"/>
          <p:nvPr/>
        </p:nvSpPr>
        <p:spPr>
          <a:xfrm>
            <a:off x="5056570" y="2003282"/>
            <a:ext cx="6762919" cy="2677656"/>
          </a:xfrm>
          <a:prstGeom prst="rect">
            <a:avLst/>
          </a:prstGeom>
          <a:noFill/>
        </p:spPr>
        <p:txBody>
          <a:bodyPr wrap="square">
            <a:spAutoFit/>
          </a:bodyPr>
          <a:lstStyle/>
          <a:p>
            <a:pPr marL="342900" indent="-342900">
              <a:buFont typeface="Arial" panose="020B0604020202020204" pitchFamily="34" charset="0"/>
              <a:buChar char="•"/>
            </a:pPr>
            <a:r>
              <a:rPr lang="en-US" sz="2400" dirty="0"/>
              <a:t>Context</a:t>
            </a:r>
          </a:p>
          <a:p>
            <a:endParaRPr lang="en-US" sz="2400" dirty="0"/>
          </a:p>
          <a:p>
            <a:pPr marL="342900" indent="-342900">
              <a:buFont typeface="Arial" panose="020B0604020202020204" pitchFamily="34" charset="0"/>
              <a:buChar char="•"/>
            </a:pPr>
            <a:r>
              <a:rPr lang="en-US" sz="2400" dirty="0"/>
              <a:t>Partnership</a:t>
            </a:r>
          </a:p>
          <a:p>
            <a:endParaRPr lang="en-US" sz="2400" dirty="0"/>
          </a:p>
          <a:p>
            <a:pPr marL="342900" indent="-342900">
              <a:buFont typeface="Arial" panose="020B0604020202020204" pitchFamily="34" charset="0"/>
              <a:buChar char="•"/>
            </a:pPr>
            <a:r>
              <a:rPr lang="en-US" sz="2400" dirty="0"/>
              <a:t>Interpretation</a:t>
            </a:r>
          </a:p>
          <a:p>
            <a:endParaRPr lang="en-US" sz="2400" dirty="0"/>
          </a:p>
          <a:p>
            <a:pPr marL="342900" indent="-342900">
              <a:buFont typeface="Arial" panose="020B0604020202020204" pitchFamily="34" charset="0"/>
              <a:buChar char="•"/>
            </a:pPr>
            <a:r>
              <a:rPr lang="en-US" sz="2400" dirty="0"/>
              <a:t>Focus</a:t>
            </a:r>
          </a:p>
        </p:txBody>
      </p:sp>
    </p:spTree>
    <p:extLst>
      <p:ext uri="{BB962C8B-B14F-4D97-AF65-F5344CB8AC3E}">
        <p14:creationId xmlns:p14="http://schemas.microsoft.com/office/powerpoint/2010/main" val="2296584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83"/>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Four Principles of CI: Context</a:t>
            </a:r>
            <a:endParaRPr sz="3200" dirty="0"/>
          </a:p>
        </p:txBody>
      </p:sp>
      <p:sp>
        <p:nvSpPr>
          <p:cNvPr id="568" name="Google Shape;568;p83"/>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400" b="0" dirty="0"/>
              <a:t>Must be “where the work happens” </a:t>
            </a:r>
          </a:p>
          <a:p>
            <a:pPr lvl="0">
              <a:lnSpc>
                <a:spcPct val="115000"/>
              </a:lnSpc>
              <a:spcBef>
                <a:spcPts val="0"/>
              </a:spcBef>
              <a:buClr>
                <a:schemeClr val="dk1"/>
              </a:buClr>
              <a:buSzPts val="1800"/>
            </a:pPr>
            <a:r>
              <a:rPr lang="en-US" sz="2400" b="0" dirty="0"/>
              <a:t>	</a:t>
            </a:r>
          </a:p>
          <a:p>
            <a:pPr marL="342900" lvl="0" indent="-342900">
              <a:lnSpc>
                <a:spcPct val="115000"/>
              </a:lnSpc>
              <a:spcBef>
                <a:spcPts val="0"/>
              </a:spcBef>
              <a:buClr>
                <a:schemeClr val="dk1"/>
              </a:buClr>
              <a:buSzPts val="1800"/>
              <a:buFont typeface="Arial" panose="020B0604020202020204" pitchFamily="34" charset="0"/>
              <a:buChar char="•"/>
            </a:pPr>
            <a:r>
              <a:rPr lang="en-US" sz="2400" b="0" dirty="0"/>
              <a:t>Useful for understanding the underlying work structures rather than people’s perceptions of those structures</a:t>
            </a:r>
            <a:endParaRPr b="0" dirty="0"/>
          </a:p>
        </p:txBody>
      </p:sp>
      <p:sp>
        <p:nvSpPr>
          <p:cNvPr id="570" name="Google Shape;570;p83"/>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841F594F-A5EB-5F5E-22F6-6EF76A1E68EA}"/>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9B7E62D9-DAC0-EAB7-DF19-FB3EED00526B}"/>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Four Principles of CI: Partnership</a:t>
            </a:r>
            <a:endParaRPr sz="3200" dirty="0"/>
          </a:p>
        </p:txBody>
      </p:sp>
      <p:sp>
        <p:nvSpPr>
          <p:cNvPr id="568" name="Google Shape;568;p83">
            <a:extLst>
              <a:ext uri="{FF2B5EF4-FFF2-40B4-BE49-F238E27FC236}">
                <a16:creationId xmlns:a16="http://schemas.microsoft.com/office/drawing/2014/main" id="{3FB90378-1E49-16E4-B549-D896494CF60B}"/>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400" b="0" dirty="0"/>
              <a:t>Aim to follow a master/apprenticeship model </a:t>
            </a:r>
          </a:p>
          <a:p>
            <a:pPr lvl="0">
              <a:lnSpc>
                <a:spcPct val="115000"/>
              </a:lnSpc>
              <a:spcBef>
                <a:spcPts val="0"/>
              </a:spcBef>
              <a:buClr>
                <a:schemeClr val="dk1"/>
              </a:buClr>
              <a:buSzPts val="1800"/>
            </a:pPr>
            <a:endParaRPr lang="en-US" sz="2400" b="0" dirty="0"/>
          </a:p>
          <a:p>
            <a:pPr marL="342900" lvl="0" indent="-342900">
              <a:lnSpc>
                <a:spcPct val="115000"/>
              </a:lnSpc>
              <a:spcBef>
                <a:spcPts val="0"/>
              </a:spcBef>
              <a:buClr>
                <a:schemeClr val="dk1"/>
              </a:buClr>
              <a:buSzPts val="1800"/>
              <a:buFont typeface="Arial" panose="020B0604020202020204" pitchFamily="34" charset="0"/>
              <a:buChar char="•"/>
            </a:pPr>
            <a:r>
              <a:rPr lang="en-US" sz="2400" b="0" dirty="0"/>
              <a:t>You’re the apprentice, watching and asking questions to understand why things are done a certain way </a:t>
            </a:r>
          </a:p>
          <a:p>
            <a:pPr lvl="0">
              <a:lnSpc>
                <a:spcPct val="115000"/>
              </a:lnSpc>
              <a:spcBef>
                <a:spcPts val="0"/>
              </a:spcBef>
              <a:buClr>
                <a:schemeClr val="dk1"/>
              </a:buClr>
              <a:buSzPts val="1800"/>
            </a:pPr>
            <a:endParaRPr lang="en-US" sz="2400" b="0" dirty="0"/>
          </a:p>
          <a:p>
            <a:pPr marL="342900" lvl="0" indent="-342900">
              <a:lnSpc>
                <a:spcPct val="115000"/>
              </a:lnSpc>
              <a:spcBef>
                <a:spcPts val="0"/>
              </a:spcBef>
              <a:buClr>
                <a:schemeClr val="dk1"/>
              </a:buClr>
              <a:buSzPts val="1800"/>
              <a:buFont typeface="Arial" panose="020B0604020202020204" pitchFamily="34" charset="0"/>
              <a:buChar char="•"/>
            </a:pPr>
            <a:r>
              <a:rPr lang="en-US" sz="2400" b="0" dirty="0"/>
              <a:t>The transfer of knowledge happens when people talk about how they work while they’re doing the work</a:t>
            </a:r>
            <a:endParaRPr b="0" dirty="0"/>
          </a:p>
        </p:txBody>
      </p:sp>
      <p:sp>
        <p:nvSpPr>
          <p:cNvPr id="570" name="Google Shape;570;p83">
            <a:extLst>
              <a:ext uri="{FF2B5EF4-FFF2-40B4-BE49-F238E27FC236}">
                <a16:creationId xmlns:a16="http://schemas.microsoft.com/office/drawing/2014/main" id="{21245CAF-92A4-A97C-07B4-EBF83A2A3177}"/>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186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546FF4BE-E395-B6F1-5636-1F0857F40DEF}"/>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AE51B2A7-0E34-BDAE-2D43-64C94885061B}"/>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Four Principles of CI: Interpretation</a:t>
            </a:r>
            <a:endParaRPr sz="3200" dirty="0"/>
          </a:p>
        </p:txBody>
      </p:sp>
      <p:sp>
        <p:nvSpPr>
          <p:cNvPr id="568" name="Google Shape;568;p83">
            <a:extLst>
              <a:ext uri="{FF2B5EF4-FFF2-40B4-BE49-F238E27FC236}">
                <a16:creationId xmlns:a16="http://schemas.microsoft.com/office/drawing/2014/main" id="{EF995321-AC77-5BE0-5002-5A31EA5FCB9E}"/>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400" b="0" dirty="0"/>
              <a:t>All data must be interpreted for meaning before developing design implications </a:t>
            </a:r>
          </a:p>
          <a:p>
            <a:pPr lvl="0">
              <a:lnSpc>
                <a:spcPct val="115000"/>
              </a:lnSpc>
              <a:spcBef>
                <a:spcPts val="0"/>
              </a:spcBef>
              <a:buClr>
                <a:schemeClr val="dk1"/>
              </a:buClr>
              <a:buSzPts val="1800"/>
            </a:pPr>
            <a:endParaRPr lang="en-US" sz="2400" b="0" dirty="0"/>
          </a:p>
          <a:p>
            <a:pPr marL="342900" lvl="0" indent="-342900">
              <a:lnSpc>
                <a:spcPct val="115000"/>
              </a:lnSpc>
              <a:spcBef>
                <a:spcPts val="0"/>
              </a:spcBef>
              <a:buClr>
                <a:schemeClr val="dk1"/>
              </a:buClr>
              <a:buSzPts val="1800"/>
              <a:buFont typeface="Arial" panose="020B0604020202020204" pitchFamily="34" charset="0"/>
              <a:buChar char="•"/>
            </a:pPr>
            <a:r>
              <a:rPr lang="en-US" sz="2400" b="0" dirty="0"/>
              <a:t>Merge insights from your observations with insights from your questions </a:t>
            </a:r>
          </a:p>
          <a:p>
            <a:pPr lvl="0">
              <a:lnSpc>
                <a:spcPct val="115000"/>
              </a:lnSpc>
              <a:spcBef>
                <a:spcPts val="0"/>
              </a:spcBef>
              <a:buClr>
                <a:schemeClr val="dk1"/>
              </a:buClr>
              <a:buSzPts val="1800"/>
            </a:pPr>
            <a:endParaRPr lang="en-US" sz="2400" b="0" dirty="0"/>
          </a:p>
          <a:p>
            <a:pPr marL="342900" lvl="0" indent="-342900">
              <a:lnSpc>
                <a:spcPct val="115000"/>
              </a:lnSpc>
              <a:spcBef>
                <a:spcPts val="0"/>
              </a:spcBef>
              <a:buClr>
                <a:schemeClr val="dk1"/>
              </a:buClr>
              <a:buSzPts val="1800"/>
              <a:buFont typeface="Arial" panose="020B0604020202020204" pitchFamily="34" charset="0"/>
              <a:buChar char="•"/>
            </a:pPr>
            <a:r>
              <a:rPr lang="en-US" sz="2400" b="0" dirty="0"/>
              <a:t>Double-check your interpretations with your participants, where participants are allowed to make changes</a:t>
            </a: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endParaRPr b="0" dirty="0"/>
          </a:p>
        </p:txBody>
      </p:sp>
      <p:sp>
        <p:nvSpPr>
          <p:cNvPr id="570" name="Google Shape;570;p83">
            <a:extLst>
              <a:ext uri="{FF2B5EF4-FFF2-40B4-BE49-F238E27FC236}">
                <a16:creationId xmlns:a16="http://schemas.microsoft.com/office/drawing/2014/main" id="{40F9E742-0D3C-63E1-96CF-13E694A724F9}"/>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69946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541A52E4-09D9-24AC-A1BB-777C570CABD8}"/>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D26F5134-2291-5B3D-8BB9-DEC1FF432E8E}"/>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Four Principles of CI: Focus</a:t>
            </a:r>
            <a:endParaRPr sz="3200" dirty="0"/>
          </a:p>
        </p:txBody>
      </p:sp>
      <p:sp>
        <p:nvSpPr>
          <p:cNvPr id="568" name="Google Shape;568;p83">
            <a:extLst>
              <a:ext uri="{FF2B5EF4-FFF2-40B4-BE49-F238E27FC236}">
                <a16:creationId xmlns:a16="http://schemas.microsoft.com/office/drawing/2014/main" id="{F9280391-C6AA-E976-64A9-91F1361BD95D}"/>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400" b="0" dirty="0"/>
              <a:t>Usually, researcher enter the filed with a narrower focus, but bee open to expanding on your initial focus or assumptions </a:t>
            </a:r>
          </a:p>
          <a:p>
            <a:pPr lvl="0">
              <a:lnSpc>
                <a:spcPct val="115000"/>
              </a:lnSpc>
              <a:spcBef>
                <a:spcPts val="0"/>
              </a:spcBef>
              <a:buClr>
                <a:schemeClr val="dk1"/>
              </a:buClr>
              <a:buSzPts val="1800"/>
            </a:pPr>
            <a:endParaRPr lang="en-US" sz="2400" b="0" dirty="0"/>
          </a:p>
          <a:p>
            <a:pPr marL="342900" lvl="0" indent="-342900">
              <a:lnSpc>
                <a:spcPct val="115000"/>
              </a:lnSpc>
              <a:spcBef>
                <a:spcPts val="0"/>
              </a:spcBef>
              <a:buClr>
                <a:schemeClr val="dk1"/>
              </a:buClr>
              <a:buSzPts val="1800"/>
              <a:buFont typeface="Arial" panose="020B0604020202020204" pitchFamily="34" charset="0"/>
              <a:buChar char="•"/>
            </a:pPr>
            <a:r>
              <a:rPr lang="en-US" sz="2400" b="0" dirty="0"/>
              <a:t>Any time you’re surprised by a participant or find their actions odd, it’s an opportunity to ask questions </a:t>
            </a:r>
          </a:p>
          <a:p>
            <a:pPr lvl="0">
              <a:lnSpc>
                <a:spcPct val="115000"/>
              </a:lnSpc>
              <a:spcBef>
                <a:spcPts val="0"/>
              </a:spcBef>
              <a:buClr>
                <a:schemeClr val="dk1"/>
              </a:buClr>
              <a:buSzPts val="1800"/>
            </a:pPr>
            <a:endParaRPr lang="en-US" sz="2400" b="0" dirty="0"/>
          </a:p>
          <a:p>
            <a:pPr marL="342900" lvl="0" indent="-342900">
              <a:lnSpc>
                <a:spcPct val="115000"/>
              </a:lnSpc>
              <a:spcBef>
                <a:spcPts val="0"/>
              </a:spcBef>
              <a:buClr>
                <a:schemeClr val="dk1"/>
              </a:buClr>
              <a:buSzPts val="1800"/>
              <a:buFont typeface="Arial" panose="020B0604020202020204" pitchFamily="34" charset="0"/>
              <a:buChar char="•"/>
            </a:pPr>
            <a:r>
              <a:rPr lang="en-US" sz="2400" b="0" dirty="0"/>
              <a:t>Aim to see their perspective rather than your own</a:t>
            </a:r>
            <a:endParaRPr b="0" dirty="0"/>
          </a:p>
        </p:txBody>
      </p:sp>
      <p:sp>
        <p:nvSpPr>
          <p:cNvPr id="570" name="Google Shape;570;p83">
            <a:extLst>
              <a:ext uri="{FF2B5EF4-FFF2-40B4-BE49-F238E27FC236}">
                <a16:creationId xmlns:a16="http://schemas.microsoft.com/office/drawing/2014/main" id="{5781AF88-495D-878B-D8DE-B51DA42B6132}"/>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98034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5147636A-3FA8-6CC6-D600-A69B66C02555}"/>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6D49C00F-9F77-E9A0-C909-9E741D5F71EE}"/>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Examples of CI: </a:t>
            </a:r>
            <a:endParaRPr sz="3200" dirty="0"/>
          </a:p>
        </p:txBody>
      </p:sp>
      <p:sp>
        <p:nvSpPr>
          <p:cNvPr id="568" name="Google Shape;568;p83">
            <a:extLst>
              <a:ext uri="{FF2B5EF4-FFF2-40B4-BE49-F238E27FC236}">
                <a16:creationId xmlns:a16="http://schemas.microsoft.com/office/drawing/2014/main" id="{07A9DD37-9426-776E-7BBD-075AA5811CF7}"/>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b="0" dirty="0"/>
              <a:t>Design to support the visually impaired people in cooking </a:t>
            </a:r>
            <a:r>
              <a:rPr lang="en-US" b="0" dirty="0">
                <a:hlinkClick r:id="rId3"/>
              </a:rPr>
              <a:t>(paper link)</a:t>
            </a:r>
            <a:endParaRPr b="0" dirty="0"/>
          </a:p>
        </p:txBody>
      </p:sp>
      <p:sp>
        <p:nvSpPr>
          <p:cNvPr id="570" name="Google Shape;570;p83">
            <a:extLst>
              <a:ext uri="{FF2B5EF4-FFF2-40B4-BE49-F238E27FC236}">
                <a16:creationId xmlns:a16="http://schemas.microsoft.com/office/drawing/2014/main" id="{A5F74295-5DC3-BFF1-AB83-0313D4CE2BCF}"/>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B09776E-3966-7473-37B0-40C275BC5A63}"/>
              </a:ext>
            </a:extLst>
          </p:cNvPr>
          <p:cNvPicPr>
            <a:picLocks noChangeAspect="1"/>
          </p:cNvPicPr>
          <p:nvPr/>
        </p:nvPicPr>
        <p:blipFill>
          <a:blip r:embed="rId4"/>
          <a:stretch>
            <a:fillRect/>
          </a:stretch>
        </p:blipFill>
        <p:spPr>
          <a:xfrm>
            <a:off x="1109709" y="1975681"/>
            <a:ext cx="5228947" cy="4716059"/>
          </a:xfrm>
          <a:prstGeom prst="rect">
            <a:avLst/>
          </a:prstGeom>
        </p:spPr>
      </p:pic>
      <p:pic>
        <p:nvPicPr>
          <p:cNvPr id="5" name="Picture 4">
            <a:extLst>
              <a:ext uri="{FF2B5EF4-FFF2-40B4-BE49-F238E27FC236}">
                <a16:creationId xmlns:a16="http://schemas.microsoft.com/office/drawing/2014/main" id="{C065BC5C-775B-E14B-2A5A-C5139EEF922A}"/>
              </a:ext>
            </a:extLst>
          </p:cNvPr>
          <p:cNvPicPr>
            <a:picLocks noChangeAspect="1"/>
          </p:cNvPicPr>
          <p:nvPr/>
        </p:nvPicPr>
        <p:blipFill>
          <a:blip r:embed="rId5"/>
          <a:stretch>
            <a:fillRect/>
          </a:stretch>
        </p:blipFill>
        <p:spPr>
          <a:xfrm>
            <a:off x="6584398" y="2639986"/>
            <a:ext cx="5172888" cy="3387447"/>
          </a:xfrm>
          <a:prstGeom prst="rect">
            <a:avLst/>
          </a:prstGeom>
        </p:spPr>
      </p:pic>
    </p:spTree>
    <p:extLst>
      <p:ext uri="{BB962C8B-B14F-4D97-AF65-F5344CB8AC3E}">
        <p14:creationId xmlns:p14="http://schemas.microsoft.com/office/powerpoint/2010/main" val="501850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396DB7B5-7755-9671-92CD-E4C6B4E872CB}"/>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DFB8D16A-5CD6-BD06-E3D1-5D01836A7411}"/>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Examples of CI: </a:t>
            </a:r>
            <a:endParaRPr sz="3200" dirty="0"/>
          </a:p>
        </p:txBody>
      </p:sp>
      <p:sp>
        <p:nvSpPr>
          <p:cNvPr id="568" name="Google Shape;568;p83">
            <a:extLst>
              <a:ext uri="{FF2B5EF4-FFF2-40B4-BE49-F238E27FC236}">
                <a16:creationId xmlns:a16="http://schemas.microsoft.com/office/drawing/2014/main" id="{D1E81E1D-518B-3EEF-53DD-B5E655C2C9C4}"/>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b="0" dirty="0"/>
              <a:t>Design to support the visually impaired people in cooking </a:t>
            </a:r>
            <a:r>
              <a:rPr lang="en-US" b="0" dirty="0">
                <a:hlinkClick r:id="rId3"/>
              </a:rPr>
              <a:t>(paper link)</a:t>
            </a:r>
            <a:endParaRPr b="0" dirty="0"/>
          </a:p>
        </p:txBody>
      </p:sp>
      <p:sp>
        <p:nvSpPr>
          <p:cNvPr id="570" name="Google Shape;570;p83">
            <a:extLst>
              <a:ext uri="{FF2B5EF4-FFF2-40B4-BE49-F238E27FC236}">
                <a16:creationId xmlns:a16="http://schemas.microsoft.com/office/drawing/2014/main" id="{1833E737-C443-75DF-15AF-AF99E69CEFB9}"/>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AE746B76-90A5-A662-22A6-765D6A6E5361}"/>
              </a:ext>
            </a:extLst>
          </p:cNvPr>
          <p:cNvPicPr>
            <a:picLocks noChangeAspect="1"/>
          </p:cNvPicPr>
          <p:nvPr/>
        </p:nvPicPr>
        <p:blipFill>
          <a:blip r:embed="rId4"/>
          <a:stretch>
            <a:fillRect/>
          </a:stretch>
        </p:blipFill>
        <p:spPr>
          <a:xfrm>
            <a:off x="1118587" y="1955147"/>
            <a:ext cx="4128116" cy="2408068"/>
          </a:xfrm>
          <a:prstGeom prst="rect">
            <a:avLst/>
          </a:prstGeom>
        </p:spPr>
      </p:pic>
      <p:pic>
        <p:nvPicPr>
          <p:cNvPr id="7" name="Picture 6">
            <a:extLst>
              <a:ext uri="{FF2B5EF4-FFF2-40B4-BE49-F238E27FC236}">
                <a16:creationId xmlns:a16="http://schemas.microsoft.com/office/drawing/2014/main" id="{C5CC49A4-3B06-53AB-9EF8-6D1096AAC146}"/>
              </a:ext>
            </a:extLst>
          </p:cNvPr>
          <p:cNvPicPr>
            <a:picLocks noChangeAspect="1"/>
          </p:cNvPicPr>
          <p:nvPr/>
        </p:nvPicPr>
        <p:blipFill>
          <a:blip r:embed="rId5"/>
          <a:stretch>
            <a:fillRect/>
          </a:stretch>
        </p:blipFill>
        <p:spPr>
          <a:xfrm>
            <a:off x="6096000" y="1955147"/>
            <a:ext cx="3918012" cy="2348972"/>
          </a:xfrm>
          <a:prstGeom prst="rect">
            <a:avLst/>
          </a:prstGeom>
        </p:spPr>
      </p:pic>
      <p:pic>
        <p:nvPicPr>
          <p:cNvPr id="9" name="Picture 8">
            <a:extLst>
              <a:ext uri="{FF2B5EF4-FFF2-40B4-BE49-F238E27FC236}">
                <a16:creationId xmlns:a16="http://schemas.microsoft.com/office/drawing/2014/main" id="{FEAF5BD6-41EE-9484-232D-F2B81C556B32}"/>
              </a:ext>
            </a:extLst>
          </p:cNvPr>
          <p:cNvPicPr>
            <a:picLocks noChangeAspect="1"/>
          </p:cNvPicPr>
          <p:nvPr/>
        </p:nvPicPr>
        <p:blipFill>
          <a:blip r:embed="rId6"/>
          <a:stretch>
            <a:fillRect/>
          </a:stretch>
        </p:blipFill>
        <p:spPr>
          <a:xfrm>
            <a:off x="3834585" y="4381482"/>
            <a:ext cx="3667046" cy="2319785"/>
          </a:xfrm>
          <a:prstGeom prst="rect">
            <a:avLst/>
          </a:prstGeom>
        </p:spPr>
      </p:pic>
    </p:spTree>
    <p:extLst>
      <p:ext uri="{BB962C8B-B14F-4D97-AF65-F5344CB8AC3E}">
        <p14:creationId xmlns:p14="http://schemas.microsoft.com/office/powerpoint/2010/main" val="1896815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C985F535-CF57-6F2A-0648-60CEBF85899C}"/>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B83B0836-3062-3BAA-591E-82BE3B48A023}"/>
              </a:ext>
            </a:extLst>
          </p:cNvPr>
          <p:cNvSpPr txBox="1">
            <a:spLocks noGrp="1"/>
          </p:cNvSpPr>
          <p:nvPr>
            <p:ph type="title" idx="4294967295"/>
          </p:nvPr>
        </p:nvSpPr>
        <p:spPr>
          <a:xfrm>
            <a:off x="166080" y="244734"/>
            <a:ext cx="1122397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Contextual Inquiry: A few guidelines</a:t>
            </a:r>
            <a:endParaRPr sz="3200" dirty="0"/>
          </a:p>
        </p:txBody>
      </p:sp>
      <p:sp>
        <p:nvSpPr>
          <p:cNvPr id="568" name="Google Shape;568;p83">
            <a:extLst>
              <a:ext uri="{FF2B5EF4-FFF2-40B4-BE49-F238E27FC236}">
                <a16:creationId xmlns:a16="http://schemas.microsoft.com/office/drawing/2014/main" id="{E9F871DA-2A66-5FA0-2D04-ADF0B4586D88}"/>
              </a:ext>
            </a:extLst>
          </p:cNvPr>
          <p:cNvSpPr txBox="1">
            <a:spLocks noGrp="1"/>
          </p:cNvSpPr>
          <p:nvPr>
            <p:ph type="body" idx="4294967295"/>
          </p:nvPr>
        </p:nvSpPr>
        <p:spPr>
          <a:xfrm>
            <a:off x="642878" y="1422919"/>
            <a:ext cx="9992571" cy="4391025"/>
          </a:xfrm>
          <a:prstGeom prst="rect">
            <a:avLst/>
          </a:prstGeom>
          <a:noFill/>
          <a:ln>
            <a:noFill/>
          </a:ln>
        </p:spPr>
        <p:txBody>
          <a:bodyPr spcFirstLastPara="1" wrap="square" lIns="121900" tIns="121900" rIns="121900" bIns="121900" anchor="t" anchorCtr="0">
            <a:noAutofit/>
          </a:bodyPr>
          <a:lstStyle/>
          <a:p>
            <a:pPr lvl="0">
              <a:lnSpc>
                <a:spcPct val="115000"/>
              </a:lnSpc>
              <a:spcBef>
                <a:spcPts val="0"/>
              </a:spcBef>
              <a:buClr>
                <a:schemeClr val="dk1"/>
              </a:buClr>
              <a:buSzPts val="1800"/>
            </a:pPr>
            <a:r>
              <a:rPr lang="en-US" sz="2000" dirty="0"/>
              <a:t>Gaining access and building rapport</a:t>
            </a:r>
          </a:p>
          <a:p>
            <a:pPr lvl="0">
              <a:lnSpc>
                <a:spcPct val="115000"/>
              </a:lnSpc>
              <a:spcBef>
                <a:spcPts val="0"/>
              </a:spcBef>
              <a:buClr>
                <a:schemeClr val="dk1"/>
              </a:buClr>
              <a:buSzPts val="1800"/>
            </a:pPr>
            <a:endParaRPr lang="en-US" sz="200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Before you can do anything in an ethnographic project, you must gain access to your site and informants </a:t>
            </a:r>
          </a:p>
          <a:p>
            <a:pPr marL="342900" lvl="0" indent="-342900">
              <a:lnSpc>
                <a:spcPct val="115000"/>
              </a:lnSpc>
              <a:spcBef>
                <a:spcPts val="0"/>
              </a:spcBef>
              <a:buClr>
                <a:schemeClr val="dk1"/>
              </a:buClr>
              <a:buSzPts val="1800"/>
              <a:buFont typeface="Arial" panose="020B0604020202020204" pitchFamily="34" charset="0"/>
              <a:buChar char="•"/>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Must additionally gain confidence and trust </a:t>
            </a:r>
          </a:p>
          <a:p>
            <a:pPr marL="342900" lvl="0" indent="-342900">
              <a:lnSpc>
                <a:spcPct val="115000"/>
              </a:lnSpc>
              <a:spcBef>
                <a:spcPts val="0"/>
              </a:spcBef>
              <a:buClr>
                <a:schemeClr val="dk1"/>
              </a:buClr>
              <a:buSzPts val="1800"/>
              <a:buFont typeface="Arial" panose="020B0604020202020204" pitchFamily="34" charset="0"/>
              <a:buChar char="•"/>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Recognize some potential reactions you could have </a:t>
            </a:r>
          </a:p>
          <a:p>
            <a:pPr lvl="1">
              <a:lnSpc>
                <a:spcPct val="115000"/>
              </a:lnSpc>
              <a:spcBef>
                <a:spcPts val="0"/>
              </a:spcBef>
              <a:buClr>
                <a:schemeClr val="dk1"/>
              </a:buClr>
              <a:buSzPts val="1800"/>
            </a:pPr>
            <a:r>
              <a:rPr lang="en-US" sz="1800" dirty="0"/>
              <a:t>	- </a:t>
            </a:r>
            <a:r>
              <a:rPr lang="en-US" sz="1800" b="0" dirty="0"/>
              <a:t>Excitement about the project and site </a:t>
            </a:r>
            <a:endParaRPr lang="en-US" sz="1800" dirty="0"/>
          </a:p>
          <a:p>
            <a:pPr lvl="1">
              <a:lnSpc>
                <a:spcPct val="115000"/>
              </a:lnSpc>
              <a:spcBef>
                <a:spcPts val="0"/>
              </a:spcBef>
              <a:buClr>
                <a:schemeClr val="dk1"/>
              </a:buClr>
              <a:buSzPts val="1800"/>
            </a:pPr>
            <a:r>
              <a:rPr lang="en-US" sz="1800" b="0" dirty="0"/>
              <a:t>	- Culture shock </a:t>
            </a:r>
          </a:p>
          <a:p>
            <a:pPr lvl="1">
              <a:lnSpc>
                <a:spcPct val="115000"/>
              </a:lnSpc>
              <a:spcBef>
                <a:spcPts val="0"/>
              </a:spcBef>
              <a:buClr>
                <a:schemeClr val="dk1"/>
              </a:buClr>
              <a:buSzPts val="1800"/>
            </a:pPr>
            <a:r>
              <a:rPr lang="en-US" sz="1800" dirty="0"/>
              <a:t>	-</a:t>
            </a:r>
            <a:r>
              <a:rPr lang="en-US" sz="1800" b="0" dirty="0"/>
              <a:t> Cycle of entering and leaving can have an emotional impact</a:t>
            </a:r>
            <a:endParaRPr sz="1800" b="0" dirty="0"/>
          </a:p>
        </p:txBody>
      </p:sp>
      <p:sp>
        <p:nvSpPr>
          <p:cNvPr id="570" name="Google Shape;570;p83">
            <a:extLst>
              <a:ext uri="{FF2B5EF4-FFF2-40B4-BE49-F238E27FC236}">
                <a16:creationId xmlns:a16="http://schemas.microsoft.com/office/drawing/2014/main" id="{64D166A2-8AA7-4DA6-899F-0C63C69594BC}"/>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26142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0D55911D-D177-C7A6-3460-8CD259D1971B}"/>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875E395F-F70A-D40C-618C-56DA2E98E4A0}"/>
              </a:ext>
            </a:extLst>
          </p:cNvPr>
          <p:cNvSpPr txBox="1">
            <a:spLocks noGrp="1"/>
          </p:cNvSpPr>
          <p:nvPr>
            <p:ph type="title" idx="4294967295"/>
          </p:nvPr>
        </p:nvSpPr>
        <p:spPr>
          <a:xfrm>
            <a:off x="166080" y="244734"/>
            <a:ext cx="1122397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Contextual Inquiry: A few guidelines</a:t>
            </a:r>
            <a:endParaRPr sz="3200" dirty="0"/>
          </a:p>
        </p:txBody>
      </p:sp>
      <p:sp>
        <p:nvSpPr>
          <p:cNvPr id="568" name="Google Shape;568;p83">
            <a:extLst>
              <a:ext uri="{FF2B5EF4-FFF2-40B4-BE49-F238E27FC236}">
                <a16:creationId xmlns:a16="http://schemas.microsoft.com/office/drawing/2014/main" id="{60D5BB60-1AE3-3A7B-DF40-BA6B1CB2BF3D}"/>
              </a:ext>
            </a:extLst>
          </p:cNvPr>
          <p:cNvSpPr txBox="1">
            <a:spLocks noGrp="1"/>
          </p:cNvSpPr>
          <p:nvPr>
            <p:ph type="body" idx="4294967295"/>
          </p:nvPr>
        </p:nvSpPr>
        <p:spPr>
          <a:xfrm>
            <a:off x="642878" y="1422919"/>
            <a:ext cx="9992571" cy="4391025"/>
          </a:xfrm>
          <a:prstGeom prst="rect">
            <a:avLst/>
          </a:prstGeom>
          <a:noFill/>
          <a:ln>
            <a:noFill/>
          </a:ln>
        </p:spPr>
        <p:txBody>
          <a:bodyPr spcFirstLastPara="1" wrap="square" lIns="121900" tIns="121900" rIns="121900" bIns="121900" anchor="t" anchorCtr="0">
            <a:noAutofit/>
          </a:bodyPr>
          <a:lstStyle/>
          <a:p>
            <a:pPr lvl="0">
              <a:lnSpc>
                <a:spcPct val="115000"/>
              </a:lnSpc>
              <a:spcBef>
                <a:spcPts val="0"/>
              </a:spcBef>
              <a:buClr>
                <a:schemeClr val="dk1"/>
              </a:buClr>
              <a:buSzPts val="1800"/>
            </a:pPr>
            <a:r>
              <a:rPr lang="en-US" sz="2000" dirty="0"/>
              <a:t>Recording your observation</a:t>
            </a:r>
          </a:p>
          <a:p>
            <a:pPr lvl="0">
              <a:lnSpc>
                <a:spcPct val="115000"/>
              </a:lnSpc>
              <a:spcBef>
                <a:spcPts val="0"/>
              </a:spcBef>
              <a:buClr>
                <a:schemeClr val="dk1"/>
              </a:buClr>
              <a:buSzPts val="1800"/>
            </a:pPr>
            <a:endParaRPr lang="en-US" sz="200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Video recording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Note taking and memos</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Interviewing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Be mindful of your access permissions and participant’s comfort levels</a:t>
            </a:r>
            <a:endParaRPr sz="1800" b="0" dirty="0"/>
          </a:p>
        </p:txBody>
      </p:sp>
      <p:sp>
        <p:nvSpPr>
          <p:cNvPr id="570" name="Google Shape;570;p83">
            <a:extLst>
              <a:ext uri="{FF2B5EF4-FFF2-40B4-BE49-F238E27FC236}">
                <a16:creationId xmlns:a16="http://schemas.microsoft.com/office/drawing/2014/main" id="{E4297149-ED12-E209-C971-14F12F71F676}"/>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60868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D1807D38-4EEB-DE2B-B2E5-245062904BDE}"/>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1992B7CE-9975-CC69-414F-36C20EE7F0C0}"/>
              </a:ext>
            </a:extLst>
          </p:cNvPr>
          <p:cNvSpPr txBox="1">
            <a:spLocks noGrp="1"/>
          </p:cNvSpPr>
          <p:nvPr>
            <p:ph type="title" idx="4294967295"/>
          </p:nvPr>
        </p:nvSpPr>
        <p:spPr>
          <a:xfrm>
            <a:off x="166080" y="244734"/>
            <a:ext cx="1122397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Contextual Inquiry: A few guidelines</a:t>
            </a:r>
            <a:endParaRPr sz="3200" dirty="0"/>
          </a:p>
        </p:txBody>
      </p:sp>
      <p:sp>
        <p:nvSpPr>
          <p:cNvPr id="568" name="Google Shape;568;p83">
            <a:extLst>
              <a:ext uri="{FF2B5EF4-FFF2-40B4-BE49-F238E27FC236}">
                <a16:creationId xmlns:a16="http://schemas.microsoft.com/office/drawing/2014/main" id="{EDAB9D86-F762-BB68-CE1A-3D9AF2C0D65C}"/>
              </a:ext>
            </a:extLst>
          </p:cNvPr>
          <p:cNvSpPr txBox="1">
            <a:spLocks noGrp="1"/>
          </p:cNvSpPr>
          <p:nvPr>
            <p:ph type="body" idx="4294967295"/>
          </p:nvPr>
        </p:nvSpPr>
        <p:spPr>
          <a:xfrm>
            <a:off x="642878" y="1422919"/>
            <a:ext cx="9992571" cy="4391025"/>
          </a:xfrm>
          <a:prstGeom prst="rect">
            <a:avLst/>
          </a:prstGeom>
          <a:noFill/>
          <a:ln>
            <a:noFill/>
          </a:ln>
        </p:spPr>
        <p:txBody>
          <a:bodyPr spcFirstLastPara="1" wrap="square" lIns="121900" tIns="121900" rIns="121900" bIns="121900" anchor="t" anchorCtr="0">
            <a:noAutofit/>
          </a:bodyPr>
          <a:lstStyle/>
          <a:p>
            <a:pPr lvl="0">
              <a:lnSpc>
                <a:spcPct val="115000"/>
              </a:lnSpc>
              <a:spcBef>
                <a:spcPts val="0"/>
              </a:spcBef>
              <a:buClr>
                <a:schemeClr val="dk1"/>
              </a:buClr>
              <a:buSzPts val="1800"/>
            </a:pPr>
            <a:r>
              <a:rPr lang="en-US" sz="2000" dirty="0"/>
              <a:t>What to record</a:t>
            </a:r>
          </a:p>
          <a:p>
            <a:pPr lvl="0">
              <a:lnSpc>
                <a:spcPct val="115000"/>
              </a:lnSpc>
              <a:spcBef>
                <a:spcPts val="0"/>
              </a:spcBef>
              <a:buClr>
                <a:schemeClr val="dk1"/>
              </a:buClr>
              <a:buSzPts val="1800"/>
            </a:pPr>
            <a:endParaRPr lang="en-US" sz="200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Begin with your research questions </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Do not overly constrain yourself </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Take notes on </a:t>
            </a:r>
          </a:p>
          <a:p>
            <a:pPr lvl="0">
              <a:lnSpc>
                <a:spcPct val="115000"/>
              </a:lnSpc>
              <a:spcBef>
                <a:spcPts val="0"/>
              </a:spcBef>
              <a:buClr>
                <a:schemeClr val="dk1"/>
              </a:buClr>
              <a:buSzPts val="1800"/>
            </a:pPr>
            <a:r>
              <a:rPr lang="en-US" sz="2000" b="0" dirty="0"/>
              <a:t>	-What is directly relevant </a:t>
            </a:r>
          </a:p>
          <a:p>
            <a:pPr lvl="0">
              <a:lnSpc>
                <a:spcPct val="115000"/>
              </a:lnSpc>
              <a:spcBef>
                <a:spcPts val="0"/>
              </a:spcBef>
              <a:buClr>
                <a:schemeClr val="dk1"/>
              </a:buClr>
              <a:buSzPts val="1800"/>
            </a:pPr>
            <a:r>
              <a:rPr lang="en-US" sz="2000" b="0" dirty="0"/>
              <a:t>	- What strikes you as interesting </a:t>
            </a:r>
          </a:p>
          <a:p>
            <a:pPr lvl="0">
              <a:lnSpc>
                <a:spcPct val="115000"/>
              </a:lnSpc>
              <a:spcBef>
                <a:spcPts val="0"/>
              </a:spcBef>
              <a:buClr>
                <a:schemeClr val="dk1"/>
              </a:buClr>
              <a:buSzPts val="1800"/>
            </a:pPr>
            <a:r>
              <a:rPr lang="en-US" sz="2000" b="0" dirty="0"/>
              <a:t>	- Everything else</a:t>
            </a:r>
            <a:endParaRPr sz="1800" b="0" dirty="0"/>
          </a:p>
        </p:txBody>
      </p:sp>
      <p:sp>
        <p:nvSpPr>
          <p:cNvPr id="570" name="Google Shape;570;p83">
            <a:extLst>
              <a:ext uri="{FF2B5EF4-FFF2-40B4-BE49-F238E27FC236}">
                <a16:creationId xmlns:a16="http://schemas.microsoft.com/office/drawing/2014/main" id="{3A273235-FED6-6D31-9451-8F3A5B4FF150}"/>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64048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69EA5280-D7BB-905A-364D-426D2DE5F0AD}"/>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C8CB5894-07EF-33CA-4848-491A4E184B5E}"/>
              </a:ext>
            </a:extLst>
          </p:cNvPr>
          <p:cNvSpPr txBox="1">
            <a:spLocks noGrp="1"/>
          </p:cNvSpPr>
          <p:nvPr>
            <p:ph type="title" idx="4294967295"/>
          </p:nvPr>
        </p:nvSpPr>
        <p:spPr>
          <a:xfrm>
            <a:off x="166080" y="244734"/>
            <a:ext cx="1122397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Contextual Inquiry: A few guidelines</a:t>
            </a:r>
            <a:endParaRPr sz="3200" dirty="0"/>
          </a:p>
        </p:txBody>
      </p:sp>
      <p:sp>
        <p:nvSpPr>
          <p:cNvPr id="568" name="Google Shape;568;p83">
            <a:extLst>
              <a:ext uri="{FF2B5EF4-FFF2-40B4-BE49-F238E27FC236}">
                <a16:creationId xmlns:a16="http://schemas.microsoft.com/office/drawing/2014/main" id="{449C49DF-FE7D-CEF3-FA46-E5D2202B79E3}"/>
              </a:ext>
            </a:extLst>
          </p:cNvPr>
          <p:cNvSpPr txBox="1">
            <a:spLocks noGrp="1"/>
          </p:cNvSpPr>
          <p:nvPr>
            <p:ph type="body" idx="4294967295"/>
          </p:nvPr>
        </p:nvSpPr>
        <p:spPr>
          <a:xfrm>
            <a:off x="642878" y="1422919"/>
            <a:ext cx="9992571" cy="4391025"/>
          </a:xfrm>
          <a:prstGeom prst="rect">
            <a:avLst/>
          </a:prstGeom>
          <a:noFill/>
          <a:ln>
            <a:noFill/>
          </a:ln>
        </p:spPr>
        <p:txBody>
          <a:bodyPr spcFirstLastPara="1" wrap="square" lIns="121900" tIns="121900" rIns="121900" bIns="121900" anchor="t" anchorCtr="0">
            <a:noAutofit/>
          </a:bodyPr>
          <a:lstStyle/>
          <a:p>
            <a:pPr lvl="0">
              <a:lnSpc>
                <a:spcPct val="115000"/>
              </a:lnSpc>
              <a:spcBef>
                <a:spcPts val="0"/>
              </a:spcBef>
              <a:buClr>
                <a:schemeClr val="dk1"/>
              </a:buClr>
              <a:buSzPts val="1800"/>
            </a:pPr>
            <a:r>
              <a:rPr lang="en-US" sz="2000" dirty="0"/>
              <a:t>The process of recording</a:t>
            </a:r>
          </a:p>
          <a:p>
            <a:pPr lvl="0">
              <a:lnSpc>
                <a:spcPct val="115000"/>
              </a:lnSpc>
              <a:spcBef>
                <a:spcPts val="0"/>
              </a:spcBef>
              <a:buClr>
                <a:schemeClr val="dk1"/>
              </a:buClr>
              <a:buSzPts val="1800"/>
            </a:pPr>
            <a:endParaRPr lang="en-US" sz="200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Your data are only as good as you are </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Sometimes it is possible to record in the moment </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Other times it must be done after the event </a:t>
            </a:r>
          </a:p>
          <a:p>
            <a:pPr lvl="0">
              <a:lnSpc>
                <a:spcPct val="115000"/>
              </a:lnSpc>
              <a:spcBef>
                <a:spcPts val="0"/>
              </a:spcBef>
              <a:buClr>
                <a:schemeClr val="dk1"/>
              </a:buClr>
              <a:buSzPts val="1800"/>
            </a:pPr>
            <a:r>
              <a:rPr lang="en-US" sz="2000" b="0" dirty="0"/>
              <a:t>	- Write down the important things first </a:t>
            </a:r>
          </a:p>
          <a:p>
            <a:pPr lvl="0">
              <a:lnSpc>
                <a:spcPct val="115000"/>
              </a:lnSpc>
              <a:spcBef>
                <a:spcPts val="0"/>
              </a:spcBef>
              <a:buClr>
                <a:schemeClr val="dk1"/>
              </a:buClr>
              <a:buSzPts val="1800"/>
            </a:pPr>
            <a:r>
              <a:rPr lang="en-US" sz="2000" b="0" dirty="0"/>
              <a:t>	- Then replay the day and slot them into order </a:t>
            </a:r>
            <a:endParaRPr sz="1800" b="0" dirty="0"/>
          </a:p>
        </p:txBody>
      </p:sp>
      <p:sp>
        <p:nvSpPr>
          <p:cNvPr id="570" name="Google Shape;570;p83">
            <a:extLst>
              <a:ext uri="{FF2B5EF4-FFF2-40B4-BE49-F238E27FC236}">
                <a16:creationId xmlns:a16="http://schemas.microsoft.com/office/drawing/2014/main" id="{7BB6666E-7683-1AAE-213E-2F4B9F9450FD}"/>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05212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5FF4F511-A18E-7BBF-0E34-DCC220446964}"/>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F4289D4A-6EE1-4C2D-523B-B16F430CA2E4}"/>
              </a:ext>
            </a:extLst>
          </p:cNvPr>
          <p:cNvSpPr txBox="1">
            <a:spLocks noGrp="1"/>
          </p:cNvSpPr>
          <p:nvPr>
            <p:ph type="title" idx="4294967295"/>
          </p:nvPr>
        </p:nvSpPr>
        <p:spPr>
          <a:xfrm>
            <a:off x="166080" y="244734"/>
            <a:ext cx="1122397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Contextual Inquiry </a:t>
            </a:r>
            <a:endParaRPr sz="3200" dirty="0"/>
          </a:p>
        </p:txBody>
      </p:sp>
      <p:sp>
        <p:nvSpPr>
          <p:cNvPr id="568" name="Google Shape;568;p83">
            <a:extLst>
              <a:ext uri="{FF2B5EF4-FFF2-40B4-BE49-F238E27FC236}">
                <a16:creationId xmlns:a16="http://schemas.microsoft.com/office/drawing/2014/main" id="{7C79C1F0-7C9B-B2EC-8EF3-41FEB23BE42C}"/>
              </a:ext>
            </a:extLst>
          </p:cNvPr>
          <p:cNvSpPr txBox="1">
            <a:spLocks noGrp="1"/>
          </p:cNvSpPr>
          <p:nvPr>
            <p:ph type="body" idx="4294967295"/>
          </p:nvPr>
        </p:nvSpPr>
        <p:spPr>
          <a:xfrm>
            <a:off x="642878" y="1422919"/>
            <a:ext cx="9992571" cy="4391025"/>
          </a:xfrm>
          <a:prstGeom prst="rect">
            <a:avLst/>
          </a:prstGeom>
          <a:noFill/>
          <a:ln>
            <a:noFill/>
          </a:ln>
        </p:spPr>
        <p:txBody>
          <a:bodyPr spcFirstLastPara="1" wrap="square" lIns="121900" tIns="121900" rIns="121900" bIns="121900" anchor="t" anchorCtr="0">
            <a:noAutofit/>
          </a:bodyPr>
          <a:lstStyle/>
          <a:p>
            <a:pPr lvl="0">
              <a:lnSpc>
                <a:spcPct val="115000"/>
              </a:lnSpc>
              <a:spcBef>
                <a:spcPts val="0"/>
              </a:spcBef>
              <a:buClr>
                <a:schemeClr val="dk1"/>
              </a:buClr>
              <a:buSzPts val="1800"/>
            </a:pPr>
            <a:r>
              <a:rPr lang="en-US" sz="2000" dirty="0"/>
              <a:t>Strengths</a:t>
            </a:r>
          </a:p>
          <a:p>
            <a:pPr lvl="0">
              <a:lnSpc>
                <a:spcPct val="115000"/>
              </a:lnSpc>
              <a:spcBef>
                <a:spcPts val="0"/>
              </a:spcBef>
              <a:buClr>
                <a:schemeClr val="dk1"/>
              </a:buClr>
              <a:buSzPts val="1800"/>
            </a:pPr>
            <a:endParaRPr lang="en-US" sz="200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Extremely rich data </a:t>
            </a:r>
          </a:p>
          <a:p>
            <a:pPr lvl="0">
              <a:lnSpc>
                <a:spcPct val="115000"/>
              </a:lnSpc>
              <a:spcBef>
                <a:spcPts val="0"/>
              </a:spcBef>
              <a:buClr>
                <a:schemeClr val="dk1"/>
              </a:buClr>
              <a:buSzPts val="1800"/>
            </a:pPr>
            <a:r>
              <a:rPr lang="en-US" sz="2000" b="0" dirty="0"/>
              <a:t>	-You get to watch what people do and talk to them!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“Real world” and unfiltered, or as close as you can get </a:t>
            </a:r>
          </a:p>
          <a:p>
            <a:pPr marL="342900" lvl="0" indent="-342900">
              <a:lnSpc>
                <a:spcPct val="115000"/>
              </a:lnSpc>
              <a:spcBef>
                <a:spcPts val="0"/>
              </a:spcBef>
              <a:buClr>
                <a:schemeClr val="dk1"/>
              </a:buClr>
              <a:buSzPts val="1800"/>
              <a:buFont typeface="Arial" panose="020B0604020202020204" pitchFamily="34" charset="0"/>
              <a:buChar char="•"/>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The methods are led by participant’s needs and interests, not your preconceived notions</a:t>
            </a:r>
            <a:endParaRPr sz="1800" b="0" dirty="0"/>
          </a:p>
        </p:txBody>
      </p:sp>
      <p:sp>
        <p:nvSpPr>
          <p:cNvPr id="570" name="Google Shape;570;p83">
            <a:extLst>
              <a:ext uri="{FF2B5EF4-FFF2-40B4-BE49-F238E27FC236}">
                <a16:creationId xmlns:a16="http://schemas.microsoft.com/office/drawing/2014/main" id="{E1D5A0AF-6FD3-0ED0-A834-BDF2AFB018B0}"/>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7694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C785189F-D02D-101E-7834-BF632795371F}"/>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C5B3427E-8573-AAE1-FE9C-DA0CFA5DBB5D}"/>
              </a:ext>
            </a:extLst>
          </p:cNvPr>
          <p:cNvSpPr txBox="1">
            <a:spLocks noGrp="1"/>
          </p:cNvSpPr>
          <p:nvPr>
            <p:ph type="title" idx="4294967295"/>
          </p:nvPr>
        </p:nvSpPr>
        <p:spPr>
          <a:xfrm>
            <a:off x="166080" y="244734"/>
            <a:ext cx="1122397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Contextual Inquiry</a:t>
            </a:r>
            <a:endParaRPr sz="3200" dirty="0"/>
          </a:p>
        </p:txBody>
      </p:sp>
      <p:sp>
        <p:nvSpPr>
          <p:cNvPr id="568" name="Google Shape;568;p83">
            <a:extLst>
              <a:ext uri="{FF2B5EF4-FFF2-40B4-BE49-F238E27FC236}">
                <a16:creationId xmlns:a16="http://schemas.microsoft.com/office/drawing/2014/main" id="{D604C4E8-7B3D-ECB1-A96C-2549B72F77CA}"/>
              </a:ext>
            </a:extLst>
          </p:cNvPr>
          <p:cNvSpPr txBox="1">
            <a:spLocks noGrp="1"/>
          </p:cNvSpPr>
          <p:nvPr>
            <p:ph type="body" idx="4294967295"/>
          </p:nvPr>
        </p:nvSpPr>
        <p:spPr>
          <a:xfrm>
            <a:off x="642878" y="1422919"/>
            <a:ext cx="11223970" cy="4391025"/>
          </a:xfrm>
          <a:prstGeom prst="rect">
            <a:avLst/>
          </a:prstGeom>
          <a:noFill/>
          <a:ln>
            <a:noFill/>
          </a:ln>
        </p:spPr>
        <p:txBody>
          <a:bodyPr spcFirstLastPara="1" wrap="square" lIns="121900" tIns="121900" rIns="121900" bIns="121900" anchor="t" anchorCtr="0">
            <a:noAutofit/>
          </a:bodyPr>
          <a:lstStyle/>
          <a:p>
            <a:pPr lvl="0">
              <a:lnSpc>
                <a:spcPct val="115000"/>
              </a:lnSpc>
              <a:spcBef>
                <a:spcPts val="0"/>
              </a:spcBef>
              <a:buClr>
                <a:schemeClr val="dk1"/>
              </a:buClr>
              <a:buSzPts val="1800"/>
            </a:pPr>
            <a:r>
              <a:rPr lang="en-US" sz="2000" dirty="0"/>
              <a:t>Weakness</a:t>
            </a:r>
          </a:p>
          <a:p>
            <a:pPr lvl="0">
              <a:lnSpc>
                <a:spcPct val="115000"/>
              </a:lnSpc>
              <a:spcBef>
                <a:spcPts val="0"/>
              </a:spcBef>
              <a:buClr>
                <a:schemeClr val="dk1"/>
              </a:buClr>
              <a:buSzPts val="1800"/>
            </a:pPr>
            <a:endParaRPr lang="en-US" sz="200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Participants do not necessarily know what is important to you </a:t>
            </a:r>
          </a:p>
          <a:p>
            <a:pPr lvl="0">
              <a:lnSpc>
                <a:spcPct val="115000"/>
              </a:lnSpc>
              <a:spcBef>
                <a:spcPts val="0"/>
              </a:spcBef>
              <a:buClr>
                <a:schemeClr val="dk1"/>
              </a:buClr>
              <a:buSzPts val="1800"/>
            </a:pPr>
            <a:r>
              <a:rPr lang="en-US" sz="2000" b="0" dirty="0"/>
              <a:t>	- Probing questions or observation can help, but they’re not sufficient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People’s memories are warped and flawed </a:t>
            </a:r>
          </a:p>
          <a:p>
            <a:pPr lvl="0">
              <a:lnSpc>
                <a:spcPct val="115000"/>
              </a:lnSpc>
              <a:spcBef>
                <a:spcPts val="0"/>
              </a:spcBef>
              <a:buClr>
                <a:schemeClr val="dk1"/>
              </a:buClr>
              <a:buSzPts val="1800"/>
            </a:pPr>
            <a:r>
              <a:rPr lang="en-US" sz="2000" b="0" dirty="0"/>
              <a:t>	- They may say one thing in interviews and do another in practice</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The methods are resource-intensive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You can hear from tens of people at best, making generalization challenging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Participants can find it awkward to be watched or open up</a:t>
            </a:r>
            <a:endParaRPr sz="1800" b="0" dirty="0"/>
          </a:p>
        </p:txBody>
      </p:sp>
      <p:sp>
        <p:nvSpPr>
          <p:cNvPr id="570" name="Google Shape;570;p83">
            <a:extLst>
              <a:ext uri="{FF2B5EF4-FFF2-40B4-BE49-F238E27FC236}">
                <a16:creationId xmlns:a16="http://schemas.microsoft.com/office/drawing/2014/main" id="{34C78495-E724-282B-32A1-479DA71D1FCB}"/>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399005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05A3906E-4BDF-E44A-B9F3-5F46A9B77F35}"/>
            </a:ext>
          </a:extLst>
        </p:cNvPr>
        <p:cNvGrpSpPr/>
        <p:nvPr/>
      </p:nvGrpSpPr>
      <p:grpSpPr>
        <a:xfrm>
          <a:off x="0" y="0"/>
          <a:ext cx="0" cy="0"/>
          <a:chOff x="0" y="0"/>
          <a:chExt cx="0" cy="0"/>
        </a:xfrm>
      </p:grpSpPr>
      <p:sp>
        <p:nvSpPr>
          <p:cNvPr id="570" name="Google Shape;570;p83">
            <a:extLst>
              <a:ext uri="{FF2B5EF4-FFF2-40B4-BE49-F238E27FC236}">
                <a16:creationId xmlns:a16="http://schemas.microsoft.com/office/drawing/2014/main" id="{6C491F6F-4D5E-6AAC-8FA7-5687DDF473A4}"/>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pic>
        <p:nvPicPr>
          <p:cNvPr id="2050" name="Picture 2" descr="Contextual inquiry in summary">
            <a:extLst>
              <a:ext uri="{FF2B5EF4-FFF2-40B4-BE49-F238E27FC236}">
                <a16:creationId xmlns:a16="http://schemas.microsoft.com/office/drawing/2014/main" id="{7B5F3EF1-2BC5-35C3-50BD-DE04B4172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492" y="103443"/>
            <a:ext cx="9407016" cy="6651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407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84"/>
          <p:cNvSpPr txBox="1">
            <a:spLocks noGrp="1"/>
          </p:cNvSpPr>
          <p:nvPr>
            <p:ph type="title"/>
          </p:nvPr>
        </p:nvSpPr>
        <p:spPr>
          <a:xfrm>
            <a:off x="359031" y="469738"/>
            <a:ext cx="3611029" cy="1862345"/>
          </a:xfrm>
          <a:prstGeom prst="rect">
            <a:avLst/>
          </a:prstGeom>
        </p:spPr>
        <p:txBody>
          <a:bodyPr spcFirstLastPara="1" vert="horz" lIns="109728" tIns="109728" rIns="109728" bIns="91440" rtlCol="0" anchor="ctr" anchorCtr="0">
            <a:normAutofit/>
          </a:bodyPr>
          <a:lstStyle/>
          <a:p>
            <a:pPr lvl="0">
              <a:lnSpc>
                <a:spcPct val="140000"/>
              </a:lnSpc>
              <a:spcBef>
                <a:spcPct val="0"/>
              </a:spcBef>
              <a:buClr>
                <a:schemeClr val="dk1"/>
              </a:buClr>
              <a:buSzPts val="2400"/>
            </a:pPr>
            <a:r>
              <a:rPr lang="en-US" sz="2800" dirty="0"/>
              <a:t>Surveys and questionnaires</a:t>
            </a:r>
            <a:endParaRPr lang="en-US" sz="2500" dirty="0"/>
          </a:p>
        </p:txBody>
      </p:sp>
      <p:sp>
        <p:nvSpPr>
          <p:cNvPr id="5" name="TextBox 4">
            <a:extLst>
              <a:ext uri="{FF2B5EF4-FFF2-40B4-BE49-F238E27FC236}">
                <a16:creationId xmlns:a16="http://schemas.microsoft.com/office/drawing/2014/main" id="{500042CE-0149-FF5D-E9C5-6A5AC14615C2}"/>
              </a:ext>
            </a:extLst>
          </p:cNvPr>
          <p:cNvSpPr txBox="1"/>
          <p:nvPr/>
        </p:nvSpPr>
        <p:spPr>
          <a:xfrm>
            <a:off x="5004136" y="834228"/>
            <a:ext cx="6762919" cy="4154984"/>
          </a:xfrm>
          <a:prstGeom prst="rect">
            <a:avLst/>
          </a:prstGeom>
          <a:noFill/>
        </p:spPr>
        <p:txBody>
          <a:bodyPr wrap="square">
            <a:spAutoFit/>
          </a:bodyPr>
          <a:lstStyle/>
          <a:p>
            <a:pPr marL="342900" indent="-342900">
              <a:buFont typeface="Arial" panose="020B0604020202020204" pitchFamily="34" charset="0"/>
              <a:buChar char="•"/>
            </a:pPr>
            <a:r>
              <a:rPr lang="en-US" sz="2200" dirty="0"/>
              <a:t>Structured set of questions a person responds to</a:t>
            </a:r>
          </a:p>
          <a:p>
            <a:endParaRPr lang="en-US" sz="2200" dirty="0"/>
          </a:p>
          <a:p>
            <a:pPr marL="342900" indent="-342900">
              <a:buFont typeface="Arial" panose="020B0604020202020204" pitchFamily="34" charset="0"/>
              <a:buChar char="•"/>
            </a:pPr>
            <a:r>
              <a:rPr lang="en-US" sz="2200" dirty="0"/>
              <a:t>Much more structured than most qualitative techniques</a:t>
            </a:r>
          </a:p>
          <a:p>
            <a:endParaRPr lang="en-US" sz="2200" dirty="0"/>
          </a:p>
          <a:p>
            <a:pPr marL="342900" indent="-342900">
              <a:buFont typeface="Arial" panose="020B0604020202020204" pitchFamily="34" charset="0"/>
              <a:buChar char="•"/>
            </a:pPr>
            <a:r>
              <a:rPr lang="en-US" sz="2200" dirty="0"/>
              <a:t>But… does not have to be strictly quantitative</a:t>
            </a:r>
          </a:p>
          <a:p>
            <a:endParaRPr lang="en-US" sz="2200" dirty="0"/>
          </a:p>
          <a:p>
            <a:pPr marL="342900" indent="-342900">
              <a:buFont typeface="Arial" panose="020B0604020202020204" pitchFamily="34" charset="0"/>
              <a:buChar char="•"/>
            </a:pPr>
            <a:r>
              <a:rPr lang="en-US" sz="2200" dirty="0"/>
              <a:t>It is very easy to design a bad questionnaire</a:t>
            </a:r>
          </a:p>
          <a:p>
            <a:r>
              <a:rPr lang="en-US" sz="2200" dirty="0"/>
              <a:t> </a:t>
            </a:r>
          </a:p>
          <a:p>
            <a:pPr marL="342900" indent="-342900">
              <a:buFont typeface="Arial" panose="020B0604020202020204" pitchFamily="34" charset="0"/>
              <a:buChar char="•"/>
            </a:pPr>
            <a:r>
              <a:rPr lang="en-US" sz="2200" dirty="0"/>
              <a:t>How many terrible surveys have you taken?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4">
          <a:extLst>
            <a:ext uri="{FF2B5EF4-FFF2-40B4-BE49-F238E27FC236}">
              <a16:creationId xmlns:a16="http://schemas.microsoft.com/office/drawing/2014/main" id="{BD31243B-8624-9D32-B421-4C9C9125C21A}"/>
            </a:ext>
          </a:extLst>
        </p:cNvPr>
        <p:cNvGrpSpPr/>
        <p:nvPr/>
      </p:nvGrpSpPr>
      <p:grpSpPr>
        <a:xfrm>
          <a:off x="0" y="0"/>
          <a:ext cx="0" cy="0"/>
          <a:chOff x="0" y="0"/>
          <a:chExt cx="0" cy="0"/>
        </a:xfrm>
      </p:grpSpPr>
      <p:sp>
        <p:nvSpPr>
          <p:cNvPr id="575" name="Google Shape;575;p84">
            <a:extLst>
              <a:ext uri="{FF2B5EF4-FFF2-40B4-BE49-F238E27FC236}">
                <a16:creationId xmlns:a16="http://schemas.microsoft.com/office/drawing/2014/main" id="{65C32F88-0D6A-ADA5-46FD-A5CFDED966E0}"/>
              </a:ext>
            </a:extLst>
          </p:cNvPr>
          <p:cNvSpPr txBox="1">
            <a:spLocks noGrp="1"/>
          </p:cNvSpPr>
          <p:nvPr>
            <p:ph type="title" idx="4294967295"/>
          </p:nvPr>
        </p:nvSpPr>
        <p:spPr>
          <a:xfrm>
            <a:off x="266330" y="75510"/>
            <a:ext cx="5513033" cy="748359"/>
          </a:xfrm>
          <a:prstGeom prst="rect">
            <a:avLst/>
          </a:prstGeom>
        </p:spPr>
        <p:txBody>
          <a:bodyPr spcFirstLastPara="1" vert="horz" lIns="109728" tIns="109728" rIns="109728" bIns="91440" rtlCol="0" anchor="ctr" anchorCtr="0">
            <a:normAutofit/>
          </a:bodyPr>
          <a:lstStyle/>
          <a:p>
            <a:pPr marL="0" lvl="0" indent="0">
              <a:lnSpc>
                <a:spcPct val="140000"/>
              </a:lnSpc>
              <a:spcBef>
                <a:spcPct val="0"/>
              </a:spcBef>
              <a:spcAft>
                <a:spcPts val="0"/>
              </a:spcAft>
              <a:buClr>
                <a:schemeClr val="dk1"/>
              </a:buClr>
              <a:buSzPts val="2400"/>
            </a:pPr>
            <a:r>
              <a:rPr lang="en-US" sz="2500" dirty="0"/>
              <a:t>Getting people to respond</a:t>
            </a:r>
          </a:p>
        </p:txBody>
      </p:sp>
      <p:sp>
        <p:nvSpPr>
          <p:cNvPr id="5" name="TextBox 4">
            <a:extLst>
              <a:ext uri="{FF2B5EF4-FFF2-40B4-BE49-F238E27FC236}">
                <a16:creationId xmlns:a16="http://schemas.microsoft.com/office/drawing/2014/main" id="{E7E802F7-D331-2903-8C41-05E8D393E9C5}"/>
              </a:ext>
            </a:extLst>
          </p:cNvPr>
          <p:cNvSpPr txBox="1"/>
          <p:nvPr/>
        </p:nvSpPr>
        <p:spPr>
          <a:xfrm>
            <a:off x="162848" y="742653"/>
            <a:ext cx="12029152" cy="5940088"/>
          </a:xfrm>
          <a:prstGeom prst="rect">
            <a:avLst/>
          </a:prstGeom>
          <a:noFill/>
        </p:spPr>
        <p:txBody>
          <a:bodyPr wrap="square">
            <a:spAutoFit/>
          </a:bodyPr>
          <a:lstStyle/>
          <a:p>
            <a:pPr marL="342900" indent="-342900">
              <a:buFont typeface="Arial" panose="020B0604020202020204" pitchFamily="34" charset="0"/>
              <a:buChar char="•"/>
            </a:pPr>
            <a:r>
              <a:rPr lang="en-US" sz="2400" b="1" dirty="0"/>
              <a:t>Increase perceived rewards </a:t>
            </a:r>
          </a:p>
          <a:p>
            <a:r>
              <a:rPr lang="en-US" sz="2400" b="1" dirty="0"/>
              <a:t>	</a:t>
            </a:r>
            <a:r>
              <a:rPr lang="en-US" sz="2400" dirty="0"/>
              <a:t>-</a:t>
            </a:r>
            <a:r>
              <a:rPr lang="en-US" sz="2400" b="1" dirty="0"/>
              <a:t> </a:t>
            </a:r>
            <a:r>
              <a:rPr lang="en-US" sz="2000" dirty="0"/>
              <a:t>Provide information about the survey and goals </a:t>
            </a:r>
          </a:p>
          <a:p>
            <a:r>
              <a:rPr lang="en-US" sz="2000" dirty="0"/>
              <a:t>	- Ask for help or advice </a:t>
            </a:r>
          </a:p>
          <a:p>
            <a:r>
              <a:rPr lang="en-US" sz="2000" dirty="0"/>
              <a:t>	- Say thank you </a:t>
            </a:r>
          </a:p>
          <a:p>
            <a:r>
              <a:rPr lang="en-US" sz="2000" dirty="0"/>
              <a:t>	- Give tangible rewards </a:t>
            </a:r>
          </a:p>
          <a:p>
            <a:r>
              <a:rPr lang="en-US" sz="2000" dirty="0"/>
              <a:t>	- Support a group’s values </a:t>
            </a:r>
          </a:p>
          <a:p>
            <a:r>
              <a:rPr lang="en-US" sz="2000" dirty="0"/>
              <a:t>	- Make the questionnaire interesting</a:t>
            </a:r>
          </a:p>
          <a:p>
            <a:endParaRPr lang="en-US" sz="2000" dirty="0"/>
          </a:p>
          <a:p>
            <a:pPr marL="342900" indent="-342900">
              <a:buFont typeface="Arial" panose="020B0604020202020204" pitchFamily="34" charset="0"/>
              <a:buChar char="•"/>
            </a:pPr>
            <a:r>
              <a:rPr lang="en-US" sz="2400" b="1" dirty="0"/>
              <a:t>Establish trust </a:t>
            </a:r>
            <a:endParaRPr lang="en-US" sz="2000" b="1" dirty="0"/>
          </a:p>
          <a:p>
            <a:r>
              <a:rPr lang="en-US" sz="2000" dirty="0"/>
              <a:t>	- Lean on your role/organization </a:t>
            </a:r>
          </a:p>
          <a:p>
            <a:r>
              <a:rPr lang="en-US" sz="2000" dirty="0"/>
              <a:t>	- If payment is provided, give it in advance</a:t>
            </a:r>
          </a:p>
          <a:p>
            <a:r>
              <a:rPr lang="en-US" sz="2000" dirty="0"/>
              <a:t>	- Make the task feel important (possibly more important than it is)</a:t>
            </a:r>
          </a:p>
          <a:p>
            <a:r>
              <a:rPr lang="en-US" sz="2000" dirty="0"/>
              <a:t>	- Ensure confidentiality and security (and anonymity when necessary)</a:t>
            </a:r>
          </a:p>
          <a:p>
            <a:endParaRPr lang="en-US" sz="2000" dirty="0"/>
          </a:p>
          <a:p>
            <a:pPr marL="342900" indent="-342900">
              <a:buFont typeface="Arial" panose="020B0604020202020204" pitchFamily="34" charset="0"/>
              <a:buChar char="•"/>
            </a:pPr>
            <a:r>
              <a:rPr lang="en-US" sz="2400" b="1" dirty="0"/>
              <a:t>Decrease perceived costs </a:t>
            </a:r>
          </a:p>
          <a:p>
            <a:r>
              <a:rPr lang="en-US" sz="2400" b="1" dirty="0"/>
              <a:t>	</a:t>
            </a:r>
            <a:r>
              <a:rPr lang="en-US" sz="2400" dirty="0"/>
              <a:t>- </a:t>
            </a:r>
            <a:r>
              <a:rPr lang="en-US" sz="2000" dirty="0"/>
              <a:t>Make it convenient to complete </a:t>
            </a:r>
          </a:p>
          <a:p>
            <a:r>
              <a:rPr lang="en-US" sz="2000" dirty="0"/>
              <a:t>	- Make it as short as possible </a:t>
            </a:r>
          </a:p>
          <a:p>
            <a:r>
              <a:rPr lang="en-US" sz="2000" dirty="0"/>
              <a:t>	- Minimize requests for identifiable or sensitive information</a:t>
            </a:r>
          </a:p>
        </p:txBody>
      </p:sp>
    </p:spTree>
    <p:extLst>
      <p:ext uri="{BB962C8B-B14F-4D97-AF65-F5344CB8AC3E}">
        <p14:creationId xmlns:p14="http://schemas.microsoft.com/office/powerpoint/2010/main" val="40426827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83"/>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Surveys and Questionnaires</a:t>
            </a:r>
            <a:endParaRPr sz="3200" dirty="0"/>
          </a:p>
        </p:txBody>
      </p:sp>
      <p:sp>
        <p:nvSpPr>
          <p:cNvPr id="568" name="Google Shape;568;p83"/>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400" dirty="0"/>
              <a:t>Answers can lead to question forks </a:t>
            </a:r>
          </a:p>
          <a:p>
            <a:pPr lvl="0">
              <a:lnSpc>
                <a:spcPct val="115000"/>
              </a:lnSpc>
              <a:spcBef>
                <a:spcPts val="0"/>
              </a:spcBef>
              <a:buClr>
                <a:schemeClr val="dk1"/>
              </a:buClr>
              <a:buSzPts val="1800"/>
            </a:pPr>
            <a:endParaRPr lang="en-US" sz="2400" dirty="0"/>
          </a:p>
          <a:p>
            <a:pPr marL="342900" lvl="0" indent="-342900">
              <a:lnSpc>
                <a:spcPct val="115000"/>
              </a:lnSpc>
              <a:spcBef>
                <a:spcPts val="0"/>
              </a:spcBef>
              <a:buClr>
                <a:schemeClr val="dk1"/>
              </a:buClr>
              <a:buSzPts val="1800"/>
              <a:buFont typeface="Wingdings" panose="05000000000000000000" pitchFamily="2" charset="2"/>
              <a:buChar char="q"/>
            </a:pPr>
            <a:r>
              <a:rPr lang="en-US" sz="2000" b="0" dirty="0"/>
              <a:t>	“If you have used Snapchat in the last week…”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Wingdings" panose="05000000000000000000" pitchFamily="2" charset="2"/>
              <a:buChar char="q"/>
            </a:pPr>
            <a:r>
              <a:rPr lang="en-US" sz="2000" b="0" dirty="0"/>
              <a:t>	Make yourself a flowchart so you don’t get lost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Wingdings" panose="05000000000000000000" pitchFamily="2" charset="2"/>
              <a:buChar char="q"/>
            </a:pPr>
            <a:r>
              <a:rPr lang="en-US" sz="2000" b="0" dirty="0"/>
              <a:t>	Online tools make this easier than paper </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Wingdings" panose="05000000000000000000" pitchFamily="2" charset="2"/>
              <a:buChar char="q"/>
            </a:pPr>
            <a:r>
              <a:rPr lang="en-US" sz="2000" b="0" dirty="0"/>
              <a:t>	Be aware of length issues resulting from these forks</a:t>
            </a:r>
            <a:endParaRPr sz="2000" b="0" dirty="0"/>
          </a:p>
        </p:txBody>
      </p:sp>
      <p:sp>
        <p:nvSpPr>
          <p:cNvPr id="570" name="Google Shape;570;p83"/>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E361495F-9D8D-3C40-19A6-FD1BFC295110}"/>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0B2B141E-5E5B-4338-8AC6-C5D1FBAE61AF}"/>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Surveys and Questionnaires</a:t>
            </a:r>
            <a:endParaRPr sz="3200" dirty="0"/>
          </a:p>
        </p:txBody>
      </p:sp>
      <p:sp>
        <p:nvSpPr>
          <p:cNvPr id="568" name="Google Shape;568;p83">
            <a:extLst>
              <a:ext uri="{FF2B5EF4-FFF2-40B4-BE49-F238E27FC236}">
                <a16:creationId xmlns:a16="http://schemas.microsoft.com/office/drawing/2014/main" id="{3118E7D4-F9DD-94AA-88BE-BE48C25C49E1}"/>
              </a:ext>
            </a:extLst>
          </p:cNvPr>
          <p:cNvSpPr txBox="1">
            <a:spLocks noGrp="1"/>
          </p:cNvSpPr>
          <p:nvPr>
            <p:ph type="body" idx="4294967295"/>
          </p:nvPr>
        </p:nvSpPr>
        <p:spPr>
          <a:xfrm>
            <a:off x="642879" y="1422919"/>
            <a:ext cx="11360150" cy="4391025"/>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000" b="0" dirty="0"/>
              <a:t>For each question, ask:</a:t>
            </a:r>
          </a:p>
          <a:p>
            <a:pPr lvl="1">
              <a:lnSpc>
                <a:spcPct val="115000"/>
              </a:lnSpc>
              <a:spcBef>
                <a:spcPts val="0"/>
              </a:spcBef>
              <a:buClr>
                <a:schemeClr val="dk1"/>
              </a:buClr>
              <a:buSzPts val="1800"/>
            </a:pPr>
            <a:r>
              <a:rPr lang="en-US" sz="2200" dirty="0"/>
              <a:t>		</a:t>
            </a:r>
            <a:r>
              <a:rPr lang="en-US" sz="1800" b="0" dirty="0"/>
              <a:t>Do I need to know that?</a:t>
            </a:r>
          </a:p>
          <a:p>
            <a:pPr lvl="1">
              <a:lnSpc>
                <a:spcPct val="115000"/>
              </a:lnSpc>
              <a:spcBef>
                <a:spcPts val="0"/>
              </a:spcBef>
              <a:buClr>
                <a:schemeClr val="dk1"/>
              </a:buClr>
              <a:buSzPts val="1800"/>
            </a:pPr>
            <a:r>
              <a:rPr lang="en-US" sz="1800" dirty="0"/>
              <a:t>		</a:t>
            </a:r>
            <a:r>
              <a:rPr lang="en-US" sz="1800" b="0" dirty="0"/>
              <a:t>Do I need to know it at that level of detail?</a:t>
            </a:r>
          </a:p>
          <a:p>
            <a:pPr lvl="1">
              <a:lnSpc>
                <a:spcPct val="115000"/>
              </a:lnSpc>
              <a:spcBef>
                <a:spcPts val="0"/>
              </a:spcBef>
              <a:buClr>
                <a:schemeClr val="dk1"/>
              </a:buClr>
              <a:buSzPts val="1800"/>
            </a:pPr>
            <a:endParaRPr lang="en-US" sz="1800" b="0" dirty="0"/>
          </a:p>
          <a:p>
            <a:pPr marL="342900" lvl="1" indent="-342900">
              <a:lnSpc>
                <a:spcPct val="115000"/>
              </a:lnSpc>
              <a:spcBef>
                <a:spcPts val="0"/>
              </a:spcBef>
              <a:buClr>
                <a:schemeClr val="dk1"/>
              </a:buClr>
              <a:buSzPts val="1800"/>
              <a:buFont typeface="Arial" panose="020B0604020202020204" pitchFamily="34" charset="0"/>
              <a:buChar char="•"/>
            </a:pPr>
            <a:r>
              <a:rPr lang="en-US" sz="2000" b="0" dirty="0"/>
              <a:t>How you word the question will impact results</a:t>
            </a:r>
          </a:p>
          <a:p>
            <a:pPr lvl="0">
              <a:lnSpc>
                <a:spcPct val="115000"/>
              </a:lnSpc>
              <a:spcBef>
                <a:spcPts val="0"/>
              </a:spcBef>
              <a:buClr>
                <a:schemeClr val="dk1"/>
              </a:buClr>
              <a:buSzPts val="1800"/>
            </a:pPr>
            <a:r>
              <a:rPr lang="en-US" sz="2400" b="0" dirty="0"/>
              <a:t>		</a:t>
            </a:r>
            <a:r>
              <a:rPr lang="en-US" b="0" dirty="0"/>
              <a:t>Pilot with your friends</a:t>
            </a:r>
          </a:p>
          <a:p>
            <a:pPr lvl="0">
              <a:lnSpc>
                <a:spcPct val="115000"/>
              </a:lnSpc>
              <a:spcBef>
                <a:spcPts val="0"/>
              </a:spcBef>
              <a:buClr>
                <a:schemeClr val="dk1"/>
              </a:buClr>
              <a:buSzPts val="1800"/>
            </a:pPr>
            <a:r>
              <a:rPr lang="en-US" b="0" dirty="0"/>
              <a:t>		Then, with people who are not your friends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Open-ended</a:t>
            </a:r>
          </a:p>
          <a:p>
            <a:pPr lvl="0">
              <a:lnSpc>
                <a:spcPct val="115000"/>
              </a:lnSpc>
              <a:spcBef>
                <a:spcPts val="0"/>
              </a:spcBef>
              <a:buClr>
                <a:schemeClr val="dk1"/>
              </a:buClr>
              <a:buSzPts val="1800"/>
            </a:pPr>
            <a:endParaRPr lang="en-US" sz="2000" b="0" dirty="0"/>
          </a:p>
          <a:p>
            <a:pPr marL="342900" lvl="0" indent="-342900">
              <a:lnSpc>
                <a:spcPct val="115000"/>
              </a:lnSpc>
              <a:spcBef>
                <a:spcPts val="0"/>
              </a:spcBef>
              <a:buClr>
                <a:schemeClr val="dk1"/>
              </a:buClr>
              <a:buSzPts val="1800"/>
              <a:buFont typeface="Arial" panose="020B0604020202020204" pitchFamily="34" charset="0"/>
              <a:buChar char="•"/>
            </a:pPr>
            <a:r>
              <a:rPr lang="en-US" sz="2000" b="0" dirty="0"/>
              <a:t>Close-ended (scalar)</a:t>
            </a:r>
          </a:p>
          <a:p>
            <a:pPr lvl="0">
              <a:lnSpc>
                <a:spcPct val="115000"/>
              </a:lnSpc>
              <a:spcBef>
                <a:spcPts val="0"/>
              </a:spcBef>
              <a:buClr>
                <a:schemeClr val="dk1"/>
              </a:buClr>
              <a:buSzPts val="1800"/>
            </a:pPr>
            <a:r>
              <a:rPr lang="en-US" sz="2000" b="0" dirty="0"/>
              <a:t>		</a:t>
            </a:r>
            <a:r>
              <a:rPr lang="en-US" b="0" dirty="0"/>
              <a:t>Nominal: compare a set of categories (e.g., colors)</a:t>
            </a:r>
          </a:p>
          <a:p>
            <a:pPr lvl="0">
              <a:lnSpc>
                <a:spcPct val="115000"/>
              </a:lnSpc>
              <a:spcBef>
                <a:spcPts val="0"/>
              </a:spcBef>
              <a:buClr>
                <a:schemeClr val="dk1"/>
              </a:buClr>
              <a:buSzPts val="1800"/>
            </a:pPr>
            <a:r>
              <a:rPr lang="en-US" b="0" dirty="0"/>
              <a:t>		Ordinal: ordered set of categories (e.g., strongly disagree, agree)</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Partially closed</a:t>
            </a:r>
          </a:p>
          <a:p>
            <a:pPr lvl="0">
              <a:lnSpc>
                <a:spcPct val="115000"/>
              </a:lnSpc>
              <a:spcBef>
                <a:spcPts val="0"/>
              </a:spcBef>
              <a:buClr>
                <a:schemeClr val="dk1"/>
              </a:buClr>
              <a:buSzPts val="1800"/>
            </a:pPr>
            <a:r>
              <a:rPr lang="en-US" sz="2000" b="0" dirty="0"/>
              <a:t>		</a:t>
            </a:r>
            <a:r>
              <a:rPr lang="en-US" b="0" dirty="0"/>
              <a:t>Has an “other” option</a:t>
            </a:r>
            <a:endParaRPr b="0" dirty="0"/>
          </a:p>
        </p:txBody>
      </p:sp>
      <p:sp>
        <p:nvSpPr>
          <p:cNvPr id="570" name="Google Shape;570;p83">
            <a:extLst>
              <a:ext uri="{FF2B5EF4-FFF2-40B4-BE49-F238E27FC236}">
                <a16:creationId xmlns:a16="http://schemas.microsoft.com/office/drawing/2014/main" id="{18D8295E-B3CF-9E48-DDA5-245855D817D2}"/>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4045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6">
          <a:extLst>
            <a:ext uri="{FF2B5EF4-FFF2-40B4-BE49-F238E27FC236}">
              <a16:creationId xmlns:a16="http://schemas.microsoft.com/office/drawing/2014/main" id="{FC4BC096-4473-E1B3-7D8C-34D3DBAFEFDE}"/>
            </a:ext>
          </a:extLst>
        </p:cNvPr>
        <p:cNvGrpSpPr/>
        <p:nvPr/>
      </p:nvGrpSpPr>
      <p:grpSpPr>
        <a:xfrm>
          <a:off x="0" y="0"/>
          <a:ext cx="0" cy="0"/>
          <a:chOff x="0" y="0"/>
          <a:chExt cx="0" cy="0"/>
        </a:xfrm>
      </p:grpSpPr>
      <p:sp>
        <p:nvSpPr>
          <p:cNvPr id="567" name="Google Shape;567;p83">
            <a:extLst>
              <a:ext uri="{FF2B5EF4-FFF2-40B4-BE49-F238E27FC236}">
                <a16:creationId xmlns:a16="http://schemas.microsoft.com/office/drawing/2014/main" id="{70629FCF-C7EB-3ADD-9B1D-896A8E8DD874}"/>
              </a:ext>
            </a:extLst>
          </p:cNvPr>
          <p:cNvSpPr txBox="1">
            <a:spLocks noGrp="1"/>
          </p:cNvSpPr>
          <p:nvPr>
            <p:ph type="title" idx="4294967295"/>
          </p:nvPr>
        </p:nvSpPr>
        <p:spPr>
          <a:xfrm>
            <a:off x="0" y="593725"/>
            <a:ext cx="11360150" cy="763588"/>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chemeClr val="dk1"/>
              </a:buClr>
              <a:buSzPts val="2400"/>
              <a:buNone/>
            </a:pPr>
            <a:r>
              <a:rPr lang="en-US" sz="3200" dirty="0"/>
              <a:t>Surveys and Questionnaires (Tips)</a:t>
            </a:r>
            <a:endParaRPr sz="3200" dirty="0"/>
          </a:p>
        </p:txBody>
      </p:sp>
      <p:sp>
        <p:nvSpPr>
          <p:cNvPr id="568" name="Google Shape;568;p83">
            <a:extLst>
              <a:ext uri="{FF2B5EF4-FFF2-40B4-BE49-F238E27FC236}">
                <a16:creationId xmlns:a16="http://schemas.microsoft.com/office/drawing/2014/main" id="{4E8718B3-8EA0-DCFA-7A05-3253DF3FDE7F}"/>
              </a:ext>
            </a:extLst>
          </p:cNvPr>
          <p:cNvSpPr txBox="1">
            <a:spLocks noGrp="1"/>
          </p:cNvSpPr>
          <p:nvPr>
            <p:ph type="body" idx="4294967295"/>
          </p:nvPr>
        </p:nvSpPr>
        <p:spPr>
          <a:xfrm>
            <a:off x="642879" y="1422919"/>
            <a:ext cx="11360150" cy="5182067"/>
          </a:xfrm>
          <a:prstGeom prst="rect">
            <a:avLst/>
          </a:prstGeom>
          <a:noFill/>
          <a:ln>
            <a:noFill/>
          </a:ln>
        </p:spPr>
        <p:txBody>
          <a:bodyPr spcFirstLastPara="1" wrap="square" lIns="121900" tIns="121900" rIns="121900" bIns="121900" anchor="t" anchorCtr="0">
            <a:noAutofit/>
          </a:bodyPr>
          <a:lstStyle/>
          <a:p>
            <a:pPr marL="342900" lvl="0" indent="-342900">
              <a:lnSpc>
                <a:spcPct val="115000"/>
              </a:lnSpc>
              <a:spcBef>
                <a:spcPts val="0"/>
              </a:spcBef>
              <a:buClr>
                <a:schemeClr val="dk1"/>
              </a:buClr>
              <a:buSzPts val="1800"/>
              <a:buFont typeface="Arial" panose="020B0604020202020204" pitchFamily="34" charset="0"/>
              <a:buChar char="•"/>
            </a:pPr>
            <a:r>
              <a:rPr lang="en-US" sz="2000" b="0" dirty="0"/>
              <a:t>Make sure question applies to respondent and then requires an answer</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Ask one question at a time</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Use simple and familiar words, no acronyms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Use well-defined words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Use complete but simple sentences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Avoid double negatives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Match the question to the responses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Ensure that you’re not accidentally introducing biases through use of color,</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bolding, fonts, etc.</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Check spacing and alignment on various screen sizes/orientations</a:t>
            </a:r>
          </a:p>
          <a:p>
            <a:pPr marL="342900" lvl="0" indent="-342900">
              <a:lnSpc>
                <a:spcPct val="115000"/>
              </a:lnSpc>
              <a:spcBef>
                <a:spcPts val="0"/>
              </a:spcBef>
              <a:buClr>
                <a:schemeClr val="dk1"/>
              </a:buClr>
              <a:buSzPts val="1800"/>
              <a:buFont typeface="Arial" panose="020B0604020202020204" pitchFamily="34" charset="0"/>
              <a:buChar char="•"/>
            </a:pPr>
            <a:r>
              <a:rPr lang="en-US" sz="2000" b="0" dirty="0"/>
              <a:t>Participants will see relationships, group questions, etc. based on how you have them laid out</a:t>
            </a:r>
          </a:p>
          <a:p>
            <a:pPr marL="342900" lvl="0" indent="-342900">
              <a:lnSpc>
                <a:spcPct val="115000"/>
              </a:lnSpc>
              <a:spcBef>
                <a:spcPts val="0"/>
              </a:spcBef>
              <a:buClr>
                <a:schemeClr val="dk1"/>
              </a:buClr>
              <a:buSzPts val="1800"/>
              <a:buFont typeface="Arial" panose="020B0604020202020204" pitchFamily="34" charset="0"/>
              <a:buChar char="•"/>
            </a:pPr>
            <a:endParaRPr lang="en-US" sz="2000" b="0" dirty="0"/>
          </a:p>
        </p:txBody>
      </p:sp>
      <p:sp>
        <p:nvSpPr>
          <p:cNvPr id="570" name="Google Shape;570;p83">
            <a:extLst>
              <a:ext uri="{FF2B5EF4-FFF2-40B4-BE49-F238E27FC236}">
                <a16:creationId xmlns:a16="http://schemas.microsoft.com/office/drawing/2014/main" id="{B61C2585-5D6B-20E2-EE5B-1F2A89C2EC31}"/>
              </a:ext>
            </a:extLst>
          </p:cNvPr>
          <p:cNvSpPr/>
          <p:nvPr/>
        </p:nvSpPr>
        <p:spPr>
          <a:xfrm>
            <a:off x="632177" y="5879550"/>
            <a:ext cx="10927647" cy="615499"/>
          </a:xfrm>
          <a:prstGeom prst="rect">
            <a:avLst/>
          </a:prstGeom>
          <a:no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24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84289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ve Deeper into Research Methods: Quantitative vs. Qualitative">
            <a:extLst>
              <a:ext uri="{FF2B5EF4-FFF2-40B4-BE49-F238E27FC236}">
                <a16:creationId xmlns:a16="http://schemas.microsoft.com/office/drawing/2014/main" id="{D92C0442-75BB-4491-75FF-D659D32A5F3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12734" y="1300913"/>
            <a:ext cx="7566533" cy="4256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4176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1ECF6A89-F181-2D36-E004-C8298A75087A}"/>
            </a:ext>
          </a:extLst>
        </p:cNvPr>
        <p:cNvGrpSpPr/>
        <p:nvPr/>
      </p:nvGrpSpPr>
      <p:grpSpPr>
        <a:xfrm>
          <a:off x="0" y="0"/>
          <a:ext cx="0" cy="0"/>
          <a:chOff x="0" y="0"/>
          <a:chExt cx="0" cy="0"/>
        </a:xfrm>
      </p:grpSpPr>
      <p:sp>
        <p:nvSpPr>
          <p:cNvPr id="103" name="Google Shape;103;g2064b3d91da_0_28">
            <a:extLst>
              <a:ext uri="{FF2B5EF4-FFF2-40B4-BE49-F238E27FC236}">
                <a16:creationId xmlns:a16="http://schemas.microsoft.com/office/drawing/2014/main" id="{EEBC08C0-A6AF-F05D-9A92-1C0AD12114E6}"/>
              </a:ext>
            </a:extLst>
          </p:cNvPr>
          <p:cNvSpPr txBox="1">
            <a:spLocks noGrp="1"/>
          </p:cNvSpPr>
          <p:nvPr>
            <p:ph type="title" idx="4294967295"/>
          </p:nvPr>
        </p:nvSpPr>
        <p:spPr>
          <a:xfrm>
            <a:off x="546100" y="312739"/>
            <a:ext cx="11645900" cy="615514"/>
          </a:xfrm>
          <a:prstGeom prst="rect">
            <a:avLst/>
          </a:prstGeom>
          <a:noFill/>
          <a:ln>
            <a:noFill/>
          </a:ln>
        </p:spPr>
        <p:txBody>
          <a:bodyPr spcFirstLastPara="1" vert="horz" wrap="square" lIns="121900" tIns="121900" rIns="121900" bIns="121900" rtlCol="0" anchor="b" anchorCtr="0">
            <a:noAutofit/>
          </a:bodyPr>
          <a:lstStyle/>
          <a:p>
            <a:pPr>
              <a:lnSpc>
                <a:spcPct val="90000"/>
              </a:lnSpc>
            </a:pPr>
            <a:r>
              <a:rPr lang="en-US" dirty="0"/>
              <a:t>Activity </a:t>
            </a:r>
            <a:endParaRPr dirty="0"/>
          </a:p>
        </p:txBody>
      </p:sp>
      <p:sp>
        <p:nvSpPr>
          <p:cNvPr id="105" name="Google Shape;105;g2064b3d91da_0_28">
            <a:extLst>
              <a:ext uri="{FF2B5EF4-FFF2-40B4-BE49-F238E27FC236}">
                <a16:creationId xmlns:a16="http://schemas.microsoft.com/office/drawing/2014/main" id="{C530BF65-2183-099C-15BB-B0D4D892F317}"/>
              </a:ext>
            </a:extLst>
          </p:cNvPr>
          <p:cNvSpPr txBox="1"/>
          <p:nvPr/>
        </p:nvSpPr>
        <p:spPr>
          <a:xfrm>
            <a:off x="300485" y="766357"/>
            <a:ext cx="11645899" cy="584735"/>
          </a:xfrm>
          <a:prstGeom prst="rect">
            <a:avLst/>
          </a:prstGeom>
          <a:noFill/>
          <a:ln>
            <a:noFill/>
          </a:ln>
        </p:spPr>
        <p:txBody>
          <a:bodyPr spcFirstLastPara="1" wrap="square" lIns="121900" tIns="121900" rIns="121900" bIns="121900" anchor="t" anchorCtr="0">
            <a:spAutoFit/>
          </a:bodyPr>
          <a:lstStyle/>
          <a:p>
            <a:pPr marL="186262">
              <a:buSzPts val="1400"/>
            </a:pPr>
            <a:r>
              <a:rPr lang="en-US" sz="2200" b="1" dirty="0"/>
              <a:t>Designing a Better Shared Study Space for Students</a:t>
            </a:r>
          </a:p>
        </p:txBody>
      </p:sp>
      <p:sp>
        <p:nvSpPr>
          <p:cNvPr id="3" name="TextBox 2">
            <a:extLst>
              <a:ext uri="{FF2B5EF4-FFF2-40B4-BE49-F238E27FC236}">
                <a16:creationId xmlns:a16="http://schemas.microsoft.com/office/drawing/2014/main" id="{F765449D-6521-864D-CE01-6136B3F11796}"/>
              </a:ext>
            </a:extLst>
          </p:cNvPr>
          <p:cNvSpPr txBox="1"/>
          <p:nvPr/>
        </p:nvSpPr>
        <p:spPr>
          <a:xfrm>
            <a:off x="546100" y="1471910"/>
            <a:ext cx="11154668" cy="6432530"/>
          </a:xfrm>
          <a:prstGeom prst="rect">
            <a:avLst/>
          </a:prstGeom>
          <a:noFill/>
        </p:spPr>
        <p:txBody>
          <a:bodyPr wrap="square">
            <a:spAutoFit/>
          </a:bodyPr>
          <a:lstStyle/>
          <a:p>
            <a:pPr>
              <a:buNone/>
            </a:pPr>
            <a:r>
              <a:rPr lang="en-US" b="1" dirty="0"/>
              <a:t>Background:</a:t>
            </a:r>
            <a:br>
              <a:rPr lang="en-US" dirty="0"/>
            </a:br>
            <a:r>
              <a:rPr lang="en-US" sz="2000" dirty="0"/>
              <a:t>Your university library is planning to redesign its shared study areas (quiet rooms, group tables, computer labs, and informal lounge spaces). They want to create an environment that supports both individual and collaborative study, reduces stress, and encourages healthy study habits. The library team has asked your research group to investigate students’ current behaviors, needs, and preferences — and to provide design recommendations.</a:t>
            </a:r>
          </a:p>
          <a:p>
            <a:pPr>
              <a:buNone/>
            </a:pPr>
            <a:endParaRPr lang="en-US" sz="1600" dirty="0"/>
          </a:p>
          <a:p>
            <a:pPr>
              <a:buNone/>
            </a:pPr>
            <a:endParaRPr lang="en-US" dirty="0"/>
          </a:p>
          <a:p>
            <a:pPr>
              <a:buNone/>
            </a:pPr>
            <a:r>
              <a:rPr lang="en-US" b="1" dirty="0"/>
              <a:t>Goal:</a:t>
            </a:r>
            <a:br>
              <a:rPr lang="en-US" dirty="0"/>
            </a:br>
            <a:r>
              <a:rPr lang="en-US" sz="2000" dirty="0"/>
              <a:t>To understand how students currently use library study spaces, what problems they face, and what features or tools would make these spaces more effective, inclusive, and enjoyable.</a:t>
            </a:r>
          </a:p>
          <a:p>
            <a:pPr>
              <a:buNone/>
            </a:pPr>
            <a:endParaRPr lang="en-US" dirty="0"/>
          </a:p>
          <a:p>
            <a:pPr>
              <a:buNone/>
            </a:pPr>
            <a:r>
              <a:rPr lang="en-US" b="1" dirty="0"/>
              <a:t>To Do:</a:t>
            </a:r>
          </a:p>
          <a:p>
            <a:pPr marL="342900" indent="-342900">
              <a:buAutoNum type="arabicPeriod"/>
            </a:pPr>
            <a:r>
              <a:rPr lang="en-US" dirty="0"/>
              <a:t>Identify which methods would be suitable for this problem space</a:t>
            </a:r>
          </a:p>
          <a:p>
            <a:pPr marL="342900" indent="-342900">
              <a:buAutoNum type="arabicPeriod"/>
            </a:pPr>
            <a:r>
              <a:rPr lang="en-US" dirty="0"/>
              <a:t>Write down 3 to 4 requirements that the selected method would be able to uncover</a:t>
            </a:r>
          </a:p>
          <a:p>
            <a:pPr marL="342900" indent="-342900">
              <a:buAutoNum type="arabicPeriod"/>
            </a:pPr>
            <a:endParaRPr lang="en-US" b="1" dirty="0"/>
          </a:p>
          <a:p>
            <a:pPr lvl="1"/>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9889772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v94yzfk5ynh74xy5eoz6g6gkoqjsh2"/>
</p:tagLst>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FF477C-132F-44F8-8C56-EBFF95FAF9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36CB81-A037-44A8-88EB-C0C0F17FD4B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{7A0EE8FA-6344-4A45-8060-EEAA753ACAC7}TF2b9189fa-8f70-44c5-a025-8c7b018ae2a95a18b6f7_win32-f1ac09ee8c52</Template>
  <TotalTime>652</TotalTime>
  <Words>3396</Words>
  <Application>Microsoft Office PowerPoint</Application>
  <PresentationFormat>Widescreen</PresentationFormat>
  <Paragraphs>440</Paragraphs>
  <Slides>50</Slides>
  <Notes>50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Meiryo</vt:lpstr>
      <vt:lpstr>Arial</vt:lpstr>
      <vt:lpstr>Calibri</vt:lpstr>
      <vt:lpstr>Corbel</vt:lpstr>
      <vt:lpstr>Raleway</vt:lpstr>
      <vt:lpstr>Times New Roman</vt:lpstr>
      <vt:lpstr>Wingdings</vt:lpstr>
      <vt:lpstr>ShojiVTI</vt:lpstr>
      <vt:lpstr>CSE 325: Information System Design</vt:lpstr>
      <vt:lpstr>Requirement Gathering Methods</vt:lpstr>
      <vt:lpstr>Requirement Gathering Methods</vt:lpstr>
      <vt:lpstr>Requirement Gathering Methods</vt:lpstr>
      <vt:lpstr>Observation</vt:lpstr>
      <vt:lpstr>PowerPoint Presentation</vt:lpstr>
      <vt:lpstr>PowerPoint Presentation</vt:lpstr>
      <vt:lpstr>PowerPoint Presentation</vt:lpstr>
      <vt:lpstr>PowerPoint Presentation</vt:lpstr>
      <vt:lpstr>PowerPoint Presentation</vt:lpstr>
      <vt:lpstr>Hawthrone Effect (Observer Effect)</vt:lpstr>
      <vt:lpstr>Interviews</vt:lpstr>
      <vt:lpstr>PowerPoint Presentation</vt:lpstr>
      <vt:lpstr>PowerPoint Presentation</vt:lpstr>
      <vt:lpstr>   Interview Tips</vt:lpstr>
      <vt:lpstr>Interview Tips</vt:lpstr>
      <vt:lpstr>Interview Tips</vt:lpstr>
      <vt:lpstr>Interview Stages | Preparation </vt:lpstr>
      <vt:lpstr>Interview Stages | Execution </vt:lpstr>
      <vt:lpstr>Interview Stages | Execution Common mistakes! [Don’t do these]</vt:lpstr>
      <vt:lpstr>PowerPoint Presentation</vt:lpstr>
      <vt:lpstr>Focus Groups</vt:lpstr>
      <vt:lpstr>Focus groups: Benefits</vt:lpstr>
      <vt:lpstr>Focus groups</vt:lpstr>
      <vt:lpstr>Focus groups: Risks</vt:lpstr>
      <vt:lpstr>Focus groups</vt:lpstr>
      <vt:lpstr>Focus groups</vt:lpstr>
      <vt:lpstr>Contextual Inquiry</vt:lpstr>
      <vt:lpstr>Contextual Inquiry (CI)</vt:lpstr>
      <vt:lpstr>Contextual Inquiry (CI): Four principles</vt:lpstr>
      <vt:lpstr>Four Principles of CI: Context</vt:lpstr>
      <vt:lpstr>Four Principles of CI: Partnership</vt:lpstr>
      <vt:lpstr>Four Principles of CI: Interpretation</vt:lpstr>
      <vt:lpstr>Four Principles of CI: Focus</vt:lpstr>
      <vt:lpstr>Examples of CI: </vt:lpstr>
      <vt:lpstr>Examples of CI: </vt:lpstr>
      <vt:lpstr>Contextual Inquiry: A few guidelines</vt:lpstr>
      <vt:lpstr>Contextual Inquiry: A few guidelines</vt:lpstr>
      <vt:lpstr>Contextual Inquiry: A few guidelines</vt:lpstr>
      <vt:lpstr>Contextual Inquiry: A few guidelines</vt:lpstr>
      <vt:lpstr>Contextual Inquiry </vt:lpstr>
      <vt:lpstr>Contextual Inquiry</vt:lpstr>
      <vt:lpstr>PowerPoint Presentation</vt:lpstr>
      <vt:lpstr>Surveys and questionnaires</vt:lpstr>
      <vt:lpstr>Getting people to respond</vt:lpstr>
      <vt:lpstr>Surveys and Questionnaires</vt:lpstr>
      <vt:lpstr>Surveys and Questionnaires</vt:lpstr>
      <vt:lpstr>Surveys and Questionnaires (Tips)</vt:lpstr>
      <vt:lpstr>PowerPoint Presentation</vt:lpstr>
      <vt:lpstr>Activity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Novia Nurain</dc:creator>
  <cp:lastModifiedBy>Novia Nurain</cp:lastModifiedBy>
  <cp:revision>13</cp:revision>
  <dcterms:created xsi:type="dcterms:W3CDTF">2025-07-21T23:24:31Z</dcterms:created>
  <dcterms:modified xsi:type="dcterms:W3CDTF">2025-12-02T02:12:48Z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