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23"/>
  </p:notesMasterIdLst>
  <p:handoutMasterIdLst>
    <p:handoutMasterId r:id="rId24"/>
  </p:handoutMasterIdLst>
  <p:sldIdLst>
    <p:sldId id="315" r:id="rId5"/>
    <p:sldId id="810" r:id="rId6"/>
    <p:sldId id="325" r:id="rId7"/>
    <p:sldId id="819" r:id="rId8"/>
    <p:sldId id="821" r:id="rId9"/>
    <p:sldId id="820" r:id="rId10"/>
    <p:sldId id="823" r:id="rId11"/>
    <p:sldId id="824" r:id="rId12"/>
    <p:sldId id="800" r:id="rId13"/>
    <p:sldId id="812" r:id="rId14"/>
    <p:sldId id="801" r:id="rId15"/>
    <p:sldId id="813" r:id="rId16"/>
    <p:sldId id="814" r:id="rId17"/>
    <p:sldId id="815" r:id="rId18"/>
    <p:sldId id="817" r:id="rId19"/>
    <p:sldId id="818" r:id="rId20"/>
    <p:sldId id="802" r:id="rId21"/>
    <p:sldId id="825" r:id="rId22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72131" autoAdjust="0"/>
  </p:normalViewPr>
  <p:slideViewPr>
    <p:cSldViewPr snapToGrid="0">
      <p:cViewPr>
        <p:scale>
          <a:sx n="51" d="100"/>
          <a:sy n="51" d="100"/>
        </p:scale>
        <p:origin x="126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DFA3CD7E-A472-4324-A568-2C98EBF1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EF10143F-C146-71CF-BE38-C692603C8D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13295A2C-767F-D097-4CAF-5CEEB79A9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2034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D142CB30-F210-F812-7093-EBA63EB1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850CAAF6-7746-DB91-35EB-1330A3AC83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2A991111-1666-EF4D-892F-B78C7DD6E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244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24E0DB08-7B49-5336-AE97-EA023969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70B4A0E1-1AA1-0E24-69FC-C0659AE921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55EA0B05-C76D-B29C-DE3C-DE16D76763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5337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8DE0E8B3-D4EE-F238-6B4D-9B98BAD6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EEF6A393-B00F-9E1F-0339-712A32391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657B43CE-9E24-698F-CA4D-9AAD57E891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555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AFDA1751-760C-A8C1-ECE8-CE10C908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DC9DF907-4150-19E7-121B-2D132B64F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E6973B07-D4EA-12A6-02EE-6B4243EFA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0826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BE09FA5E-2BE6-AD9D-71D0-7F2F05FD4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D8E98464-9CAD-6689-AC0C-2D2587237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2EBCD149-00FA-9D3D-461C-628BFDD5E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7786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02828792-657D-47C3-4B0C-6BB4C6E7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999AC8C9-D70B-8D98-B9F8-D1D45626B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A7459DAA-FF4F-3880-0872-C69FC46B8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951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E83D47D8-2687-73CA-363F-CF997BCF8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6975303B-8E4F-DD0F-0066-75CD1EC9C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CD2EA7F0-B83D-A7B5-7D0D-5DB7E41885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5856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F56F5D0C-6D82-2666-2C5D-B0818D013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C2E39B8E-A150-9960-DBE7-B37EA445CB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87CCC21F-9703-9BBF-BB16-F874989C46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1960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B42F906F-DDB5-18B4-58EA-D958067E6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F4B9DBD8-BE26-1FC0-2050-0049F40BF2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360BA33D-F73E-9029-136E-74E13373D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372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164E979B-C64F-F07A-E316-D22BF6802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832D7CB1-0C84-ECCD-9510-6DB1F31BB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9DA0E131-AFDD-872D-2B0E-9DD55CC30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557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13A2470E-C3F8-2A60-6727-13C1DE54B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8512C423-40C6-5712-4331-2ECFBEBD05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864E39DB-AE4C-65C7-16DD-7F44CBD95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6518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4C467D2F-9857-BBE7-1883-A41DEEBE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9B959681-C196-7D7A-9B81-F79F748DC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9CBB34CF-2E04-5954-CCB8-5F4081C8E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0391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AB4B7F01-78EC-B509-9ED3-34C122B2B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9E9DD545-E700-44C0-242C-4177087C4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01D9539A-249D-C518-E9F8-DC26D9E8DC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975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>
          <a:extLst>
            <a:ext uri="{FF2B5EF4-FFF2-40B4-BE49-F238E27FC236}">
              <a16:creationId xmlns:a16="http://schemas.microsoft.com/office/drawing/2014/main" id="{5265CC71-2956-B759-2EE4-29C87FF6A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>
            <a:extLst>
              <a:ext uri="{FF2B5EF4-FFF2-40B4-BE49-F238E27FC236}">
                <a16:creationId xmlns:a16="http://schemas.microsoft.com/office/drawing/2014/main" id="{0B00744E-E933-CD04-3141-C09EDC429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44:notes">
            <a:extLst>
              <a:ext uri="{FF2B5EF4-FFF2-40B4-BE49-F238E27FC236}">
                <a16:creationId xmlns:a16="http://schemas.microsoft.com/office/drawing/2014/main" id="{C0678E4F-5673-8D8F-4B8F-41C7EF31B2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8618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234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82" r:id="rId12"/>
    <p:sldLayoutId id="2147483710" r:id="rId13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CSE 325: Information System Design</a:t>
            </a:r>
          </a:p>
        </p:txBody>
      </p:sp>
      <p:sp>
        <p:nvSpPr>
          <p:cNvPr id="2" name="Subtitle 14">
            <a:extLst>
              <a:ext uri="{FF2B5EF4-FFF2-40B4-BE49-F238E27FC236}">
                <a16:creationId xmlns:a16="http://schemas.microsoft.com/office/drawing/2014/main" id="{A86C0802-401B-5E92-F8F3-5E04A8EF8581}"/>
              </a:ext>
            </a:extLst>
          </p:cNvPr>
          <p:cNvSpPr txBox="1">
            <a:spLocks/>
          </p:cNvSpPr>
          <p:nvPr/>
        </p:nvSpPr>
        <p:spPr>
          <a:xfrm>
            <a:off x="1488616" y="4720832"/>
            <a:ext cx="5125300" cy="10689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Week 1: Requirement Analysis</a:t>
            </a:r>
          </a:p>
          <a:p>
            <a:r>
              <a:rPr lang="en-US" dirty="0">
                <a:solidFill>
                  <a:schemeClr val="bg1"/>
                </a:solidFill>
              </a:rPr>
              <a:t>Novia Nurain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C34F0-1322-7455-3261-5D87BC07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FCF7A5-B8C0-E43E-E24B-EEFD01B1E742}"/>
              </a:ext>
            </a:extLst>
          </p:cNvPr>
          <p:cNvSpPr txBox="1"/>
          <p:nvPr/>
        </p:nvSpPr>
        <p:spPr>
          <a:xfrm>
            <a:off x="910556" y="1022717"/>
            <a:ext cx="97700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systems development life cycle is a phased approach to solving business problems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3C2D6F-ECA7-8F58-925C-600E98E132C2}"/>
              </a:ext>
            </a:extLst>
          </p:cNvPr>
          <p:cNvSpPr txBox="1"/>
          <p:nvPr/>
        </p:nvSpPr>
        <p:spPr>
          <a:xfrm>
            <a:off x="774576" y="360801"/>
            <a:ext cx="88407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Systems Development Life Cycle (SDLC)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435AE7A-414B-C92E-CD80-DEBA2010C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251" y="1900076"/>
            <a:ext cx="8484124" cy="467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411E67-4081-6EFF-9245-2815D92AD786}"/>
              </a:ext>
            </a:extLst>
          </p:cNvPr>
          <p:cNvSpPr/>
          <p:nvPr/>
        </p:nvSpPr>
        <p:spPr>
          <a:xfrm>
            <a:off x="6165130" y="1900076"/>
            <a:ext cx="2432115" cy="1097648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0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Rectangle 581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86" name="Rectangle 585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5" name="Google Shape;575;p84"/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What is a Requirement?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41837-39FD-779B-2019-6F53CD128E19}"/>
              </a:ext>
            </a:extLst>
          </p:cNvPr>
          <p:cNvSpPr txBox="1"/>
          <p:nvPr/>
        </p:nvSpPr>
        <p:spPr>
          <a:xfrm>
            <a:off x="4794777" y="1158097"/>
            <a:ext cx="700956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</a:t>
            </a:r>
            <a:r>
              <a:rPr lang="en-US" sz="2400" i="1" dirty="0"/>
              <a:t>requirement</a:t>
            </a:r>
            <a:r>
              <a:rPr lang="en-US" sz="2400" dirty="0"/>
              <a:t> is a </a:t>
            </a:r>
            <a:r>
              <a:rPr lang="en-US" sz="2400" b="1" dirty="0"/>
              <a:t>statement</a:t>
            </a:r>
            <a:r>
              <a:rPr lang="en-US" sz="2400" dirty="0"/>
              <a:t> that describes:</a:t>
            </a:r>
          </a:p>
          <a:p>
            <a:r>
              <a:rPr lang="en-US" sz="2400" dirty="0"/>
              <a:t>	- </a:t>
            </a:r>
            <a:r>
              <a:rPr lang="en-US" sz="2400" b="1" dirty="0"/>
              <a:t>needs</a:t>
            </a:r>
            <a:r>
              <a:rPr lang="en-US" sz="2400" dirty="0"/>
              <a:t>,</a:t>
            </a:r>
          </a:p>
          <a:p>
            <a:r>
              <a:rPr lang="en-US" sz="2400" dirty="0"/>
              <a:t>	- </a:t>
            </a:r>
            <a:r>
              <a:rPr lang="en-US" sz="2400" b="1" dirty="0"/>
              <a:t>behaviors</a:t>
            </a:r>
            <a:r>
              <a:rPr lang="en-US" sz="2400" dirty="0"/>
              <a:t>, or</a:t>
            </a:r>
          </a:p>
          <a:p>
            <a:r>
              <a:rPr lang="en-US" sz="2400" b="1" dirty="0"/>
              <a:t>	- conditions</a:t>
            </a:r>
            <a:br>
              <a:rPr lang="en-US" sz="2400" dirty="0"/>
            </a:br>
            <a:r>
              <a:rPr lang="en-US" sz="2400" dirty="0"/>
              <a:t>that a system must satisfy to solve a problem or achieve a goal.</a:t>
            </a:r>
          </a:p>
          <a:p>
            <a:endParaRPr lang="en-US" sz="2400" dirty="0"/>
          </a:p>
          <a:p>
            <a:r>
              <a:rPr lang="en-US" sz="2400" dirty="0"/>
              <a:t>It may range from a high-level abstract statement of a service or of a system constraint to a detailed mathematical functional specification.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B9A34210-2B9D-A61E-A258-FFDBD6BD9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B6D7E730-8D78-7D10-74C4-FBDCC64C6E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Roles of Requirement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A54D1-99A2-40EF-FCBF-C34427BA0C21}"/>
              </a:ext>
            </a:extLst>
          </p:cNvPr>
          <p:cNvSpPr txBox="1"/>
          <p:nvPr/>
        </p:nvSpPr>
        <p:spPr>
          <a:xfrm>
            <a:off x="4794777" y="1158097"/>
            <a:ext cx="70095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Customers</a:t>
            </a:r>
          </a:p>
          <a:p>
            <a:pPr lvl="1" fontAlgn="base"/>
            <a:r>
              <a:rPr lang="en-US" dirty="0"/>
              <a:t>show what should be delivered; contractual base</a:t>
            </a:r>
          </a:p>
          <a:p>
            <a:pPr lvl="1" fontAlgn="base"/>
            <a:endParaRPr lang="en-US" dirty="0"/>
          </a:p>
          <a:p>
            <a:pPr fontAlgn="base"/>
            <a:r>
              <a:rPr lang="en-US" b="1" dirty="0"/>
              <a:t>Managers</a:t>
            </a:r>
          </a:p>
          <a:p>
            <a:pPr lvl="1" fontAlgn="base"/>
            <a:r>
              <a:rPr lang="en-US" dirty="0"/>
              <a:t>a scheduling / progress indicator</a:t>
            </a:r>
          </a:p>
          <a:p>
            <a:pPr lvl="1" fontAlgn="base"/>
            <a:endParaRPr lang="en-US" dirty="0"/>
          </a:p>
          <a:p>
            <a:pPr fontAlgn="base"/>
            <a:r>
              <a:rPr lang="en-US" b="1" dirty="0"/>
              <a:t>Designers</a:t>
            </a:r>
          </a:p>
          <a:p>
            <a:pPr lvl="1" fontAlgn="base"/>
            <a:r>
              <a:rPr lang="en-US" dirty="0"/>
              <a:t>provide a spec to design</a:t>
            </a:r>
          </a:p>
          <a:p>
            <a:pPr lvl="1" fontAlgn="base"/>
            <a:endParaRPr lang="en-US" dirty="0"/>
          </a:p>
          <a:p>
            <a:pPr fontAlgn="base"/>
            <a:r>
              <a:rPr lang="en-US" b="1" dirty="0"/>
              <a:t>Programmers</a:t>
            </a:r>
          </a:p>
          <a:p>
            <a:pPr lvl="1" fontAlgn="base"/>
            <a:r>
              <a:rPr lang="en-US" dirty="0"/>
              <a:t>list a range of acceptable implementations/output</a:t>
            </a:r>
          </a:p>
          <a:p>
            <a:pPr lvl="1" fontAlgn="base"/>
            <a:endParaRPr lang="en-US" dirty="0"/>
          </a:p>
          <a:p>
            <a:pPr fontAlgn="base"/>
            <a:r>
              <a:rPr lang="en-US" b="1" dirty="0"/>
              <a:t>QA / testers</a:t>
            </a:r>
          </a:p>
          <a:p>
            <a:pPr lvl="1" fontAlgn="base"/>
            <a:r>
              <a:rPr lang="en-US" dirty="0"/>
              <a:t>a basis for testing, validation, verification</a:t>
            </a:r>
          </a:p>
        </p:txBody>
      </p:sp>
    </p:spTree>
    <p:extLst>
      <p:ext uri="{BB962C8B-B14F-4D97-AF65-F5344CB8AC3E}">
        <p14:creationId xmlns:p14="http://schemas.microsoft.com/office/powerpoint/2010/main" val="577037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D3E9634B-3297-73AB-ED0C-02A5969FE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96A89ED5-1F25-9A5C-19DB-7B38E5248D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lvl="0">
              <a:lnSpc>
                <a:spcPct val="140000"/>
              </a:lnSpc>
              <a:spcBef>
                <a:spcPct val="0"/>
              </a:spcBef>
              <a:buClr>
                <a:schemeClr val="dk1"/>
              </a:buClr>
              <a:buSzPts val="2400"/>
            </a:pPr>
            <a:r>
              <a:rPr lang="en-US" sz="2500" dirty="0"/>
              <a:t>Sources of Requirement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0FC9CA-5717-4A25-4F14-42DCBD918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20" y="1004209"/>
            <a:ext cx="5412251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/>
              <a:t> Stakeholders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/>
              <a:t> Documentation review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/>
              <a:t> Existing systems and processes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/>
              <a:t> Regulatory or compliance guidelines</a:t>
            </a:r>
          </a:p>
        </p:txBody>
      </p:sp>
    </p:spTree>
    <p:extLst>
      <p:ext uri="{BB962C8B-B14F-4D97-AF65-F5344CB8AC3E}">
        <p14:creationId xmlns:p14="http://schemas.microsoft.com/office/powerpoint/2010/main" val="281380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2A1B7D0B-ED00-6778-9EEF-594ED1022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E8E08BF8-2207-C8E5-0577-0D4AD9E9A7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Stakeholders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0E5C9F-924C-CE39-D031-B5C191561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891" y="1005426"/>
            <a:ext cx="597917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/>
              <a:t>Any person or group who will be affected by the system, directly or indirectly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/>
              <a:t>Examples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Meiryo" panose="020B0604030504040204" pitchFamily="34" charset="-128"/>
              <a:buChar char="⁻"/>
            </a:pPr>
            <a:r>
              <a:rPr lang="en-US" altLang="en-US" sz="2200" dirty="0"/>
              <a:t>End users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Meiryo" panose="020B0604030504040204" pitchFamily="34" charset="-128"/>
              <a:buChar char="⁻"/>
            </a:pPr>
            <a:r>
              <a:rPr lang="en-US" altLang="en-US" sz="2200" dirty="0"/>
              <a:t>System administrators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Meiryo" panose="020B0604030504040204" pitchFamily="34" charset="-128"/>
              <a:buChar char="⁻"/>
            </a:pPr>
            <a:r>
              <a:rPr lang="en-US" altLang="en-US" sz="2200" dirty="0"/>
              <a:t>Engineers maintaining the system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Meiryo" panose="020B0604030504040204" pitchFamily="34" charset="-128"/>
              <a:buChar char="⁻"/>
            </a:pPr>
            <a:r>
              <a:rPr lang="en-US" altLang="en-US" sz="2200" dirty="0"/>
              <a:t>Business managers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109162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9D194980-8B50-46E3-7099-2F493B332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EE179D24-B7FE-01B4-A907-8760DF031D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Stakeholders’ Viewpoints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6B4-C1C0-28D7-1473-E53317B9C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891" y="443571"/>
            <a:ext cx="655421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/>
              <a:t>Different set of requirements for different types of stakeholders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/>
              <a:t>Interactor viewpoints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	People who interact with the system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/>
              <a:t>Indirect viewpoints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	People who influence the system’s requirements in some other way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/>
              <a:t>Domain viewpoints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/>
              <a:t>Domain characteristics and constraints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3714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647E3E4D-5DA4-E42F-A5F7-FEF7B1CDA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05F685BC-EB0A-626E-A57B-1AB41CA1A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Stakeholders’ Viewpoints: Bank ATM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36E960-BCEF-1BC0-BB8D-9B015D45A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891" y="874458"/>
            <a:ext cx="655421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b="1" dirty="0"/>
              <a:t>Interactor viewpoints</a:t>
            </a:r>
          </a:p>
          <a:p>
            <a:pPr lvl="1" fontAlgn="base"/>
            <a:r>
              <a:rPr lang="en-US" dirty="0"/>
              <a:t>Consumer</a:t>
            </a:r>
          </a:p>
          <a:p>
            <a:pPr lvl="1" fontAlgn="base"/>
            <a:r>
              <a:rPr lang="en-US" dirty="0"/>
              <a:t>Bank manager (policy settings)</a:t>
            </a:r>
          </a:p>
          <a:p>
            <a:pPr lvl="1" fontAlgn="base"/>
            <a:r>
              <a:rPr lang="en-US" dirty="0"/>
              <a:t>People who fill up the ATM</a:t>
            </a:r>
          </a:p>
          <a:p>
            <a:pPr lvl="1" fontAlgn="base"/>
            <a:r>
              <a:rPr lang="en-US" dirty="0"/>
              <a:t>Bank server</a:t>
            </a:r>
          </a:p>
          <a:p>
            <a:pPr lvl="1" fontAlgn="base"/>
            <a:endParaRPr lang="en-US" dirty="0"/>
          </a:p>
          <a:p>
            <a:pPr fontAlgn="base"/>
            <a:r>
              <a:rPr lang="en-US" b="1" dirty="0"/>
              <a:t>Indirect viewpoints</a:t>
            </a:r>
          </a:p>
          <a:p>
            <a:pPr lvl="1" fontAlgn="base"/>
            <a:r>
              <a:rPr lang="en-US" dirty="0"/>
              <a:t>Bank manager (policy settings)</a:t>
            </a:r>
          </a:p>
          <a:p>
            <a:pPr lvl="1" fontAlgn="base"/>
            <a:r>
              <a:rPr lang="en-US" dirty="0"/>
              <a:t>Federal reserve</a:t>
            </a:r>
          </a:p>
          <a:p>
            <a:pPr lvl="1" fontAlgn="base"/>
            <a:r>
              <a:rPr lang="en-US" dirty="0"/>
              <a:t>Thieves or security managers</a:t>
            </a:r>
          </a:p>
          <a:p>
            <a:pPr lvl="1" fontAlgn="base"/>
            <a:endParaRPr lang="en-US" dirty="0"/>
          </a:p>
          <a:p>
            <a:pPr fontAlgn="base"/>
            <a:r>
              <a:rPr lang="en-US" b="1" dirty="0"/>
              <a:t>Domain viewpoints</a:t>
            </a:r>
          </a:p>
          <a:p>
            <a:pPr lvl="1" fontAlgn="base"/>
            <a:r>
              <a:rPr lang="en-US" dirty="0"/>
              <a:t>Laws governing ATM use</a:t>
            </a:r>
          </a:p>
          <a:p>
            <a:pPr lvl="1" fontAlgn="base"/>
            <a:r>
              <a:rPr lang="en-US" dirty="0"/>
              <a:t>Agreements with other banks</a:t>
            </a:r>
          </a:p>
        </p:txBody>
      </p:sp>
    </p:spTree>
    <p:extLst>
      <p:ext uri="{BB962C8B-B14F-4D97-AF65-F5344CB8AC3E}">
        <p14:creationId xmlns:p14="http://schemas.microsoft.com/office/powerpoint/2010/main" val="2457430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3A697C67-1A57-05DB-A120-BBD355F9A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C73C9E29-4784-3DFC-6B8B-0CD303347E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Types of Requirement?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72177F-63B3-D149-494E-5FA3AE03ED5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22449" y="462364"/>
            <a:ext cx="6128670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User requirements: They describe </a:t>
            </a:r>
            <a:r>
              <a:rPr lang="en-US" sz="2400" b="1" dirty="0"/>
              <a:t>what users want to achieve</a:t>
            </a:r>
            <a:r>
              <a:rPr lang="en-US" sz="2400" dirty="0"/>
              <a:t> with the system in </a:t>
            </a:r>
            <a:r>
              <a:rPr lang="en-US" sz="2400" b="1" dirty="0"/>
              <a:t>natural language</a:t>
            </a:r>
            <a:r>
              <a:rPr lang="en-US" sz="2400" dirty="0"/>
              <a:t>, from the </a:t>
            </a:r>
            <a:r>
              <a:rPr lang="en-US" sz="2400" b="1" dirty="0"/>
              <a:t>user’s point of view</a:t>
            </a:r>
            <a:r>
              <a:rPr lang="en-US" sz="2400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They focus on users’:</a:t>
            </a:r>
          </a:p>
          <a:p>
            <a:pPr marL="800100" lvl="1" indent="-342900">
              <a:buFont typeface="Meiryo" panose="020B0604030504040204" pitchFamily="34" charset="-128"/>
              <a:buChar char="⁻"/>
            </a:pPr>
            <a:r>
              <a:rPr lang="en-US" sz="2400" dirty="0"/>
              <a:t>	goals</a:t>
            </a:r>
          </a:p>
          <a:p>
            <a:pPr marL="800100" lvl="1" indent="-342900">
              <a:buFont typeface="Meiryo" panose="020B0604030504040204" pitchFamily="34" charset="-128"/>
              <a:buChar char="⁻"/>
            </a:pPr>
            <a:r>
              <a:rPr lang="en-US" sz="2400" dirty="0"/>
              <a:t>	needs</a:t>
            </a:r>
          </a:p>
          <a:p>
            <a:pPr marL="800100" lvl="1" indent="-342900">
              <a:buFont typeface="Meiryo" panose="020B0604030504040204" pitchFamily="34" charset="-128"/>
              <a:buChar char="⁻"/>
            </a:pPr>
            <a:r>
              <a:rPr lang="en-US" sz="2400" dirty="0"/>
              <a:t>	tasks</a:t>
            </a:r>
          </a:p>
          <a:p>
            <a:pPr marL="800100" lvl="1" indent="-342900">
              <a:buFont typeface="Meiryo" panose="020B0604030504040204" pitchFamily="34" charset="-128"/>
              <a:buChar char="⁻"/>
            </a:pPr>
            <a:r>
              <a:rPr lang="en-US" sz="2400" dirty="0"/>
              <a:t>	expectations</a:t>
            </a:r>
          </a:p>
          <a:p>
            <a:pPr marL="800100" lvl="1" indent="-342900">
              <a:buFont typeface="Meiryo" panose="020B0604030504040204" pitchFamily="34" charset="-128"/>
              <a:buChar char="⁻"/>
            </a:pPr>
            <a:r>
              <a:rPr lang="en-US" sz="2400" dirty="0"/>
              <a:t>	pain points</a:t>
            </a:r>
          </a:p>
          <a:p>
            <a:pPr lvl="1"/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They </a:t>
            </a:r>
            <a:r>
              <a:rPr lang="en-US" sz="2400" b="1" dirty="0"/>
              <a:t>do NOT</a:t>
            </a:r>
            <a:r>
              <a:rPr lang="en-US" sz="2400" dirty="0"/>
              <a:t> describe technical details.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77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5F88CDE8-6FBB-01AD-BAEE-23535197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0683DC40-68BB-880C-4481-209A471C85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Types of Requirement?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A9CD3C-878E-9774-7149-37E7B8773EA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22449" y="647030"/>
            <a:ext cx="6128670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System requirements: They describe </a:t>
            </a:r>
            <a:r>
              <a:rPr lang="en-US" sz="2400" b="1" dirty="0"/>
              <a:t>what the system must do</a:t>
            </a:r>
            <a:r>
              <a:rPr lang="en-US" sz="2400" dirty="0"/>
              <a:t> and </a:t>
            </a:r>
            <a:r>
              <a:rPr lang="en-US" sz="2400" b="1" dirty="0"/>
              <a:t>how it must do it</a:t>
            </a:r>
            <a:r>
              <a:rPr lang="en-US" sz="2400" dirty="0"/>
              <a:t> in technical, detailed terms.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They translate </a:t>
            </a:r>
            <a:r>
              <a:rPr lang="en-US" sz="2400" i="1" dirty="0"/>
              <a:t>user goals</a:t>
            </a:r>
            <a:r>
              <a:rPr lang="en-US" sz="2400" dirty="0"/>
              <a:t> into:</a:t>
            </a:r>
          </a:p>
          <a:p>
            <a:pPr marL="800100" lvl="1" indent="-342900">
              <a:buFont typeface="Meiryo" panose="020B0604030504040204" pitchFamily="34" charset="-128"/>
              <a:buChar char="⁻"/>
            </a:pPr>
            <a:r>
              <a:rPr lang="en-US" sz="2400" dirty="0"/>
              <a:t>Functional requirements</a:t>
            </a:r>
          </a:p>
          <a:p>
            <a:pPr marL="800100" lvl="1" indent="-342900">
              <a:buFont typeface="Meiryo" panose="020B0604030504040204" pitchFamily="34" charset="-128"/>
              <a:buChar char="⁻"/>
            </a:pPr>
            <a:r>
              <a:rPr lang="en-US" sz="2400" dirty="0"/>
              <a:t>Non-functional requirements</a:t>
            </a:r>
          </a:p>
          <a:p>
            <a:pPr marL="800100" lvl="1" indent="-342900">
              <a:buFont typeface="Meiryo" panose="020B0604030504040204" pitchFamily="34" charset="-128"/>
              <a:buChar char="⁻"/>
            </a:pPr>
            <a:r>
              <a:rPr lang="en-US" sz="2400" dirty="0"/>
              <a:t>Constraints</a:t>
            </a:r>
          </a:p>
          <a:p>
            <a:pPr marL="800100" lvl="1" indent="-342900">
              <a:buFont typeface="Meiryo" panose="020B0604030504040204" pitchFamily="34" charset="-128"/>
              <a:buChar char="⁻"/>
            </a:pPr>
            <a:r>
              <a:rPr lang="en-US" sz="2400" dirty="0"/>
              <a:t>Technical specifications</a:t>
            </a:r>
          </a:p>
          <a:p>
            <a:pPr lvl="1"/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System requirements are </a:t>
            </a:r>
            <a:r>
              <a:rPr lang="en-US" sz="2400" b="1" dirty="0"/>
              <a:t>more detailed, precise, and measurable</a:t>
            </a:r>
            <a:r>
              <a:rPr lang="en-US" sz="2400" dirty="0"/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698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81ED4376-1407-474B-DCFE-48A511C67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BC8829-1DD3-34D6-E8C3-7F770046343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54424" y="1641497"/>
            <a:ext cx="612867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User requirements = WHAT</a:t>
            </a:r>
          </a:p>
          <a:p>
            <a:r>
              <a:rPr lang="en-US" sz="2400" dirty="0"/>
              <a:t>What the user wants.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System requirements = HOW</a:t>
            </a:r>
          </a:p>
          <a:p>
            <a:r>
              <a:rPr lang="en-US" sz="2400" dirty="0"/>
              <a:t>How the system will fulfill the user’s wants.</a:t>
            </a:r>
          </a:p>
        </p:txBody>
      </p:sp>
    </p:spTree>
    <p:extLst>
      <p:ext uri="{BB962C8B-B14F-4D97-AF65-F5344CB8AC3E}">
        <p14:creationId xmlns:p14="http://schemas.microsoft.com/office/powerpoint/2010/main" val="537291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48377BB6-4F8A-2981-4E59-B37CEDF9F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F22BCBB0-7FAE-B22D-D55A-BA916EA699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68883-67D7-33FC-D9CA-539E0D77EBB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22449" y="647030"/>
            <a:ext cx="6128670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User Need: “I want to track my expenses.”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User Requirement: The User should be able to record daily expenses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System Requirements:</a:t>
            </a:r>
          </a:p>
          <a:p>
            <a:pPr marL="457200" indent="-457200">
              <a:buAutoNum type="arabicPeriod"/>
            </a:pPr>
            <a:r>
              <a:rPr lang="en-US" sz="2400" dirty="0"/>
              <a:t>The system shall allow the entry of the amount and category.</a:t>
            </a:r>
          </a:p>
          <a:p>
            <a:pPr marL="457200" indent="-457200">
              <a:buAutoNum type="arabicPeriod"/>
            </a:pPr>
            <a:r>
              <a:rPr lang="en-US" sz="2400" dirty="0"/>
              <a:t>The system shall store the record in a database.</a:t>
            </a:r>
          </a:p>
          <a:p>
            <a:pPr marL="457200" indent="-457200">
              <a:buAutoNum type="arabicPeriod"/>
            </a:pPr>
            <a:r>
              <a:rPr lang="en-US" sz="2400" dirty="0"/>
              <a:t>The system shall show monthly summaries.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609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91F4EE87-621B-F156-544F-8B466FE91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5C221793-D06C-129C-20A9-397F5A69E5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Types of Requirement?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06B8C7-A671-8AF4-B653-4F9151DE29C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22448" y="185365"/>
            <a:ext cx="6645897" cy="615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Functional requirements: They describe </a:t>
            </a:r>
            <a:r>
              <a:rPr lang="en-US" sz="2400" b="1" dirty="0"/>
              <a:t>what the system should do, </a:t>
            </a:r>
            <a:r>
              <a:rPr lang="en-US" sz="2400" dirty="0"/>
              <a:t>the </a:t>
            </a:r>
            <a:r>
              <a:rPr lang="en-US" sz="2400" b="1" dirty="0"/>
              <a:t>actions</a:t>
            </a:r>
            <a:r>
              <a:rPr lang="en-US" sz="2400" dirty="0"/>
              <a:t>, </a:t>
            </a:r>
            <a:r>
              <a:rPr lang="en-US" sz="2400" b="1" dirty="0"/>
              <a:t>behaviors</a:t>
            </a:r>
            <a:r>
              <a:rPr lang="en-US" sz="2400" dirty="0"/>
              <a:t>, and </a:t>
            </a:r>
            <a:r>
              <a:rPr lang="en-US" sz="2400" b="1" dirty="0"/>
              <a:t>features</a:t>
            </a:r>
            <a:r>
              <a:rPr lang="en-US" sz="2400" dirty="0"/>
              <a:t> the information system must perform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Example 1: Library Management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must allow a user to search for books by title, author, or ISBN.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must allow librarians to update book availability.</a:t>
            </a:r>
          </a:p>
          <a:p>
            <a:endParaRPr lang="en-US" sz="2000" dirty="0"/>
          </a:p>
          <a:p>
            <a:r>
              <a:rPr lang="en-US" sz="2400" b="1" dirty="0"/>
              <a:t>Example 2: Online Food Delivery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must recommend restaurants based on the user’s location.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must allow users to track their delivery in real time.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737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1C2072FB-1D94-7C96-DE53-4CB56DEA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AFAF4E7C-604E-B44E-661A-50339E8A95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Types of Requirement?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0BF860-EA0A-3386-091E-BD53B3AA7AA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22448" y="493141"/>
            <a:ext cx="6645897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Non-Functional requirements: They describe </a:t>
            </a:r>
            <a:r>
              <a:rPr lang="en-US" sz="2400" b="1" dirty="0"/>
              <a:t>how the system should behave</a:t>
            </a:r>
            <a:r>
              <a:rPr lang="en-US" sz="2400" dirty="0"/>
              <a:t>, not what it must do.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They define </a:t>
            </a:r>
            <a:r>
              <a:rPr lang="en-US" sz="2400" b="1" dirty="0"/>
              <a:t>qualities</a:t>
            </a:r>
            <a:r>
              <a:rPr lang="en-US" sz="2400" dirty="0"/>
              <a:t>, </a:t>
            </a:r>
            <a:r>
              <a:rPr lang="en-US" sz="2400" b="1" dirty="0"/>
              <a:t>constraints</a:t>
            </a:r>
            <a:r>
              <a:rPr lang="en-US" sz="2400" dirty="0"/>
              <a:t>, and </a:t>
            </a:r>
            <a:r>
              <a:rPr lang="en-US" sz="2400" b="1" dirty="0"/>
              <a:t>standards</a:t>
            </a:r>
            <a:r>
              <a:rPr lang="en-US" sz="2400" dirty="0"/>
              <a:t> that the system must satisfy.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Non-functional requirements often apply to a whole system rather than individual features, such as performance, security, usability, availability, scalability, reliability, etc.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187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9A3C7221-EC56-BC9A-F7F5-65E9E032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4FB83CA2-C327-091E-8FA9-7A65411358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Examples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BD7857-F9E8-EAD7-B162-4B356618514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22448" y="446975"/>
            <a:ext cx="664589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1. Performance NFR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system must load the dashboard within 2 seconds for 90% of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food-delivery app must process restaurant search results in under 1 second.</a:t>
            </a:r>
          </a:p>
          <a:p>
            <a:endParaRPr lang="en-US" sz="2000" dirty="0"/>
          </a:p>
          <a:p>
            <a:r>
              <a:rPr lang="en-US" sz="2000" b="1" dirty="0"/>
              <a:t>2. Usability NFR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At least 85% of new users should complete account creation without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health app’s interface must be readable for users aged 60+ using larger fonts.</a:t>
            </a:r>
          </a:p>
          <a:p>
            <a:endParaRPr lang="en-US" sz="2000" dirty="0"/>
          </a:p>
          <a:p>
            <a:r>
              <a:rPr lang="en-US" sz="2000" b="1" dirty="0"/>
              <a:t>3. Security NFR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All patient data must be encrypted using AES-256.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system must auto-log out after 5 minutes of inactivity.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584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DFB398D1-C53D-A708-7D1B-EB2D0750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8778FA65-14BC-91DE-53F3-2C83269AB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Examples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98C220-AD21-2721-100A-6448501BEEC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22448" y="446975"/>
            <a:ext cx="664589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 dirty="0"/>
          </a:p>
          <a:p>
            <a:r>
              <a:rPr lang="en-US" sz="2000" b="1" dirty="0"/>
              <a:t>4. Availability NFR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Bank transaction system must be available 99.99% of the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Students must access the exam portal 24/7 during finals week.</a:t>
            </a:r>
          </a:p>
          <a:p>
            <a:endParaRPr lang="en-US" sz="2000" dirty="0"/>
          </a:p>
          <a:p>
            <a:r>
              <a:rPr lang="en-US" sz="2000" b="1" dirty="0"/>
              <a:t>5. Scalability NFR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app must support 10,000 concurrent users without performance degradation.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university portal must scale each semester as enrollment increases.</a:t>
            </a:r>
          </a:p>
          <a:p>
            <a:endParaRPr lang="en-US" sz="2000" dirty="0"/>
          </a:p>
          <a:p>
            <a:r>
              <a:rPr lang="en-US" sz="2000" b="1" dirty="0"/>
              <a:t>6. Reliability NFR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video streaming service must resume playback automatically after interruptions.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System errors must not exceed 0.01% of total transactions per day.</a:t>
            </a:r>
          </a:p>
        </p:txBody>
      </p:sp>
    </p:spTree>
    <p:extLst>
      <p:ext uri="{BB962C8B-B14F-4D97-AF65-F5344CB8AC3E}">
        <p14:creationId xmlns:p14="http://schemas.microsoft.com/office/powerpoint/2010/main" val="2144513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69CC95C7-59AB-F3C0-7385-6E5A5A290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CF2DE9DB-07B9-A338-B083-F8C18859A4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What is Requirement Analysis?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EB2FE-01C3-46D2-6162-E4BBB57C6C9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54424" y="1241389"/>
            <a:ext cx="612867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Requirements analysis is the process of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gathering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documenting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analyzing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requirements for a project or product.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is a crucial step in the software development process, as it helps to ensure that the final product will meet the needs of the end-users and stakeholders.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98437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>
          <a:extLst>
            <a:ext uri="{FF2B5EF4-FFF2-40B4-BE49-F238E27FC236}">
              <a16:creationId xmlns:a16="http://schemas.microsoft.com/office/drawing/2014/main" id="{F2032BB5-2793-27A3-EB10-3DBBBB2E3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4">
            <a:extLst>
              <a:ext uri="{FF2B5EF4-FFF2-40B4-BE49-F238E27FC236}">
                <a16:creationId xmlns:a16="http://schemas.microsoft.com/office/drawing/2014/main" id="{C6387352-94DE-3E0D-4415-01A5BBCBDE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579" y="-93300"/>
            <a:ext cx="3611029" cy="1862345"/>
          </a:xfrm>
          <a:prstGeom prst="rect">
            <a:avLst/>
          </a:prstGeom>
        </p:spPr>
        <p:txBody>
          <a:bodyPr spcFirstLastPara="1" vert="horz" lIns="109728" tIns="109728" rIns="109728" bIns="91440" rtlCol="0" anchor="ctr" anchorCtr="0">
            <a:normAutofit/>
          </a:bodyPr>
          <a:lstStyle/>
          <a:p>
            <a:pPr marL="0" lvl="0" indent="0">
              <a:lnSpc>
                <a:spcPct val="14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500" dirty="0"/>
              <a:t>Why Requirement Analysis Matters?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D228E-DFE5-8EB5-5009-2E30B1E1D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755" y="1041333"/>
            <a:ext cx="669303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Prevents system failure and misunderstandings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Reduces ambiguity in project scope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Ensures accurate design and implementation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Supports traceability throughout the development lifecycle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Allows the team to plan and prepare budget to address potential risks or issues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A9E53-6A52-7573-48B4-D364FCB95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33" y="1783514"/>
            <a:ext cx="3162323" cy="466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07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v94yzfk5ynh74xy5eoz6g6gkoqjsh2"/>
</p:tagLst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{7A0EE8FA-6344-4A45-8060-EEAA753ACAC7}TF2b9189fa-8f70-44c5-a025-8c7b018ae2a95a18b6f7_win32-f1ac09ee8c52</Template>
  <TotalTime>599</TotalTime>
  <Words>880</Words>
  <Application>Microsoft Office PowerPoint</Application>
  <PresentationFormat>Widescreen</PresentationFormat>
  <Paragraphs>159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Meiryo</vt:lpstr>
      <vt:lpstr>Arial</vt:lpstr>
      <vt:lpstr>Calibri</vt:lpstr>
      <vt:lpstr>Corbel</vt:lpstr>
      <vt:lpstr>ShojiVTI</vt:lpstr>
      <vt:lpstr>CSE 325: Information System Design</vt:lpstr>
      <vt:lpstr>PowerPoint Presentation</vt:lpstr>
      <vt:lpstr>What is a Requirement?</vt:lpstr>
      <vt:lpstr>Roles of Requirement</vt:lpstr>
      <vt:lpstr>Sources of Requirement</vt:lpstr>
      <vt:lpstr>Stakeholders</vt:lpstr>
      <vt:lpstr>Stakeholders’ Viewpoints</vt:lpstr>
      <vt:lpstr>Stakeholders’ Viewpoints: Bank ATM</vt:lpstr>
      <vt:lpstr>Types of Requirement?</vt:lpstr>
      <vt:lpstr>Types of Requirement?</vt:lpstr>
      <vt:lpstr>PowerPoint Presentation</vt:lpstr>
      <vt:lpstr>Example</vt:lpstr>
      <vt:lpstr>Types of Requirement?</vt:lpstr>
      <vt:lpstr>Types of Requirement?</vt:lpstr>
      <vt:lpstr>Examples</vt:lpstr>
      <vt:lpstr>Examples</vt:lpstr>
      <vt:lpstr>What is Requirement Analysis?</vt:lpstr>
      <vt:lpstr>Why Requirement Analysis Matters?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Novia Nurain</dc:creator>
  <cp:lastModifiedBy>Novia Nurain</cp:lastModifiedBy>
  <cp:revision>11</cp:revision>
  <dcterms:created xsi:type="dcterms:W3CDTF">2025-07-21T23:24:31Z</dcterms:created>
  <dcterms:modified xsi:type="dcterms:W3CDTF">2025-11-30T02:03:19Z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